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32e1336c26c40ea" Type="http://schemas.openxmlformats.org/officeDocument/2006/relationships/extended-properties" Target="docProps/app.xml"/><Relationship Id="R8cad2013844b4fb0" Type="http://schemas.openxmlformats.org/officeDocument/2006/relationships/officeDocument" Target="ppt/presentation.xml"/><Relationship Id="R9ca6b047c3374cfa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265b59fcce4654"/>
  </p:sldMasterIdLst>
  <p:notesMasterIdLst>
    <p:notesMasterId xmlns:r="http://schemas.openxmlformats.org/officeDocument/2006/relationships" r:id="Rdf2c04defaa04d7e"/>
  </p:notesMasterIdLst>
  <p:sldIdLst>
    <p:sldId xmlns:r="http://schemas.openxmlformats.org/officeDocument/2006/relationships" id="256" r:id="Rd23126e26f8b4163"/>
    <p:sldId xmlns:r="http://schemas.openxmlformats.org/officeDocument/2006/relationships" id="257" r:id="R79181f422b5a44aa"/>
    <p:sldId xmlns:r="http://schemas.openxmlformats.org/officeDocument/2006/relationships" id="258" r:id="Rde09091d9f1544a0"/>
    <p:sldId xmlns:r="http://schemas.openxmlformats.org/officeDocument/2006/relationships" id="259" r:id="R4070e20148684c8a"/>
    <p:sldId xmlns:r="http://schemas.openxmlformats.org/officeDocument/2006/relationships" id="260" r:id="R8a0bcb08ef704b1f"/>
    <p:sldId xmlns:r="http://schemas.openxmlformats.org/officeDocument/2006/relationships" id="261" r:id="R2de055bc2aef4fac"/>
    <p:sldId xmlns:r="http://schemas.openxmlformats.org/officeDocument/2006/relationships" id="262" r:id="R2a8fedba3bcd4e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7454ef1469844a9" Type="http://schemas.openxmlformats.org/officeDocument/2006/relationships/tableStyles" Target="tableStyles.xml"/><Relationship Id="R0fe0f0452e644cce" Type="http://schemas.openxmlformats.org/officeDocument/2006/relationships/viewProps" Target="viewProps.xml"/><Relationship Id="R12265b59fcce4654" Type="http://schemas.openxmlformats.org/officeDocument/2006/relationships/slideMaster" Target="slideMasters/slideMaster1.xml"/><Relationship Id="R2a8fedba3bcd4ed0" Type="http://schemas.openxmlformats.org/officeDocument/2006/relationships/slide" Target="slides/slide7.xml"/><Relationship Id="R2de055bc2aef4fac" Type="http://schemas.openxmlformats.org/officeDocument/2006/relationships/slide" Target="slides/slide6.xml"/><Relationship Id="R4070e20148684c8a" Type="http://schemas.openxmlformats.org/officeDocument/2006/relationships/slide" Target="slides/slide4.xml"/><Relationship Id="R44fa940de6b94ca7" Type="http://schemas.openxmlformats.org/officeDocument/2006/relationships/presProps" Target="presProps.xml"/><Relationship Id="R79181f422b5a44aa" Type="http://schemas.openxmlformats.org/officeDocument/2006/relationships/slide" Target="slides/slide2.xml"/><Relationship Id="R8a0bcb08ef704b1f" Type="http://schemas.openxmlformats.org/officeDocument/2006/relationships/slide" Target="slides/slide5.xml"/><Relationship Id="Ra96d7bfb813844ce" Type="http://schemas.openxmlformats.org/officeDocument/2006/relationships/theme" Target="theme/theme1.xml"/><Relationship Id="Rd23126e26f8b4163" Type="http://schemas.openxmlformats.org/officeDocument/2006/relationships/slide" Target="slides/slide1.xml"/><Relationship Id="Rde09091d9f1544a0" Type="http://schemas.openxmlformats.org/officeDocument/2006/relationships/slide" Target="slides/slide3.xml"/><Relationship Id="Rdf2c04defaa04d7e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b32c4b7194e54a2f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316b152e1434ace" Type="http://schemas.openxmlformats.org/officeDocument/2006/relationships/slide" Target="../slides/slide1.xml"/><Relationship Id="Rdfa9d528368543c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930a76e80ea4355" Type="http://schemas.openxmlformats.org/officeDocument/2006/relationships/notesMaster" Target="../notesMasters/notesMaster1.xml"/><Relationship Id="R139cf6c33de645db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71c2d50ea68a458f" Type="http://schemas.openxmlformats.org/officeDocument/2006/relationships/notesMaster" Target="../notesMasters/notesMaster1.xml"/><Relationship Id="Rcd1460436d724665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c9f635b21e14ad7" Type="http://schemas.openxmlformats.org/officeDocument/2006/relationships/slide" Target="../slides/slide4.xml"/><Relationship Id="Rf710af88f50a4323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83528753f5842e5" Type="http://schemas.openxmlformats.org/officeDocument/2006/relationships/slide" Target="../slides/slide5.xml"/><Relationship Id="R7d179466628d4ef0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0b4b0159f414753" Type="http://schemas.openxmlformats.org/officeDocument/2006/relationships/slide" Target="../slides/slide6.xml"/><Relationship Id="R5c8bb81827334ca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7d39b4a1cded495a" Type="http://schemas.openxmlformats.org/officeDocument/2006/relationships/notesMaster" Target="../notesMasters/notesMaster1.xml"/><Relationship Id="R81b82d8b47cc4ae8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c721b6e321004df6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2c139e329a249e3" Type="http://schemas.openxmlformats.org/officeDocument/2006/relationships/theme" Target="../theme/theme1.xml"/><Relationship Id="R61c8d90c8c504923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c8d90c8c5049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15e46b1d60874b59" Type="http://schemas.openxmlformats.org/officeDocument/2006/relationships/slideLayout" Target="../slideLayouts/slideLayout2.xml"/><Relationship Id="Rd8c6e5eb189b473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bd524437155b4950" Type="http://schemas.openxmlformats.org/officeDocument/2006/relationships/slideLayout" Target="../slideLayouts/slideLayout2.xml"/><Relationship Id="Rda9b29dfe6cd428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73da5e86a984c26" Type="http://schemas.openxmlformats.org/officeDocument/2006/relationships/notesSlide" Target="../notesSlides/notesSlide3.xml"/><Relationship Id="Rf4777d178b8542fd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0a49c564b449404d" Type="http://schemas.openxmlformats.org/officeDocument/2006/relationships/notesSlide" Target="../notesSlides/notesSlide4.xml"/><Relationship Id="R1f64cfd73bae4a9e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863500f75bd144ec" Type="http://schemas.openxmlformats.org/officeDocument/2006/relationships/notesSlide" Target="../notesSlides/notesSlide5.xml"/><Relationship Id="Re8f70d169a9a4a4e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47e896fff0914e8d" Type="http://schemas.openxmlformats.org/officeDocument/2006/relationships/notesSlide" Target="../notesSlides/notesSlide6.xml"/><Relationship Id="R72bfd54dc0f24ead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0f1bae803d9e45a0" Type="http://schemas.openxmlformats.org/officeDocument/2006/relationships/notesSlide" Target="../notesSlides/notesSlide7.xml"/><Relationship Id="Re83969dcfa184e63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42FDF6-B501-4EEF-8DBD-235D8F19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AB7D0-F4E3-430C-927E-87DE1010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76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9EA9C-3AA1-4D8C-9F92-B2C53A4E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286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B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3D912-0A1E-47D8-8C47-45255EC0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WEEK 02 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B5999-193A-4BE9-A615-F8335D78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3905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  <a:p xmlns:a="http://schemas.openxmlformats.org/drawingml/2006/main">
            <a:pPr algn="l">
              <a:defRPr sz="31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2주차 기획 발표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0B59A-1AA1-4DA5-8C3F-FC8605CB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F"/>
          </a:solidFill>
          <a:ln xmlns:a="http://schemas.openxmlformats.org/drawingml/2006/main" w="9525">
            <a:solidFill>
              <a:srgbClr val="C9CE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39414-C405-467B-A5EA-FF5B48E8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50" b="1">
                <a:solidFill>
                  <a:srgbClr val="50665B"/>
                </a:solidFill>
                <a:latin typeface="Malgun Gothic"/>
              </a:rPr>
              <a:t>음식·영양제 과제를 풀고, 반복 기록을 개인화 건강관리 흐름으로 연결했는가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11396-DEFC-41B7-8EDC-E4B15A77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0012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| 목차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9421C-37EC-42F5-8004-C1701AA2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538F3-EEFE-4AD0-8F6B-F392C3A6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EA6DD-4E0F-4751-9161-6A35C446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430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과제 재정의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137BC-B450-4612-83DC-10941CEE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28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BC27D-CD56-4D13-9533-77A72D0F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43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E3C91-9A8F-4093-AA04-A23CE454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8AD4B-1067-43AF-9BAE-FD6956AD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BAE85-476F-439B-92A2-C7635312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F26E4-5F44-4153-9917-C0010319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384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 과제 해결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9CD40-A1C7-48D3-806F-3143A97F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D734C-AE02-47B3-9BA3-AAE63488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8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07348-943A-488D-8D18-303D9DD6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영양제 과제 해결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C7B35-6D2C-4EE5-B5B7-E3C48018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E5007-56FD-426C-85A0-2EA67BA5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77E8FF-0A98-4CFA-9297-C4330C79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338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서비스 기획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52F103-A271-477B-91EC-B78EEC1E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3901B8-88AD-4A11-A14F-119FFD34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6F4B2C-E185-41A4-BE42-EC73A0E3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815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5종 출력과 다음 진행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25CF9-FAC4-4FFE-A4AE-D6AE14A8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KDT 12기 · 레몬헬스케어 기업과제 · Lemon Aid</a:t>
            </a:r>
          </a:p>
        </p:txBody>
      </p:sp>
    </p:spTree>
    <p:extLst>
      <p:ext uri="{BB962C8B-B14F-4D97-AF65-F5344CB8AC3E}">
        <p14:creationId xmlns:p14="http://schemas.microsoft.com/office/powerpoint/2010/main" val="5645802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6AEF04-BA50-430A-85B4-59B7E36C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FB28B-8D41-4713-893C-3832D69A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140C9-4D1B-4A5F-B456-4F40C64E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6BC1C-FBEE-458E-A01B-12D2A1D3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F8355-C076-4C25-8516-C343D2D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과제 재정의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48430-DBD4-4FA6-901A-83F7A497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350" b="1">
                <a:solidFill>
                  <a:srgbClr val="26322D"/>
                </a:solidFill>
                <a:latin typeface="Malgun Gothic"/>
              </a:rPr>
              <a:t>두 과제는 별도 기능이 아니라,</a:t>
            </a:r>
          </a:p>
          <a:p xmlns:a="http://schemas.openxmlformats.org/drawingml/2006/main">
            <a:pPr algn="l"/>
            <a:r>
              <a:rPr sz="2350" b="1">
                <a:solidFill>
                  <a:srgbClr val="26322D"/>
                </a:solidFill>
                <a:latin typeface="Malgun Gothic"/>
              </a:rPr>
              <a:t>개인별 건강관리 흐름에 축적·반영되는 반복 입력입니다.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A8CED-0BDC-47BA-9E9B-42808D08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62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4014D-F3CB-4321-9334-0FE69E7C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4762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7673C-9945-496B-9E7E-7D0074E4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음식 과제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76737-E470-4A5E-A2FA-F1B12FB6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 사진·텍스트에서 음식 후보와 섭취량을 추정하고, 영양성분 데이터와 연결해 식단관리 피드백의 근거를 만든다.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ABB77-4196-4EB2-83A5-FB740DFA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9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영양제 과제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6A6A9-8A2B-44D7-89CE-63E33E28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290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라벨 OCR에서 성분명·함량·단위를 구조화하고, 중복·과다 가능성과 목적별 분석의 근거를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0DBBB-9861-4633-B4B2-43FAF657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62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9BDC0-D15F-42BF-A34D-579C0DED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86B72-AE3C-4279-A2DB-098482B6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62550"/>
            <a:ext cx="938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0665B"/>
                </a:solidFill>
                <a:latin typeface="Malgun Gothic"/>
              </a:rPr>
              <a:t>공통 도착지: 확인된 섭취 데이터를 만성질환 정보·복약·활동 맥락과 함께 해석하는 AI 건강관리 보조 서비스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C635D-5EA3-476B-9CC4-63EBE7DF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66401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7E0ACE-E04C-4CAF-B722-1D044478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4797C-A758-4DAE-81CF-2CBF8448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B31F6-350F-4258-93ED-587ED24B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6E825-83AB-4D19-874F-3AEE4D98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71D09-2670-4185-9733-302B8BD1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50AE3-616A-4A75-B142-30AEDEA0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현재 문제는 정보 부족보다</a:t>
            </a:r>
          </a:p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흩어진 데이터를 연결하지 못하는 데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08ED4-C478-4CE7-AFD3-878703EC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012D2-F48F-4939-A29C-3E05E432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120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B0D60-69A1-4F1B-9580-ACFA66F6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rPr>
              <a:t>음식·영양제·복약·활동·검사값이 서로 다른 기록에 흩어짐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B77D3-A32B-4F63-A617-ADE5FFA6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953D6-0E19-4AB7-BF5D-85855EBB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86150"/>
            <a:ext cx="120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통합 섭취량</a:t>
            </a:r>
          </a:p>
          <a:p xmlns:a="http://schemas.openxmlformats.org/drawingml/2006/main">
            <a:pPr algn="ctr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파악 어려움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CB7D7-6383-48AD-9D66-12B20EA9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530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rPr>
              <a:t>하루 영양소 기준으로 음식과 영양제를 함께 보기 어려움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FE1B9-2698-48E2-9022-394C81C3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6E46E-03BF-4E83-B5C4-317FF7E7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86150"/>
            <a:ext cx="120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개인화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FA956-51B3-41AD-9852-2498505E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0">
                <a:solidFill>
                  <a:srgbClr val="565656"/>
                </a:solidFill>
                <a:latin typeface="Malgun Gothic"/>
              </a:rPr>
              <a:t>음식·영양제 기록이 쌓여도</a:t>
            </a:r>
          </a:p>
          <a:p xmlns:a="http://schemas.openxmlformats.org/drawingml/2006/main">
            <a:pPr algn="ctr"/>
            <a:r>
              <a:rPr sz="930" b="0">
                <a:solidFill>
                  <a:srgbClr val="565656"/>
                </a:solidFill>
                <a:latin typeface="Malgun Gothic"/>
              </a:rPr>
              <a:t>개인의 섭취 패턴으로 축적·반영되지 않음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98593-F49D-43D1-99F7-448C990D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83F23-41D8-4DB5-A959-41A42F93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86150"/>
            <a:ext cx="120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실천 방향</a:t>
            </a:r>
          </a:p>
          <a:p xmlns:a="http://schemas.openxmlformats.org/drawingml/2006/main">
            <a:pPr algn="ctr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부재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34CF2-8553-44E6-BAF8-D7C8ECF1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530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rPr>
              <a:t>오늘 줄일 것과 보완할 것이 행동으로 이어지지 않음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53396-E105-4586-A93E-7B8CA846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4498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C1D90A-C495-4C91-A338-506FBF16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EE6B3-B7C4-466D-8DC2-1D896CBF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2.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48044-3436-4CF6-81F7-7445BB42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5BEF0-BCB7-4608-996F-7E4C9CDA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2439B-A5D0-4E66-BEE3-4CAF4114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음식 과제 해결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734E8-CA55-48C7-B86B-62DC69A7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 사진은 바로 기록으로 확정하지 않고,</a:t>
            </a:r>
          </a:p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검토 가능한 영양 후보로 만듭니다.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FD5A4-BB7D-4C53-9ADA-0DE89393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B8439-86E3-4C6E-8183-5AC3965D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208AB-E3BD-448B-A3F2-6E4851C4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14650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사진 인식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D140C-8A97-4A75-8F8F-C2134F3E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909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 후보와 confidence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7332E-082F-49CF-AC3A-E2427C2A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385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41E3B-07E6-4B8A-AEB6-6BDF1364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F10AE-93F7-4595-83D1-2E010101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D7947-B248-4E6E-A5B2-8D9DA627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14650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영양 매칭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C8AFA-B2F9-4131-B631-0689ECFC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909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100g 기준 영양 프로필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4646D-3B2A-4C33-BAFF-80495CD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385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E4D7A-7103-4AD8-8AAF-DC38AE59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75002-066C-485F-8CA7-BF18AE0F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6D5B7-F82C-4184-9802-3585969D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섭취량 보정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53C00-F476-4C2A-969A-28214C12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909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사용자 수정값과 실제 섭취량 반영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168F6-575C-4E28-A189-16F7030E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385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D4D91-587A-4D4A-865A-B13AD214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ED606-AB1F-41D9-BA3A-32EB09F4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F19CAA-617E-4408-A97B-0AD08BB0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14650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Preview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0969D5-11A8-4569-A9C3-37FDC028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3909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저장 전 후보·근거·수정 가능 상태 제공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A3BC64-C61B-4D0D-BC23-082132C0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8B27D-ADB9-420E-8E39-D3C9938E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8FCA1-607C-4FD1-ADF1-2C45F77A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434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8E1E05-CECE-4D69-A425-49F4F1E6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958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이미지 모델은 1차 분류 도구로 제한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D333D2-3B72-4AF1-9BB5-FD463605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768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FF5500-6F80-4D56-A306-B13A79C1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3244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5510BA-6FA2-4D6D-8D19-6231B20D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768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</a:rPr>
              <a:t>영양 계산은 재현 가능한 데이터셋과 사용자 수정값을 근거로 사용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5CF179-940B-4484-A2E5-915E5F8C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AB672C-41AF-4A6A-AC23-4D242DB3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7054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4245D6-7565-483B-A01C-EDC23ECA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578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사용자 확인 전에는 건강 기록이나 Agent action으로 확정하지 않음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6FED54-7C95-444C-AE7B-658CF2E3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1157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EC8600-4B71-49E4-A2FB-CE134922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7D2F7-3401-466C-AF6E-D231C4E5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3.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11B2A-C3C9-423F-A7FE-D792AA11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FA140-63E3-4914-B9A2-4A9C5829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D396E-0246-4D54-8DF8-8D4C9776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영양제 과제 해결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B8531-3C9F-4437-868E-AB8A0396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영양제 라벨은 OCR 결과를 성분 후보와</a:t>
            </a:r>
          </a:p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원문 근거가 있는 preview로 구조화합니다.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CBBCE-68C2-45B3-B347-C3CB557C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E25BD-9EB1-46D4-8C14-74B646E5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B5C06-4F5A-4FC7-B64B-0E8D42BF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14650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라벨 OCR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9117D-0B1B-4F04-ACE7-54666C62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909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제품명·성분 영역·원문 텍스트 후보 추출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57E96-6D28-48A2-ABE9-9965F9B6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385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E35C6-BB2B-44E6-BCB9-40B4B518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5541C-5A88-4382-A9C5-7A63B384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929DB-DC49-4CEC-88AC-C06C51A2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14650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성분 구조화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05440-66B6-4DC0-B973-D0098635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909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성분명·함량·단위·confidence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FA0A0-DE81-4627-91C4-BE8541D8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385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68B6A-5DB3-4D61-B61C-4F5E3B11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31081-C3CD-493B-9912-BC92B4BE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813291-CE02-4728-A470-0822F12D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공식 데이터 매칭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7BCBF-482A-4F29-B4B2-FAE82AEF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909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KDRIs·기능성 원료·DUR 후보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F2C9C-B261-44E5-823E-8EAEBE3C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385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12974-106F-4DAB-AD8A-5B03C60A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3F9468-C994-4947-AA99-5A32AA06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3D46A-3186-4C0B-A03E-09EA5C2B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14650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5C4E7C-CA9E-4CDC-9B5F-531F4927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3909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</a:rPr>
              <a:t>오인식·중복·주의 후보 확인 후 성분 기록 저장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D84EA1-9D15-470B-8559-2057A1C6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1AF716-5C17-4CEA-AA23-1DF9D4B5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A2251E-C41B-4A44-9296-2D847204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434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1BE2CC-63BB-45DE-AC32-72003DD7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958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OCR은 확정 판단이 아니라 라벨 원문 확보 도구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A28777-A120-40F8-B015-59CB28D9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768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8EAB1B-EB87-4914-8F6E-A32F4418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3244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2E95A2-E939-4395-8486-3C62F394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768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LLM/parser는 후보 구조화에 한정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D6D02A-2684-42B1-BC2B-21C666F6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170E28-20D7-468B-B901-8F1D2345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7054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339E51-351B-49E2-B568-A7DA2DDA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578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주의 문구는 가능성·참고·전문가 상담 권장 경계로 표현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1954D7-4C65-4B27-8F14-34763E1D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81113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CED441-B8C0-49F8-BE5C-BC00154B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D234F-340B-4E25-B684-9C451300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AE877-EC3F-4D71-B1C3-ACBA9ADC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81346-70E6-4D86-84EA-CB49FA89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59FD8-8025-4E93-9BD0-1DD258CD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서비스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4CFC4-A63D-48F9-9C70-38E7B224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350" b="1">
                <a:solidFill>
                  <a:srgbClr val="26322D"/>
                </a:solidFill>
                <a:latin typeface="Malgun Gothic"/>
              </a:rPr>
              <a:t>음식과 영양제 preview는 분리하고,</a:t>
            </a:r>
          </a:p>
          <a:p xmlns:a="http://schemas.openxmlformats.org/drawingml/2006/main">
            <a:pPr algn="l"/>
            <a:r>
              <a:rPr sz="2350" b="1">
                <a:solidFill>
                  <a:srgbClr val="26322D"/>
                </a:solidFill>
                <a:latin typeface="Malgun Gothic"/>
              </a:rPr>
              <a:t>반복 기록은 개인별 섭취 패턴으로 축적·반영합니다.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D84D7-E6F5-4CFF-B1AE-A8139704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2724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05AB7-2BA9-478F-98ED-1D6CFDDF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Food Preview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6EEF5-689E-419D-B0CD-8E54D926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0520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 후보</a:t>
            </a:r>
          </a:p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영양값</a:t>
            </a:r>
          </a:p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섭취량 보정</a:t>
            </a:r>
          </a:p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사용자 수정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6CCE9-89CE-4696-B7F9-22B858D3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290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분리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456F2-FD21-49B2-ACF8-6D42F118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76550"/>
            <a:ext cx="2724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D3876-BF7F-42CA-A207-70E8B7D0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Supplement Preview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F4E88-962F-4C81-AF9E-143F2CCE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0520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OCR 원문</a:t>
            </a:r>
          </a:p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성분 후보</a:t>
            </a:r>
          </a:p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함량·단위</a:t>
            </a:r>
          </a:p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주의 후보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45A72-B059-461A-B416-1562C596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748178"/>
                </a:solidFill>
                <a:latin typeface="Malgun Gothic"/>
              </a:rPr>
              <a:t>사용자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E8FE4-DCE4-4296-BFE8-9B362485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76550"/>
            <a:ext cx="2724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75949-E0E0-4DC1-AAF5-B418CD04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4800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Confirmed Health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955BF-1A91-46E4-9D76-206DD6A5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0520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</a:rPr>
              <a:t>user_confirmed 이후</a:t>
            </a:r>
          </a:p>
          <a:p xmlns:a="http://schemas.openxmlformats.org/drawingml/2006/main">
            <a:pPr algn="ctr"/>
            <a:r>
              <a:rPr sz="1125" b="0">
                <a:solidFill>
                  <a:srgbClr val="FFFFFF"/>
                </a:solidFill>
                <a:latin typeface="Malgun Gothic"/>
              </a:rPr>
              <a:t>기록 유형</a:t>
            </a:r>
          </a:p>
          <a:p xmlns:a="http://schemas.openxmlformats.org/drawingml/2006/main">
            <a:pPr algn="ctr"/>
            <a:r>
              <a:rPr sz="1125" b="0">
                <a:solidFill>
                  <a:srgbClr val="FFFFFF"/>
                </a:solidFill>
                <a:latin typeface="Malgun Gothic"/>
              </a:rPr>
              <a:t>원문 근거</a:t>
            </a:r>
          </a:p>
          <a:p xmlns:a="http://schemas.openxmlformats.org/drawingml/2006/main">
            <a:pPr algn="ctr"/>
            <a:r>
              <a:rPr sz="1125" b="0">
                <a:solidFill>
                  <a:srgbClr val="FFFFFF"/>
                </a:solidFill>
                <a:latin typeface="Malgun Gothic"/>
              </a:rPr>
              <a:t>섭취 패턴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3D1FB4-C5C3-4F83-9D7C-3AF2FF83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F"/>
          </a:solidFill>
          <a:ln xmlns:a="http://schemas.openxmlformats.org/drawingml/2006/main" w="9525">
            <a:solidFill>
              <a:srgbClr val="C9CE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68AED-88B4-44FB-92CE-94DF4DAC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863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0665B"/>
                </a:solidFill>
                <a:latin typeface="Malgun Gothic"/>
              </a:rPr>
              <a:t>Lemon Aid는 음식·영양제 기록이 쌓일수록 개인별 섭취 패턴을 축적·반영하고, 만성질환·복약·활동 맥락과 함께 해석하는 AI 건강관리 보조 서비스입니다.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B757A-CBC3-4C4C-8620-62439BDF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 xmlns:a="http://schemas.openxmlformats.org/drawingml/2006/main">
        <p:nvSpPr>
          <p:cNvPr id="21" name="Rounded Rectangle 20"/>
          <p:cNvSpPr/>
          <p:nvPr/>
        </p:nvSpPr>
        <p:spPr>
          <a:xfrm>
            <a:off x="3200400" y="4486275"/>
            <a:ext cx="5524500" cy="381000"/>
          </a:xfrm>
          <a:prstGeom prst="roundRect">
            <a:avLst/>
          </a:prstGeom>
          <a:solidFill>
            <a:srgbClr val="DDE6DF"/>
          </a:solidFill>
          <a:ln>
            <a:solidFill>
              <a:srgbClr val="657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28575" bIns="28575"/>
          <a:lstStyle/>
          <a:p>
            <a:pPr algn="ctr"/>
            <a:r>
              <a:rPr sz="1200" b="1">
                <a:solidFill>
                  <a:srgbClr val="314138"/>
                </a:solidFill>
                <a:latin typeface="Malgun Gothic"/>
              </a:rPr>
              <a:t>Repeated Records / 개인별 섭취 패턴 축적·반영</a:t>
            </a:r>
          </a:p>
        </p:txBody>
      </p:sp>
    </p:spTree>
    <p:extLst>
      <p:ext uri="{BB962C8B-B14F-4D97-AF65-F5344CB8AC3E}">
        <p14:creationId xmlns:p14="http://schemas.microsoft.com/office/powerpoint/2010/main" val="20383752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E86B46-9360-4CD1-B112-98DF324D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B00BD-225C-4347-A6F6-99D7290E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5.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E8728-153C-4BE5-807A-568FE9F2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D2F6D-196F-4F86-BB2D-10CAEB23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D3240-3A8D-4542-8AA8-DEBE3D6B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5종 출력과 다음 진행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8EC65-8F28-423B-8C05-9D96CED3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350" b="1">
                <a:solidFill>
                  <a:srgbClr val="26322D"/>
                </a:solidFill>
                <a:latin typeface="Malgun Gothic"/>
              </a:rPr>
              <a:t>서비스 화면은 분석 결과를 다섯 가지 가치로 압축하고,</a:t>
            </a:r>
          </a:p>
          <a:p xmlns:a="http://schemas.openxmlformats.org/drawingml/2006/main">
            <a:pPr algn="l"/>
            <a:r>
              <a:rPr sz="2350" b="1">
                <a:solidFill>
                  <a:srgbClr val="26322D"/>
                </a:solidFill>
                <a:latin typeface="Malgun Gothic"/>
              </a:rPr>
              <a:t>다음 주에는 시연 경로와 반복 기록 구조를 고정합니다.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E86BB-2744-4479-B4A9-3D114E88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914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024B7-E9E6-429F-94E5-BDA0CC06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부족 영양소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998EA-4D2F-4F44-8072-A0490344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2914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15B54-8EAE-4669-B103-CF601ED5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71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권장 섭취량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B918D-27DC-448D-B8EF-F2272717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81300"/>
            <a:ext cx="2914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913DF-F3B2-4AEC-B64D-E43A31F9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71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체중 변화 예측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3C78C-98B0-44C1-8BDA-C5AE76FC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914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EAC19-2459-4FC4-ACCF-D5E21CDF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활동 권고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B8E2C-3DFB-4E25-BA50-90662E7D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57600"/>
            <a:ext cx="2914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E77E0-ADA7-4C63-A1BC-C19FFB47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48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목적별 분석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7F9FE-CA7B-4497-AFA0-E8CEC2B1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820D5-84CF-4FD9-A141-03A515CB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92442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Next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11779-1296-4558-888A-1A0E6467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768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080" b="0">
                <a:solidFill>
                  <a:srgbClr val="26322D"/>
                </a:solidFill>
                <a:latin typeface="Malgun Gothic"/>
              </a:rPr>
              <a:t>Food/Supplement Preview DTO와 사용자 확인 상태 고정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AEDDA-0189-4B5F-B9F3-1ADEAFDD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006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56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E9B0A-6906-425C-9D45-DE604BD6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24827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Next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7657F-5070-4874-8B67-51B4E1F8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006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080" b="0">
                <a:solidFill>
                  <a:srgbClr val="26322D"/>
                </a:solidFill>
                <a:latin typeface="Malgun Gothic"/>
              </a:rPr>
              <a:t>반복 기록을 개인별 섭취 패턴으로 반영하는 기록 구조 정리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5CE291-90A4-4DDB-8B82-29120EB4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D1144A-AFD1-44C2-91E4-A3DA7253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57212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Next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1A9C71-B109-4E7C-9F10-0623DF2D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5245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080" b="0">
                <a:solidFill>
                  <a:srgbClr val="26322D"/>
                </a:solidFill>
                <a:latin typeface="Malgun Gothic"/>
              </a:rPr>
              <a:t>모바일 카메라 → analyze API → 사용자 확인 화면 연결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2DF7B-14F8-4C02-9B47-E412FCEE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48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56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8108A-874B-436B-9BC1-A9D78673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89597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Next 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C98804-F06E-4639-BDA6-14A2215A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483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080" b="0">
                <a:solidFill>
                  <a:srgbClr val="26322D"/>
                </a:solidFill>
                <a:latin typeface="Malgun Gothic"/>
              </a:rPr>
              <a:t>OCR provider, 동의, raw data 저장 정책 확정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734568-0074-4583-9ECC-035D0656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780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2026-05-18T14:09:27.9010000Z</dcterms:created>
  <dcterms:modified xsi:type="dcterms:W3CDTF">2026-05-18T14:09:27.9010000Z</dcterms:modified>
</coreProperties>
</file>