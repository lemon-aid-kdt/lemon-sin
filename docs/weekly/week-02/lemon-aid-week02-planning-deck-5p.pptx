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132e1336c26c40ea" Type="http://schemas.openxmlformats.org/officeDocument/2006/relationships/extended-properties" Target="docProps/app.xml"/><Relationship Id="R8cad2013844b4fb0" Type="http://schemas.openxmlformats.org/officeDocument/2006/relationships/officeDocument" Target="ppt/presentation.xml"/><Relationship Id="R9ca6b047c3374cfa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2265b59fcce4654"/>
  </p:sldMasterIdLst>
  <p:notesMasterIdLst>
    <p:notesMasterId xmlns:r="http://schemas.openxmlformats.org/officeDocument/2006/relationships" r:id="Rdf2c04defaa04d7e"/>
  </p:notesMasterIdLst>
  <p:sldIdLst>
    <p:sldId xmlns:r="http://schemas.openxmlformats.org/officeDocument/2006/relationships" id="256" r:id="Rd23126e26f8b4163"/>
    <p:sldId xmlns:r="http://schemas.openxmlformats.org/officeDocument/2006/relationships" id="257" r:id="R79181f422b5a44aa"/>
    <p:sldId xmlns:r="http://schemas.openxmlformats.org/officeDocument/2006/relationships" id="258" r:id="Rde09091d9f1544a0"/>
    <p:sldId xmlns:r="http://schemas.openxmlformats.org/officeDocument/2006/relationships" id="259" r:id="R4070e20148684c8a"/>
    <p:sldId xmlns:r="http://schemas.openxmlformats.org/officeDocument/2006/relationships" id="260" r:id="R8a0bcb08ef704b1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07454ef1469844a9" Type="http://schemas.openxmlformats.org/officeDocument/2006/relationships/tableStyles" Target="tableStyles.xml"/><Relationship Id="R0fe0f0452e644cce" Type="http://schemas.openxmlformats.org/officeDocument/2006/relationships/viewProps" Target="viewProps.xml"/><Relationship Id="R12265b59fcce4654" Type="http://schemas.openxmlformats.org/officeDocument/2006/relationships/slideMaster" Target="slideMasters/slideMaster1.xml"/><Relationship Id="R4070e20148684c8a" Type="http://schemas.openxmlformats.org/officeDocument/2006/relationships/slide" Target="slides/slide4.xml"/><Relationship Id="R44fa940de6b94ca7" Type="http://schemas.openxmlformats.org/officeDocument/2006/relationships/presProps" Target="presProps.xml"/><Relationship Id="R79181f422b5a44aa" Type="http://schemas.openxmlformats.org/officeDocument/2006/relationships/slide" Target="slides/slide2.xml"/><Relationship Id="R8a0bcb08ef704b1f" Type="http://schemas.openxmlformats.org/officeDocument/2006/relationships/slide" Target="slides/slide5.xml"/><Relationship Id="Ra96d7bfb813844ce" Type="http://schemas.openxmlformats.org/officeDocument/2006/relationships/theme" Target="theme/theme1.xml"/><Relationship Id="Rd23126e26f8b4163" Type="http://schemas.openxmlformats.org/officeDocument/2006/relationships/slide" Target="slides/slide1.xml"/><Relationship Id="Rde09091d9f1544a0" Type="http://schemas.openxmlformats.org/officeDocument/2006/relationships/slide" Target="slides/slide3.xml"/><Relationship Id="Rdf2c04defaa04d7e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b32c4b7194e54a2f" Type="http://schemas.openxmlformats.org/officeDocument/2006/relationships/theme" Target="theme/theme2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5316b152e1434ace" Type="http://schemas.openxmlformats.org/officeDocument/2006/relationships/slide" Target="../slides/slide1.xml"/><Relationship Id="Rdfa9d528368543c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0930a76e80ea4355" Type="http://schemas.openxmlformats.org/officeDocument/2006/relationships/notesMaster" Target="../notesMasters/notesMaster1.xml"/><Relationship Id="R139cf6c33de645db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71c2d50ea68a458f" Type="http://schemas.openxmlformats.org/officeDocument/2006/relationships/notesMaster" Target="../notesMasters/notesMaster1.xml"/><Relationship Id="Rcd1460436d724665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0c9f635b21e14ad7" Type="http://schemas.openxmlformats.org/officeDocument/2006/relationships/slide" Target="../slides/slide4.xml"/><Relationship Id="Rf710af88f50a4323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783528753f5842e5" Type="http://schemas.openxmlformats.org/officeDocument/2006/relationships/slide" Target="../slides/slide5.xml"/><Relationship Id="R7d179466628d4ef0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<?xml version='1.0' encoding='UTF-8' standalone='yes'?>
<Relationships xmlns="http://schemas.openxmlformats.org/package/2006/relationships"><Relationship Id="Rc721b6e321004df6" Type="http://schemas.openxmlformats.org/officeDocument/2006/relationships/slideMaster" Target="../slideMasters/slideMaster1.xml"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32c139e329a249e3" Type="http://schemas.openxmlformats.org/officeDocument/2006/relationships/theme" Target="../theme/theme1.xml"/><Relationship Id="R61c8d90c8c504923" Type="http://schemas.openxmlformats.org/officeDocument/2006/relationships/slideLayout" Target="../slideLayouts/slideLayout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1c8d90c8c50492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15e46b1d60874b59" Type="http://schemas.openxmlformats.org/officeDocument/2006/relationships/slideLayout" Target="../slideLayouts/slideLayout2.xml"/><Relationship Id="Rd8c6e5eb189b4737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bd524437155b4950" Type="http://schemas.openxmlformats.org/officeDocument/2006/relationships/slideLayout" Target="../slideLayouts/slideLayout2.xml"/><Relationship Id="Rda9b29dfe6cd4287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173da5e86a984c26" Type="http://schemas.openxmlformats.org/officeDocument/2006/relationships/notesSlide" Target="../notesSlides/notesSlide3.xml"/><Relationship Id="Rf4777d178b8542fd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0a49c564b449404d" Type="http://schemas.openxmlformats.org/officeDocument/2006/relationships/notesSlide" Target="../notesSlides/notesSlide4.xml"/><Relationship Id="R1f64cfd73bae4a9e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863500f75bd144ec" Type="http://schemas.openxmlformats.org/officeDocument/2006/relationships/notesSlide" Target="../notesSlides/notesSlide5.xml"/><Relationship Id="Re8f70d169a9a4a4e" Type="http://schemas.openxmlformats.org/officeDocument/2006/relationships/slideLayout" Target="../slideLayouts/slideLayout2.xml"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42FDF6-B501-4EEF-8DBD-235D8F19E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8AB7D0-F4E3-430C-927E-87DE1010B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8763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C8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49EA9C-3AA1-4D8C-9F92-B2C53A4E0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62865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BB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43D912-0A1E-47D8-8C47-45255EC0E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4817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748178"/>
                </a:solidFill>
                <a:latin typeface="Malgun Gothic"/>
                <a:ea typeface="Malgun Gothic"/>
                <a:cs typeface="Malgun Gothic"/>
              </a:rPr>
              <a:t>WEEK 02 PLANNING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3B5999-193A-4BE9-A615-F8335D784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47900"/>
            <a:ext cx="3905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Lemon Aid</a:t>
            </a:r>
          </a:p>
          <a:p xmlns:a="http://schemas.openxmlformats.org/drawingml/2006/main">
            <a:pPr algn="l">
              <a:defRPr sz="315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2주차 기획 발표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90B59A-1AA1-4DA5-8C3F-FC8605CB5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43300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DF"/>
          </a:solidFill>
          <a:ln xmlns:a="http://schemas.openxmlformats.org/drawingml/2006/main" w="9525">
            <a:solidFill>
              <a:srgbClr val="C9CEC6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739414-C405-467B-A5EA-FF5B48E88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38550"/>
            <a:ext cx="514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950" b="1">
                <a:solidFill>
                  <a:srgbClr val="50665B"/>
                </a:solidFill>
                <a:latin typeface="Malgun Gothic"/>
              </a:rPr>
              <a:t>음식·영양제 과제를 풀고, 반복 기록을 개인화 건강관리 흐름으로 연결했는가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C11396-DEFC-41B7-8EDC-E4B15A77E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000125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| 목차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E9421C-37EC-42F5-8004-C1701AA2D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811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4817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748178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E538F3-EEFE-4AD0-8F6B-F392C3A65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695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1EA6DD-4E0F-4751-9161-6A35C4467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43050"/>
            <a:ext cx="2333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과제 재정의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4137BC-B450-4612-83DC-10941CEE8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288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4817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748178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8BC27D-CD56-4D13-9533-77A72D0F7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3431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3E3C91-9A8F-4093-AA04-A23CE4548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90750"/>
            <a:ext cx="2333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문제 배경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98AD4B-1067-43AF-9BAE-FD6956AD8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765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4817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748178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BBAE85-476F-439B-92A2-C76353125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9908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0F26E4-5F44-4153-9917-C0010319E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38450"/>
            <a:ext cx="2333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latin typeface="Malgun Gothic"/>
              </a:rPr>
              <a:t>해결 전략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D9CD40-A1C7-48D3-806F-3143A97FA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242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4817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748178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2D734C-AE02-47B3-9BA3-AAE634887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6385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F07348-943A-488D-8D18-303D9DD6D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86150"/>
            <a:ext cx="2333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latin typeface="Malgun Gothic"/>
              </a:rPr>
              <a:t>사용자 이점과 다음 진행</a:t>
            </a:r>
          </a:p>
        </p:txBody>
      </p:sp>
      <p:sp xmlns:a="http://schemas.openxmlformats.org/drawingml/2006/main">
        <p:nvSpPr>
          <p:cNvPr id="21" name="TextBox 20"/>
          <p:cNvSpPr txBox="1"/>
          <p:nvPr/>
        </p:nvSpPr>
        <p:spPr>
          <a:xfrm>
            <a:off x="742950" y="6115050"/>
            <a:ext cx="4000500" cy="209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75" b="0">
                <a:solidFill>
                  <a:srgbClr val="5B655E"/>
                </a:solidFill>
                <a:latin typeface="Malgun Gothic"/>
              </a:rPr>
              <a:t>KDT 12기 · 레몬헬스케어 기업과제 · Lemon Aid</a:t>
            </a:r>
          </a:p>
        </p:txBody>
      </p:sp>
    </p:spTree>
    <p:extLst>
      <p:ext uri="{BB962C8B-B14F-4D97-AF65-F5344CB8AC3E}">
        <p14:creationId xmlns:p14="http://schemas.microsoft.com/office/powerpoint/2010/main" val="56458029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6AEF04-BA50-430A-85B4-59B7E36C7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DFB28B-8D41-4713-893C-3832D69A2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Chapter 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4140C9-4D1B-4A5F-B456-4F40C64E3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9906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56BC1C-FBEE-458E-A01B-12D2A1D3F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95275"/>
            <a:ext cx="95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Lemon Aid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5F8355-C076-4C25-8516-C343D2D68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572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과제 재정의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448430-DBD4-4FA6-901A-83F7A4975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8096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2350" b="1">
                <a:solidFill>
                  <a:srgbClr val="26322D"/>
                </a:solidFill>
                <a:latin typeface="Malgun Gothic"/>
              </a:rPr>
              <a:t>두 과제는 별도 기능이 아니라,</a:t>
            </a:r>
          </a:p>
          <a:p xmlns:a="http://schemas.openxmlformats.org/drawingml/2006/main">
            <a:pPr algn="l"/>
            <a:r>
              <a:rPr sz="2350" b="1">
                <a:solidFill>
                  <a:srgbClr val="26322D"/>
                </a:solidFill>
                <a:latin typeface="Malgun Gothic"/>
              </a:rPr>
              <a:t>개인별 건강관리 흐름에 축적·반영되는 반복 입력입니다.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6A8CED-0BDC-47BA-9E9B-42808D08F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47625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1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F4014D-F3CB-4321-9334-0FE69E7C7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781300"/>
            <a:ext cx="47625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C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A7673C-9945-496B-9E7E-7D0074E42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099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음식 과제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976737-E470-4A5E-A2FA-F1B12FB62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29000"/>
            <a:ext cx="4000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음식 사진·텍스트에서 음식 후보와 섭취량을 추정하고, 영양성분 데이터와 연결해 식단관리 피드백의 근거를 만든다.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CABB77-4196-4EB2-83A5-FB740DFA8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0099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영양제 과제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06A6A9-8A2B-44D7-89CE-63E33E285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429000"/>
            <a:ext cx="4000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라벨 OCR에서 성분명·함량·단위를 구조화하고, 중복·과다 가능성과 목적별 분석의 근거를 만든다.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60DBBB-9861-4633-B4B2-43FAF6578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3623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74817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748178"/>
                </a:solidFill>
                <a:latin typeface="Malgun Gothic"/>
                <a:ea typeface="Malgun Gothic"/>
                <a:cs typeface="Malgun Gothic"/>
              </a:rPr>
              <a:t>+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09BDC0-D15F-42BF-A34D-579C0DED0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10150"/>
            <a:ext cx="9906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C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C86B72-AE3C-4279-A2DB-098482B6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162550"/>
            <a:ext cx="9382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0665B"/>
                </a:solidFill>
                <a:latin typeface="Malgun Gothic"/>
              </a:rPr>
              <a:t>공통 도착지: 확인된 섭취 데이터를 만성질환 정보·복약·활동 맥락과 함께 해석하는 AI 건강관리 보조 서비스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AC635D-5EA3-476B-9CC4-63EBE7DFC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2460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4817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748178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7664013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7E0ACE-E04C-4CAF-B722-1D0444780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C4797C-A758-4DAE-81CF-2CBF84482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Chapter 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FB31F6-350F-4258-93ED-587ED24B5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9906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A6E825-83AB-4D19-874F-3AEE4D985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95275"/>
            <a:ext cx="95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Lemon Aid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C71D09-2670-4185-9733-302B8BD12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문제 배경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850AE3-616A-4A75-B142-30AEDEA01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8096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현재 문제는 정보 부족보다</a:t>
            </a:r>
          </a:p>
          <a:p xmlns:a="http://schemas.openxmlformats.org/drawingml/2006/main">
            <a:pPr algn="l">
              <a:defRPr sz="2475" b="1">
                <a:solidFill>
                  <a:srgbClr val="26322D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26322D"/>
                </a:solidFill>
                <a:latin typeface="Malgun Gothic"/>
                <a:ea typeface="Malgun Gothic"/>
                <a:cs typeface="Malgun Gothic"/>
              </a:rPr>
              <a:t>흩어진 데이터를 연결하지 못하는 데 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108ED4-C478-4CE7-AFD3-878703ECB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7C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9012D2-F48F-4939-A29C-3E05E4325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86150"/>
            <a:ext cx="1200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데이터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분산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2B0D60-69A1-4F1B-9580-ACFA66F6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0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6565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65656"/>
                </a:solidFill>
                <a:latin typeface="Malgun Gothic"/>
                <a:ea typeface="Malgun Gothic"/>
                <a:cs typeface="Malgun Gothic"/>
              </a:rPr>
              <a:t>음식·영양제·복약·활동·검사값이 서로 다른 기록에 흩어짐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9B77D3-A32B-4F63-A617-ADE5FFA60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02895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1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B953D6-0E19-4AB7-BF5D-85855EBB1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486150"/>
            <a:ext cx="1200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통합 섭취량</a:t>
            </a:r>
          </a:p>
          <a:p xmlns:a="http://schemas.openxmlformats.org/drawingml/2006/main">
            <a:pPr algn="ctr">
              <a:defRPr sz="150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파악 어려움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4CB7D7-6383-48AD-9D66-12B20EA9F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953000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6565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65656"/>
                </a:solidFill>
                <a:latin typeface="Malgun Gothic"/>
                <a:ea typeface="Malgun Gothic"/>
                <a:cs typeface="Malgun Gothic"/>
              </a:rPr>
              <a:t>하루 영양소 기준으로 음식과 영양제를 함께 보기 어려움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3FE1B9-2698-48E2-9022-394C81C3A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2895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7C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56E46E-03BF-4E83-B5C4-317FF7E71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486150"/>
            <a:ext cx="1200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개인화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부족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BFA956-51B3-41AD-9852-2498505E7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953000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65656"/>
                </a:solidFill>
                <a:latin typeface="Malgun Gothic"/>
                <a:ea typeface="Malgun Gothic"/>
                <a:cs typeface="Malgun Gothic"/>
              </a:defRPr>
            </a:pPr>
            <a:r>
              <a:rPr sz="930" b="0">
                <a:solidFill>
                  <a:srgbClr val="565656"/>
                </a:solidFill>
                <a:latin typeface="Malgun Gothic"/>
              </a:rPr>
              <a:t>음식·영양제 기록이 쌓여도</a:t>
            </a:r>
          </a:p>
          <a:p xmlns:a="http://schemas.openxmlformats.org/drawingml/2006/main">
            <a:pPr algn="ctr"/>
            <a:r>
              <a:rPr sz="930" b="0">
                <a:solidFill>
                  <a:srgbClr val="565656"/>
                </a:solidFill>
                <a:latin typeface="Malgun Gothic"/>
              </a:rPr>
              <a:t>개인의 섭취 패턴으로 축적·반영되지 않음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098593-F49D-43D1-99F7-448C990DB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02895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1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B83F23-41D8-4DB5-A959-41A42F938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486150"/>
            <a:ext cx="1200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실천 방향</a:t>
            </a:r>
          </a:p>
          <a:p xmlns:a="http://schemas.openxmlformats.org/drawingml/2006/main">
            <a:pPr algn="ctr">
              <a:defRPr sz="150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50665B"/>
                </a:solidFill>
                <a:latin typeface="Malgun Gothic"/>
                <a:ea typeface="Malgun Gothic"/>
                <a:cs typeface="Malgun Gothic"/>
              </a:rPr>
              <a:t>부재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334CF2-8553-44E6-BAF8-D7C8ECF10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953000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6565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65656"/>
                </a:solidFill>
                <a:latin typeface="Malgun Gothic"/>
                <a:ea typeface="Malgun Gothic"/>
                <a:cs typeface="Malgun Gothic"/>
              </a:rPr>
              <a:t>오늘 줄일 것과 보완할 것이 행동으로 이어지지 않음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753396-E105-4586-A93E-7B8CA8463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2460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4817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748178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1449814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TextBox 2"/>
          <p:cNvSpPr txBox="1"/>
          <p:nvPr/>
        </p:nvSpPr>
        <p:spPr>
          <a:xfrm>
            <a:off x="609600" y="514350"/>
            <a:ext cx="18000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BCCDC5"/>
                </a:solidFill>
                <a:latin typeface="Malgun Gothic"/>
              </a:rPr>
              <a:t>Chapter 2.</a:t>
            </a:r>
          </a:p>
        </p:txBody>
      </p:sp>
      <p:sp xmlns:a="http://schemas.openxmlformats.org/drawingml/2006/main">
        <p:nvSpPr>
          <p:cNvPr id="4" name="TextBox 3"/>
          <p:cNvSpPr txBox="1"/>
          <p:nvPr/>
        </p:nvSpPr>
        <p:spPr>
          <a:xfrm>
            <a:off x="609600" y="857250"/>
            <a:ext cx="52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64786E"/>
                </a:solidFill>
                <a:latin typeface="Malgun Gothic"/>
              </a:rPr>
              <a:t>해결 전략</a:t>
            </a:r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609600" y="1397000"/>
            <a:ext cx="10950000" cy="19050"/>
          </a:xfrm>
          <a:prstGeom prst="rect">
            <a:avLst/>
          </a:prstGeom>
          <a:solidFill>
            <a:srgbClr val="687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6" name="TextBox 5"/>
          <p:cNvSpPr txBox="1"/>
          <p:nvPr/>
        </p:nvSpPr>
        <p:spPr>
          <a:xfrm>
            <a:off x="10170000" y="985000"/>
            <a:ext cx="13800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>
                <a:solidFill>
                  <a:srgbClr val="434644"/>
                </a:solidFill>
                <a:latin typeface="Malgun Gothic"/>
              </a:rPr>
              <a:t>Lemon Aid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10991850" y="6324600"/>
            <a:ext cx="6667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86E"/>
                </a:solidFill>
                <a:latin typeface="Malgun Gothic"/>
              </a:rPr>
              <a:t>04</a:t>
            </a:r>
          </a:p>
        </p:txBody>
      </p:sp>
      <p:sp xmlns:a="http://schemas.openxmlformats.org/drawingml/2006/main">
        <p:nvSpPr>
          <p:cNvPr id="8" name="Rounded Rectangle 7"/>
          <p:cNvSpPr/>
          <p:nvPr/>
        </p:nvSpPr>
        <p:spPr>
          <a:xfrm>
            <a:off x="895350" y="2070000"/>
            <a:ext cx="10480000" cy="828675"/>
          </a:xfrm>
          <a:prstGeom prst="roundRect">
            <a:avLst/>
          </a:prstGeom>
          <a:solidFill>
            <a:srgbClr val="E4E0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9" name="Oval 8"/>
          <p:cNvSpPr/>
          <p:nvPr/>
        </p:nvSpPr>
        <p:spPr>
          <a:xfrm>
            <a:off x="986790" y="2161440"/>
            <a:ext cx="647700" cy="6477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0" name="TextBox 9"/>
          <p:cNvSpPr txBox="1"/>
          <p:nvPr/>
        </p:nvSpPr>
        <p:spPr>
          <a:xfrm>
            <a:off x="986790" y="2310000"/>
            <a:ext cx="64770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6F857A"/>
                </a:solidFill>
                <a:latin typeface="Malgun Gothic"/>
              </a:rPr>
              <a:t>1</a:t>
            </a:r>
          </a:p>
        </p:txBody>
      </p:sp>
      <p:sp xmlns:a="http://schemas.openxmlformats.org/drawingml/2006/main">
        <p:nvSpPr>
          <p:cNvPr id="11" name="TextBox 10"/>
          <p:cNvSpPr txBox="1"/>
          <p:nvPr/>
        </p:nvSpPr>
        <p:spPr>
          <a:xfrm>
            <a:off x="2952750" y="2317650"/>
            <a:ext cx="7980000" cy="3333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434644"/>
                </a:solidFill>
                <a:latin typeface="Malgun Gothic"/>
              </a:rPr>
              <a:t>문제를 자동 판단하지 않고, 먼저 음식·영양제 입력을 구조화합니다.</a:t>
            </a:r>
          </a:p>
        </p:txBody>
      </p:sp>
      <p:sp xmlns:a="http://schemas.openxmlformats.org/drawingml/2006/main">
        <p:nvSpPr>
          <p:cNvPr id="12" name="Rounded Rectangle 11"/>
          <p:cNvSpPr/>
          <p:nvPr/>
        </p:nvSpPr>
        <p:spPr>
          <a:xfrm>
            <a:off x="895350" y="3085000"/>
            <a:ext cx="10480000" cy="828675"/>
          </a:xfrm>
          <a:prstGeom prst="roundRect">
            <a:avLst/>
          </a:prstGeom>
          <a:solidFill>
            <a:srgbClr val="6F8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3" name="Oval 12"/>
          <p:cNvSpPr/>
          <p:nvPr/>
        </p:nvSpPr>
        <p:spPr>
          <a:xfrm>
            <a:off x="986790" y="3176440"/>
            <a:ext cx="647700" cy="6477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4" name="TextBox 13"/>
          <p:cNvSpPr txBox="1"/>
          <p:nvPr/>
        </p:nvSpPr>
        <p:spPr>
          <a:xfrm>
            <a:off x="986790" y="3325000"/>
            <a:ext cx="64770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6F857A"/>
                </a:solidFill>
                <a:latin typeface="Malgun Gothic"/>
              </a:rPr>
              <a:t>2</a:t>
            </a:r>
          </a:p>
        </p:txBody>
      </p:sp>
      <p:sp xmlns:a="http://schemas.openxmlformats.org/drawingml/2006/main">
        <p:nvSpPr>
          <p:cNvPr id="15" name="TextBox 14"/>
          <p:cNvSpPr txBox="1"/>
          <p:nvPr/>
        </p:nvSpPr>
        <p:spPr>
          <a:xfrm>
            <a:off x="2952750" y="3332650"/>
            <a:ext cx="7980000" cy="3333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Malgun Gothic"/>
              </a:rPr>
              <a:t>LLM으로 사진·라벨 결과를 후보·근거·수정 가능 상태로 정리합니다.</a:t>
            </a:r>
          </a:p>
        </p:txBody>
      </p:sp>
      <p:sp xmlns:a="http://schemas.openxmlformats.org/drawingml/2006/main">
        <p:nvSpPr>
          <p:cNvPr id="16" name="Rounded Rectangle 15"/>
          <p:cNvSpPr/>
          <p:nvPr/>
        </p:nvSpPr>
        <p:spPr>
          <a:xfrm>
            <a:off x="895350" y="4100000"/>
            <a:ext cx="10480000" cy="828675"/>
          </a:xfrm>
          <a:prstGeom prst="roundRect">
            <a:avLst/>
          </a:prstGeom>
          <a:solidFill>
            <a:srgbClr val="E4E0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7" name="Oval 16"/>
          <p:cNvSpPr/>
          <p:nvPr/>
        </p:nvSpPr>
        <p:spPr>
          <a:xfrm>
            <a:off x="986790" y="4191440"/>
            <a:ext cx="647700" cy="6477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8" name="TextBox 17"/>
          <p:cNvSpPr txBox="1"/>
          <p:nvPr/>
        </p:nvSpPr>
        <p:spPr>
          <a:xfrm>
            <a:off x="986790" y="4340000"/>
            <a:ext cx="64770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6F857A"/>
                </a:solidFill>
                <a:latin typeface="Malgun Gothic"/>
              </a:rPr>
              <a:t>3</a:t>
            </a:r>
          </a:p>
        </p:txBody>
      </p:sp>
      <p:sp xmlns:a="http://schemas.openxmlformats.org/drawingml/2006/main">
        <p:nvSpPr>
          <p:cNvPr id="19" name="TextBox 18"/>
          <p:cNvSpPr txBox="1"/>
          <p:nvPr/>
        </p:nvSpPr>
        <p:spPr>
          <a:xfrm>
            <a:off x="2952750" y="4347650"/>
            <a:ext cx="7980000" cy="3333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434644"/>
                </a:solidFill>
                <a:latin typeface="Malgun Gothic"/>
              </a:rPr>
              <a:t>Agent가 반복 기록과 만성질환 정보·복약·활동 맥락을 연결합니다.</a:t>
            </a:r>
          </a:p>
        </p:txBody>
      </p:sp>
      <p:sp xmlns:a="http://schemas.openxmlformats.org/drawingml/2006/main">
        <p:nvSpPr>
          <p:cNvPr id="20" name="Rounded Rectangle 19"/>
          <p:cNvSpPr/>
          <p:nvPr/>
        </p:nvSpPr>
        <p:spPr>
          <a:xfrm>
            <a:off x="895350" y="5115000"/>
            <a:ext cx="10480000" cy="828675"/>
          </a:xfrm>
          <a:prstGeom prst="roundRect">
            <a:avLst/>
          </a:prstGeom>
          <a:solidFill>
            <a:srgbClr val="6F8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1" name="Oval 20"/>
          <p:cNvSpPr/>
          <p:nvPr/>
        </p:nvSpPr>
        <p:spPr>
          <a:xfrm>
            <a:off x="986790" y="5206440"/>
            <a:ext cx="647700" cy="6477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2" name="TextBox 21"/>
          <p:cNvSpPr txBox="1"/>
          <p:nvPr/>
        </p:nvSpPr>
        <p:spPr>
          <a:xfrm>
            <a:off x="986790" y="5355000"/>
            <a:ext cx="64770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6F857A"/>
                </a:solidFill>
                <a:latin typeface="Malgun Gothic"/>
              </a:rPr>
              <a:t>4</a:t>
            </a:r>
          </a:p>
        </p:txBody>
      </p:sp>
      <p:sp xmlns:a="http://schemas.openxmlformats.org/drawingml/2006/main">
        <p:nvSpPr>
          <p:cNvPr id="23" name="TextBox 22"/>
          <p:cNvSpPr txBox="1"/>
          <p:nvPr/>
        </p:nvSpPr>
        <p:spPr>
          <a:xfrm>
            <a:off x="2952750" y="5362650"/>
            <a:ext cx="7980000" cy="3333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Malgun Gothic"/>
              </a:rPr>
              <a:t>최종 기록은 사용자가 확인한 뒤 개인별 섭취 패턴으로 축적·반영합니다.</a:t>
            </a:r>
          </a:p>
        </p:txBody>
      </p:sp>
    </p:spTree>
    <p:extLst>
      <p:ext uri="{BB962C8B-B14F-4D97-AF65-F5344CB8AC3E}">
        <p14:creationId xmlns:p14="http://schemas.microsoft.com/office/powerpoint/2010/main" val="4411574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TextBox 2"/>
          <p:cNvSpPr txBox="1"/>
          <p:nvPr/>
        </p:nvSpPr>
        <p:spPr>
          <a:xfrm>
            <a:off x="609600" y="514350"/>
            <a:ext cx="18000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BCCDC5"/>
                </a:solidFill>
                <a:latin typeface="Malgun Gothic"/>
              </a:rPr>
              <a:t>Chapter 3.</a:t>
            </a:r>
          </a:p>
        </p:txBody>
      </p:sp>
      <p:sp xmlns:a="http://schemas.openxmlformats.org/drawingml/2006/main">
        <p:nvSpPr>
          <p:cNvPr id="4" name="TextBox 3"/>
          <p:cNvSpPr txBox="1"/>
          <p:nvPr/>
        </p:nvSpPr>
        <p:spPr>
          <a:xfrm>
            <a:off x="609600" y="857250"/>
            <a:ext cx="52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64786E"/>
                </a:solidFill>
                <a:latin typeface="Malgun Gothic"/>
              </a:rPr>
              <a:t>도입 효과 Before-After</a:t>
            </a:r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609600" y="1397000"/>
            <a:ext cx="10950000" cy="19050"/>
          </a:xfrm>
          <a:prstGeom prst="rect">
            <a:avLst/>
          </a:prstGeom>
          <a:solidFill>
            <a:srgbClr val="687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6" name="TextBox 5"/>
          <p:cNvSpPr txBox="1"/>
          <p:nvPr/>
        </p:nvSpPr>
        <p:spPr>
          <a:xfrm>
            <a:off x="10991850" y="6324600"/>
            <a:ext cx="6667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86E"/>
                </a:solidFill>
                <a:latin typeface="Malgun Gothic"/>
              </a:rPr>
              <a:t>05</a:t>
            </a:r>
          </a:p>
        </p:txBody>
      </p:sp>
      <p:sp xmlns:a="http://schemas.openxmlformats.org/drawingml/2006/main">
        <p:nvSpPr>
          <p:cNvPr id="7" name="Oval 6"/>
          <p:cNvSpPr/>
          <p:nvPr/>
        </p:nvSpPr>
        <p:spPr>
          <a:xfrm>
            <a:off x="10790000" y="390000"/>
            <a:ext cx="780000" cy="780000"/>
          </a:xfrm>
          <a:prstGeom prst="ellipse">
            <a:avLst/>
          </a:prstGeom>
          <a:solidFill>
            <a:srgbClr val="FFE247"/>
          </a:solidFill>
          <a:ln>
            <a:solidFill>
              <a:srgbClr val="EFC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8" name="Parallelogram 7"/>
          <p:cNvSpPr/>
          <p:nvPr/>
        </p:nvSpPr>
        <p:spPr>
          <a:xfrm rot="20400000">
            <a:off x="11300000" y="320000"/>
            <a:ext cx="390000" cy="210000"/>
          </a:xfrm>
          <a:prstGeom prst="parallelogram">
            <a:avLst/>
          </a:prstGeom>
          <a:solidFill>
            <a:srgbClr val="76B242"/>
          </a:solidFill>
          <a:ln>
            <a:solidFill>
              <a:srgbClr val="5B9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9" name="Oval 8"/>
          <p:cNvSpPr/>
          <p:nvPr/>
        </p:nvSpPr>
        <p:spPr>
          <a:xfrm>
            <a:off x="11005000" y="690000"/>
            <a:ext cx="52000" cy="80000"/>
          </a:xfrm>
          <a:prstGeom prst="ellipse">
            <a:avLst/>
          </a:prstGeom>
          <a:solidFill>
            <a:srgbClr val="252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0" name="Oval 9"/>
          <p:cNvSpPr/>
          <p:nvPr/>
        </p:nvSpPr>
        <p:spPr>
          <a:xfrm>
            <a:off x="11203000" y="690000"/>
            <a:ext cx="52000" cy="80000"/>
          </a:xfrm>
          <a:prstGeom prst="ellipse">
            <a:avLst/>
          </a:prstGeom>
          <a:solidFill>
            <a:srgbClr val="252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1" name="Rectangle 10"/>
          <p:cNvSpPr/>
          <p:nvPr/>
        </p:nvSpPr>
        <p:spPr>
          <a:xfrm>
            <a:off x="1866900" y="2495550"/>
            <a:ext cx="3571875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2" name="Rectangle 11"/>
          <p:cNvSpPr/>
          <p:nvPr/>
        </p:nvSpPr>
        <p:spPr>
          <a:xfrm>
            <a:off x="6699300" y="2495550"/>
            <a:ext cx="3571875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3" name="Rectangle 12"/>
          <p:cNvSpPr/>
          <p:nvPr/>
        </p:nvSpPr>
        <p:spPr>
          <a:xfrm>
            <a:off x="1866900" y="3124200"/>
            <a:ext cx="3571875" cy="2571750"/>
          </a:xfrm>
          <a:prstGeom prst="rect">
            <a:avLst/>
          </a:prstGeom>
          <a:solidFill>
            <a:srgbClr val="E4E0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4" name="Rectangle 13"/>
          <p:cNvSpPr/>
          <p:nvPr/>
        </p:nvSpPr>
        <p:spPr>
          <a:xfrm>
            <a:off x="6699300" y="3124200"/>
            <a:ext cx="3571875" cy="2571750"/>
          </a:xfrm>
          <a:prstGeom prst="rect">
            <a:avLst/>
          </a:prstGeom>
          <a:solidFill>
            <a:srgbClr val="6F8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5" name="TextBox 14"/>
          <p:cNvSpPr txBox="1"/>
          <p:nvPr/>
        </p:nvSpPr>
        <p:spPr>
          <a:xfrm>
            <a:off x="1866900" y="2686050"/>
            <a:ext cx="3571875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434644"/>
                </a:solidFill>
                <a:latin typeface="Malgun Gothic"/>
              </a:rPr>
              <a:t>Before</a:t>
            </a:r>
          </a:p>
        </p:txBody>
      </p:sp>
      <p:sp xmlns:a="http://schemas.openxmlformats.org/drawingml/2006/main">
        <p:nvSpPr>
          <p:cNvPr id="16" name="TextBox 15"/>
          <p:cNvSpPr txBox="1"/>
          <p:nvPr/>
        </p:nvSpPr>
        <p:spPr>
          <a:xfrm>
            <a:off x="6699300" y="2686050"/>
            <a:ext cx="3571875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F857A"/>
                </a:solidFill>
                <a:latin typeface="Malgun Gothic"/>
              </a:rPr>
              <a:t>After</a:t>
            </a:r>
          </a:p>
        </p:txBody>
      </p:sp>
      <p:sp xmlns:a="http://schemas.openxmlformats.org/drawingml/2006/main">
        <p:nvSpPr>
          <p:cNvPr id="17" name="TextBox 16"/>
          <p:cNvSpPr txBox="1"/>
          <p:nvPr/>
        </p:nvSpPr>
        <p:spPr>
          <a:xfrm>
            <a:off x="1866900" y="3409950"/>
            <a:ext cx="3571875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406050"/>
                </a:solidFill>
                <a:latin typeface="Malgun Gothic"/>
              </a:rPr>
              <a:t>수동 입력</a:t>
            </a:r>
          </a:p>
        </p:txBody>
      </p:sp>
      <p:sp xmlns:a="http://schemas.openxmlformats.org/drawingml/2006/main">
        <p:nvSpPr>
          <p:cNvPr id="18" name="TextBox 17"/>
          <p:cNvSpPr txBox="1"/>
          <p:nvPr/>
        </p:nvSpPr>
        <p:spPr>
          <a:xfrm>
            <a:off x="6699300" y="3409950"/>
            <a:ext cx="3571875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algun Gothic"/>
              </a:rPr>
              <a:t>입력 부담 감소</a:t>
            </a:r>
          </a:p>
        </p:txBody>
      </p:sp>
      <p:sp xmlns:a="http://schemas.openxmlformats.org/drawingml/2006/main">
        <p:nvSpPr>
          <p:cNvPr id="19" name="TextBox 18"/>
          <p:cNvSpPr txBox="1"/>
          <p:nvPr/>
        </p:nvSpPr>
        <p:spPr>
          <a:xfrm>
            <a:off x="5448300" y="3409950"/>
            <a:ext cx="1000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12222"/>
                </a:solidFill>
                <a:latin typeface="Malgun Gothic"/>
              </a:rPr>
              <a:t>입력</a:t>
            </a:r>
          </a:p>
        </p:txBody>
      </p:sp>
      <p:sp xmlns:a="http://schemas.openxmlformats.org/drawingml/2006/main">
        <p:nvSpPr>
          <p:cNvPr id="20" name="Rectangle 19"/>
          <p:cNvSpPr/>
          <p:nvPr/>
        </p:nvSpPr>
        <p:spPr>
          <a:xfrm>
            <a:off x="1866900" y="3981450"/>
            <a:ext cx="357187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1" name="Rectangle 20"/>
          <p:cNvSpPr/>
          <p:nvPr/>
        </p:nvSpPr>
        <p:spPr>
          <a:xfrm>
            <a:off x="6699300" y="3981450"/>
            <a:ext cx="3571875" cy="9525"/>
          </a:xfrm>
          <a:prstGeom prst="rect">
            <a:avLst/>
          </a:prstGeom>
          <a:solidFill>
            <a:srgbClr val="9DA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2" name="TextBox 21"/>
          <p:cNvSpPr txBox="1"/>
          <p:nvPr/>
        </p:nvSpPr>
        <p:spPr>
          <a:xfrm>
            <a:off x="1866900" y="4267200"/>
            <a:ext cx="3571875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406050"/>
                </a:solidFill>
                <a:latin typeface="Malgun Gothic"/>
              </a:rPr>
              <a:t>단편 해석</a:t>
            </a:r>
          </a:p>
        </p:txBody>
      </p:sp>
      <p:sp xmlns:a="http://schemas.openxmlformats.org/drawingml/2006/main">
        <p:nvSpPr>
          <p:cNvPr id="23" name="TextBox 22"/>
          <p:cNvSpPr txBox="1"/>
          <p:nvPr/>
        </p:nvSpPr>
        <p:spPr>
          <a:xfrm>
            <a:off x="6699300" y="4267200"/>
            <a:ext cx="3571875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algun Gothic"/>
              </a:rPr>
              <a:t>개인 맥락 반영</a:t>
            </a:r>
          </a:p>
        </p:txBody>
      </p:sp>
      <p:sp xmlns:a="http://schemas.openxmlformats.org/drawingml/2006/main">
        <p:nvSpPr>
          <p:cNvPr id="24" name="TextBox 23"/>
          <p:cNvSpPr txBox="1"/>
          <p:nvPr/>
        </p:nvSpPr>
        <p:spPr>
          <a:xfrm>
            <a:off x="5448300" y="4267200"/>
            <a:ext cx="1000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12222"/>
                </a:solidFill>
                <a:latin typeface="Malgun Gothic"/>
              </a:rPr>
              <a:t>해석</a:t>
            </a:r>
          </a:p>
        </p:txBody>
      </p:sp>
      <p:sp xmlns:a="http://schemas.openxmlformats.org/drawingml/2006/main">
        <p:nvSpPr>
          <p:cNvPr id="25" name="Rectangle 24"/>
          <p:cNvSpPr/>
          <p:nvPr/>
        </p:nvSpPr>
        <p:spPr>
          <a:xfrm>
            <a:off x="1866900" y="4838700"/>
            <a:ext cx="357187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6" name="Rectangle 25"/>
          <p:cNvSpPr/>
          <p:nvPr/>
        </p:nvSpPr>
        <p:spPr>
          <a:xfrm>
            <a:off x="6699300" y="4838700"/>
            <a:ext cx="3571875" cy="9525"/>
          </a:xfrm>
          <a:prstGeom prst="rect">
            <a:avLst/>
          </a:prstGeom>
          <a:solidFill>
            <a:srgbClr val="9DA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7" name="TextBox 26"/>
          <p:cNvSpPr txBox="1"/>
          <p:nvPr/>
        </p:nvSpPr>
        <p:spPr>
          <a:xfrm>
            <a:off x="1866900" y="5124450"/>
            <a:ext cx="3571875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406050"/>
                </a:solidFill>
                <a:latin typeface="Malgun Gothic"/>
              </a:rPr>
              <a:t>기록 소멸</a:t>
            </a:r>
          </a:p>
        </p:txBody>
      </p:sp>
      <p:sp xmlns:a="http://schemas.openxmlformats.org/drawingml/2006/main">
        <p:nvSpPr>
          <p:cNvPr id="28" name="TextBox 27"/>
          <p:cNvSpPr txBox="1"/>
          <p:nvPr/>
        </p:nvSpPr>
        <p:spPr>
          <a:xfrm>
            <a:off x="6699300" y="5124450"/>
            <a:ext cx="3571875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algun Gothic"/>
              </a:rPr>
              <a:t>패턴 축적</a:t>
            </a:r>
          </a:p>
        </p:txBody>
      </p:sp>
      <p:sp xmlns:a="http://schemas.openxmlformats.org/drawingml/2006/main">
        <p:nvSpPr>
          <p:cNvPr id="29" name="TextBox 28"/>
          <p:cNvSpPr txBox="1"/>
          <p:nvPr/>
        </p:nvSpPr>
        <p:spPr>
          <a:xfrm>
            <a:off x="5448300" y="5124450"/>
            <a:ext cx="1000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12222"/>
                </a:solidFill>
                <a:latin typeface="Malgun Gothic"/>
              </a:rPr>
              <a:t>관리</a:t>
            </a:r>
          </a:p>
        </p:txBody>
      </p:sp>
      <p:sp xmlns:a="http://schemas.openxmlformats.org/drawingml/2006/main">
        <p:nvSpPr>
          <p:cNvPr id="30" name="Right Triangle 29"/>
          <p:cNvSpPr/>
          <p:nvPr/>
        </p:nvSpPr>
        <p:spPr>
          <a:xfrm>
            <a:off x="5990000" y="2790550"/>
            <a:ext cx="140000" cy="180000"/>
          </a:xfrm>
          <a:prstGeom prst="rtTriangle">
            <a:avLst/>
          </a:prstGeom>
          <a:solidFill>
            <a:srgbClr val="C8C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1" name="Rectangle 30"/>
          <p:cNvSpPr/>
          <p:nvPr/>
        </p:nvSpPr>
        <p:spPr>
          <a:xfrm>
            <a:off x="5438775" y="3981450"/>
            <a:ext cx="1260525" cy="5000"/>
          </a:xfrm>
          <a:prstGeom prst="rect">
            <a:avLst/>
          </a:prstGeom>
          <a:solidFill>
            <a:srgbClr val="E0D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2" name="Rectangle 31"/>
          <p:cNvSpPr/>
          <p:nvPr/>
        </p:nvSpPr>
        <p:spPr>
          <a:xfrm>
            <a:off x="5438775" y="4838700"/>
            <a:ext cx="1260525" cy="5000"/>
          </a:xfrm>
          <a:prstGeom prst="rect">
            <a:avLst/>
          </a:prstGeom>
          <a:solidFill>
            <a:srgbClr val="E0D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8181113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2026-05-18T14:09:27.9010000Z</dcterms:created>
  <dcterms:modified xsi:type="dcterms:W3CDTF">2026-05-18T14:09:27.9010000Z</dcterms:modified>
</coreProperties>
</file>