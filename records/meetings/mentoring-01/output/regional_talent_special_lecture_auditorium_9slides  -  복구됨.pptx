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34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1531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FAFAFA"/>
          </a:solidFill>
          <a:ln w="762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164592" y="146304"/>
            <a:ext cx="73152" cy="73152"/>
          </a:xfrm>
          <a:prstGeom prst="ellipse">
            <a:avLst/>
          </a:prstGeom>
          <a:solidFill>
            <a:srgbClr val="FF61D7"/>
          </a:solidFill>
          <a:ln w="12700">
            <a:solidFill>
              <a:srgbClr val="FF61D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29184" y="146304"/>
            <a:ext cx="73152" cy="73152"/>
          </a:xfrm>
          <a:prstGeom prst="ellipse">
            <a:avLst/>
          </a:prstGeom>
          <a:solidFill>
            <a:srgbClr val="FFD82F"/>
          </a:solidFill>
          <a:ln w="12700">
            <a:solidFill>
              <a:srgbClr val="FFD8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93776" y="146304"/>
            <a:ext cx="73152" cy="73152"/>
          </a:xfrm>
          <a:prstGeom prst="ellipse">
            <a:avLst/>
          </a:prstGeom>
          <a:solidFill>
            <a:srgbClr val="38E556"/>
          </a:solidFill>
          <a:ln w="12700">
            <a:solidFill>
              <a:srgbClr val="38E55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/mnt/data/template_unzip/ppt/media/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749808"/>
            <a:ext cx="512064" cy="4297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 rot="1200000">
            <a:off x="1664208" y="658368"/>
            <a:ext cx="4160520" cy="4160520"/>
          </a:xfrm>
          <a:prstGeom prst="arc">
            <a:avLst/>
          </a:prstGeom>
          <a:solidFill>
            <a:srgbClr val="FFFFFF">
              <a:alpha val="0"/>
            </a:srgbClr>
          </a:solidFill>
          <a:ln w="8890">
            <a:solidFill>
              <a:srgbClr val="DADADA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 rot="12600000">
            <a:off x="6446520" y="1463040"/>
            <a:ext cx="3913632" cy="3913632"/>
          </a:xfrm>
          <a:prstGeom prst="arc">
            <a:avLst/>
          </a:prstGeom>
          <a:solidFill>
            <a:srgbClr val="FFFFFF">
              <a:alpha val="0"/>
            </a:srgbClr>
          </a:solidFill>
          <a:ln w="8890">
            <a:solidFill>
              <a:srgbClr val="DADAD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4919472" y="1298448"/>
            <a:ext cx="2331720" cy="384048"/>
          </a:xfrm>
          <a:prstGeom prst="roundRect">
            <a:avLst>
              <a:gd name="adj" fmla="val 23810"/>
            </a:avLst>
          </a:prstGeom>
          <a:solidFill>
            <a:srgbClr val="F6A5F6"/>
          </a:solidFill>
          <a:ln w="10160">
            <a:solidFill>
              <a:srgbClr val="F6A5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5010912" y="138531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special lecture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1078992" y="1938528"/>
            <a:ext cx="100126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1430">
            <a:solidFill>
              <a:srgbClr val="CECECE"/>
            </a:solidFill>
            <a:prstDash val="solid"/>
          </a:ln>
          <a:effectLst>
            <a:outerShdw blurRad="25400" dist="50800" dir="2700000" algn="bl" rotWithShape="0">
              <a:srgbClr val="77777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1508760" y="2221992"/>
            <a:ext cx="9189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지역정주 인재 양성을 위한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지역 전문가 특강</a:t>
            </a:r>
            <a:endParaRPr lang="en-US" sz="3400" dirty="0"/>
          </a:p>
        </p:txBody>
      </p:sp>
      <p:sp>
        <p:nvSpPr>
          <p:cNvPr id="14" name="Shape 10"/>
          <p:cNvSpPr/>
          <p:nvPr/>
        </p:nvSpPr>
        <p:spPr>
          <a:xfrm>
            <a:off x="4828032" y="3950208"/>
            <a:ext cx="2542032" cy="384048"/>
          </a:xfrm>
          <a:prstGeom prst="roundRect">
            <a:avLst>
              <a:gd name="adj" fmla="val 23810"/>
            </a:avLst>
          </a:prstGeom>
          <a:solidFill>
            <a:srgbClr val="FFE78C"/>
          </a:solidFill>
          <a:ln w="10160">
            <a:solidFill>
              <a:srgbClr val="FFE7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4919472" y="403707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15:00–17:00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127248" y="463600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대구가톨릭대학교 약학대학 · 전 학생 대상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1581912" y="5266944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2B2B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청년의 직업관 · 지역 산업 인재상 · AI와 글로벌 변화 · 지역에서의 기회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585216" y="6473952"/>
            <a:ext cx="10012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7B7B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 자료는 대강당 발표용으로 핵심 문장을 크게 배치하고, 전문 용어는 쉬운 의미로 풀어 정리했습니다.</a:t>
            </a:r>
            <a:endParaRPr lang="en-US" sz="720" dirty="0"/>
          </a:p>
        </p:txBody>
      </p:sp>
      <p:sp>
        <p:nvSpPr>
          <p:cNvPr id="19" name="Text 15"/>
          <p:cNvSpPr/>
          <p:nvPr/>
        </p:nvSpPr>
        <p:spPr>
          <a:xfrm>
            <a:off x="11137392" y="6446520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FAFAFA"/>
          </a:solidFill>
          <a:ln w="762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164592" y="146304"/>
            <a:ext cx="73152" cy="73152"/>
          </a:xfrm>
          <a:prstGeom prst="ellipse">
            <a:avLst/>
          </a:prstGeom>
          <a:solidFill>
            <a:srgbClr val="FF61D7"/>
          </a:solidFill>
          <a:ln w="12700">
            <a:solidFill>
              <a:srgbClr val="FF61D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29184" y="146304"/>
            <a:ext cx="73152" cy="73152"/>
          </a:xfrm>
          <a:prstGeom prst="ellipse">
            <a:avLst/>
          </a:prstGeom>
          <a:solidFill>
            <a:srgbClr val="FFD82F"/>
          </a:solidFill>
          <a:ln w="12700">
            <a:solidFill>
              <a:srgbClr val="FFD8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93776" y="146304"/>
            <a:ext cx="73152" cy="73152"/>
          </a:xfrm>
          <a:prstGeom prst="ellipse">
            <a:avLst/>
          </a:prstGeom>
          <a:solidFill>
            <a:srgbClr val="38E556"/>
          </a:solidFill>
          <a:ln w="12700">
            <a:solidFill>
              <a:srgbClr val="38E55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/mnt/data/template_unzip/ppt/media/image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749808"/>
            <a:ext cx="512064" cy="4297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148840" y="658368"/>
            <a:ext cx="7863840" cy="676656"/>
          </a:xfrm>
          <a:prstGeom prst="roundRect">
            <a:avLst>
              <a:gd name="adj" fmla="val 22973"/>
            </a:avLst>
          </a:prstGeom>
          <a:solidFill>
            <a:srgbClr val="95F7A7"/>
          </a:solidFill>
          <a:ln w="15240">
            <a:solidFill>
              <a:srgbClr val="95F7A7"/>
            </a:solidFill>
            <a:prstDash val="solid"/>
          </a:ln>
          <a:effectLst>
            <a:outerShdw blurRad="322580000" dist="645160000"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2377440" y="804672"/>
            <a:ext cx="7406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2시간 동안 함께 볼 흐름</a:t>
            </a:r>
            <a:endParaRPr lang="en-US" sz="2500" dirty="0"/>
          </a:p>
        </p:txBody>
      </p:sp>
      <p:pic>
        <p:nvPicPr>
          <p:cNvPr id="10" name="Image 2" descr="/mnt/data/template_unzip/ppt/media/image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0" y="941832"/>
            <a:ext cx="310896" cy="31089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04672" y="1627632"/>
            <a:ext cx="2816352" cy="4187952"/>
          </a:xfrm>
          <a:prstGeom prst="roundRect">
            <a:avLst>
              <a:gd name="adj" fmla="val 2273"/>
            </a:avLst>
          </a:prstGeom>
          <a:solidFill>
            <a:srgbClr val="FFF3B8"/>
          </a:solidFill>
          <a:ln w="11430">
            <a:solidFill>
              <a:srgbClr val="E6CA57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7"/>
          <p:cNvSpPr/>
          <p:nvPr/>
        </p:nvSpPr>
        <p:spPr>
          <a:xfrm>
            <a:off x="1097280" y="198424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지역정주란?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1115568" y="2578608"/>
            <a:ext cx="2157984" cy="2157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지역에 “남는 것”만을 뜻하지 않습니다.</a:t>
            </a:r>
            <a:endParaRPr lang="en-US" sz="1420" dirty="0"/>
          </a:p>
          <a:p>
            <a:pPr marL="0" indent="0" algn="ctr">
              <a:buNone/>
            </a:pPr>
            <a:endParaRPr lang="en-US" sz="1420" dirty="0"/>
          </a:p>
          <a:p>
            <a:pPr marL="0" indent="0" algn="ctr">
              <a:buNone/>
            </a:pPr>
            <a:r>
              <a:rPr lang="en-US" sz="14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지역에서 생활하고, 일하고, 관계를 만들며, 나의 전문성을 계속 키워 가는 상태를 말합니다.</a:t>
            </a:r>
            <a:endParaRPr lang="en-US" sz="1420" dirty="0"/>
          </a:p>
          <a:p>
            <a:pPr marL="0" indent="0" algn="ctr">
              <a:buNone/>
            </a:pPr>
            <a:endParaRPr lang="en-US" sz="1420" dirty="0"/>
          </a:p>
          <a:p>
            <a:pPr marL="0" indent="0" algn="ctr">
              <a:buNone/>
            </a:pPr>
            <a:r>
              <a:rPr lang="en-US" sz="14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핵심은 지역을 제한이 아니라 선택지로 보는 관점입니다.</a:t>
            </a:r>
            <a:endParaRPr lang="en-US" sz="1420" dirty="0"/>
          </a:p>
        </p:txBody>
      </p:sp>
      <p:sp>
        <p:nvSpPr>
          <p:cNvPr id="14" name="Shape 9"/>
          <p:cNvSpPr/>
          <p:nvPr/>
        </p:nvSpPr>
        <p:spPr>
          <a:xfrm>
            <a:off x="4160520" y="1874520"/>
            <a:ext cx="2148840" cy="3456432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1430">
            <a:solidFill>
              <a:srgbClr val="D5D5D5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4946904" y="2029968"/>
            <a:ext cx="566928" cy="347472"/>
          </a:xfrm>
          <a:prstGeom prst="roundRect">
            <a:avLst>
              <a:gd name="adj" fmla="val 2105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/>
          <p:nvPr/>
        </p:nvSpPr>
        <p:spPr>
          <a:xfrm>
            <a:off x="4946904" y="2103120"/>
            <a:ext cx="566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020" dirty="0"/>
          </a:p>
        </p:txBody>
      </p:sp>
      <p:sp>
        <p:nvSpPr>
          <p:cNvPr id="17" name="Text 12"/>
          <p:cNvSpPr/>
          <p:nvPr/>
        </p:nvSpPr>
        <p:spPr>
          <a:xfrm>
            <a:off x="4343400" y="248716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청년들이 바라는</a:t>
            </a:r>
            <a:endParaRPr lang="en-US" sz="1620" dirty="0"/>
          </a:p>
          <a:p>
            <a:pPr marL="0" indent="0" algn="ctr">
              <a:buNone/>
            </a:pPr>
            <a:r>
              <a:rPr lang="en-US" sz="16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직업상</a:t>
            </a:r>
            <a:endParaRPr lang="en-US" sz="1620" dirty="0"/>
          </a:p>
        </p:txBody>
      </p:sp>
      <p:sp>
        <p:nvSpPr>
          <p:cNvPr id="18" name="Shape 13"/>
          <p:cNvSpPr/>
          <p:nvPr/>
        </p:nvSpPr>
        <p:spPr>
          <a:xfrm>
            <a:off x="4507992" y="3273552"/>
            <a:ext cx="144475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/>
          <p:nvPr/>
        </p:nvSpPr>
        <p:spPr>
          <a:xfrm>
            <a:off x="4398264" y="3639312"/>
            <a:ext cx="166420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연봉, 안정성, 워라밸, 개인 성장 중 무엇을 중요하게 보는가</a:t>
            </a:r>
            <a:endParaRPr lang="en-US" sz="1280" dirty="0"/>
          </a:p>
        </p:txBody>
      </p:sp>
      <p:sp>
        <p:nvSpPr>
          <p:cNvPr id="20" name="Shape 15"/>
          <p:cNvSpPr/>
          <p:nvPr/>
        </p:nvSpPr>
        <p:spPr>
          <a:xfrm>
            <a:off x="6629400" y="1874520"/>
            <a:ext cx="2148840" cy="3456432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1430">
            <a:solidFill>
              <a:srgbClr val="D5D5D5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7415784" y="2029968"/>
            <a:ext cx="566928" cy="347472"/>
          </a:xfrm>
          <a:prstGeom prst="roundRect">
            <a:avLst>
              <a:gd name="adj" fmla="val 2105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/>
          <p:nvPr/>
        </p:nvSpPr>
        <p:spPr>
          <a:xfrm>
            <a:off x="7415784" y="2103120"/>
            <a:ext cx="566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020" dirty="0"/>
          </a:p>
        </p:txBody>
      </p:sp>
      <p:sp>
        <p:nvSpPr>
          <p:cNvPr id="23" name="Text 18"/>
          <p:cNvSpPr/>
          <p:nvPr/>
        </p:nvSpPr>
        <p:spPr>
          <a:xfrm>
            <a:off x="6812280" y="248716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지역 산업이 원하는</a:t>
            </a:r>
            <a:endParaRPr lang="en-US" sz="1620" dirty="0"/>
          </a:p>
          <a:p>
            <a:pPr marL="0" indent="0" algn="ctr">
              <a:buNone/>
            </a:pPr>
            <a:r>
              <a:rPr lang="en-US" sz="16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인재상</a:t>
            </a:r>
            <a:endParaRPr lang="en-US" sz="1620" dirty="0"/>
          </a:p>
        </p:txBody>
      </p:sp>
      <p:sp>
        <p:nvSpPr>
          <p:cNvPr id="24" name="Shape 19"/>
          <p:cNvSpPr/>
          <p:nvPr/>
        </p:nvSpPr>
        <p:spPr>
          <a:xfrm>
            <a:off x="6976872" y="3273552"/>
            <a:ext cx="144475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/>
          <p:nvPr/>
        </p:nvSpPr>
        <p:spPr>
          <a:xfrm>
            <a:off x="6867144" y="3639312"/>
            <a:ext cx="166420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대기업·중견기업·중소기업이 공통적으로 기대하는 태도와 역량</a:t>
            </a:r>
            <a:endParaRPr lang="en-US" sz="1280" dirty="0"/>
          </a:p>
        </p:txBody>
      </p:sp>
      <p:sp>
        <p:nvSpPr>
          <p:cNvPr id="26" name="Shape 21"/>
          <p:cNvSpPr/>
          <p:nvPr/>
        </p:nvSpPr>
        <p:spPr>
          <a:xfrm>
            <a:off x="9098280" y="1874520"/>
            <a:ext cx="2148840" cy="3456432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1430">
            <a:solidFill>
              <a:srgbClr val="D5D5D5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9884664" y="2029968"/>
            <a:ext cx="566928" cy="347472"/>
          </a:xfrm>
          <a:prstGeom prst="roundRect">
            <a:avLst>
              <a:gd name="adj" fmla="val 2105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/>
          <p:nvPr/>
        </p:nvSpPr>
        <p:spPr>
          <a:xfrm>
            <a:off x="9884664" y="2103120"/>
            <a:ext cx="566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20" dirty="0"/>
          </a:p>
        </p:txBody>
      </p:sp>
      <p:sp>
        <p:nvSpPr>
          <p:cNvPr id="29" name="Text 24"/>
          <p:cNvSpPr/>
          <p:nvPr/>
        </p:nvSpPr>
        <p:spPr>
          <a:xfrm>
            <a:off x="9281160" y="248716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AI·글로벌 변화에</a:t>
            </a:r>
            <a:endParaRPr lang="en-US" sz="1620" dirty="0"/>
          </a:p>
          <a:p>
            <a:pPr marL="0" indent="0" algn="ctr">
              <a:buNone/>
            </a:pPr>
            <a:r>
              <a:rPr lang="en-US" sz="16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어떻게 준비할까</a:t>
            </a:r>
            <a:endParaRPr lang="en-US" sz="1620" dirty="0"/>
          </a:p>
        </p:txBody>
      </p:sp>
      <p:sp>
        <p:nvSpPr>
          <p:cNvPr id="30" name="Shape 25"/>
          <p:cNvSpPr/>
          <p:nvPr/>
        </p:nvSpPr>
        <p:spPr>
          <a:xfrm>
            <a:off x="9445752" y="3273552"/>
            <a:ext cx="144475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/>
          <p:nvPr/>
        </p:nvSpPr>
        <p:spPr>
          <a:xfrm>
            <a:off x="9336024" y="3639312"/>
            <a:ext cx="166420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빠른 적응력, 창의력, AI 활용력, 시장을 읽는 시야</a:t>
            </a:r>
            <a:endParaRPr lang="en-US" sz="1280" dirty="0"/>
          </a:p>
        </p:txBody>
      </p:sp>
      <p:sp>
        <p:nvSpPr>
          <p:cNvPr id="32" name="Text 27"/>
          <p:cNvSpPr/>
          <p:nvPr/>
        </p:nvSpPr>
        <p:spPr>
          <a:xfrm>
            <a:off x="585216" y="6473952"/>
            <a:ext cx="10012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7B7B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 흐름: 개인의 직업 기준 → 기업이 원하는 인재상 → AI·글로벌 변화 → 지역에서 실행할 수 있는 준비</a:t>
            </a:r>
            <a:endParaRPr lang="en-US" sz="720" dirty="0"/>
          </a:p>
        </p:txBody>
      </p:sp>
      <p:sp>
        <p:nvSpPr>
          <p:cNvPr id="33" name="Text 28"/>
          <p:cNvSpPr/>
          <p:nvPr/>
        </p:nvSpPr>
        <p:spPr>
          <a:xfrm>
            <a:off x="11137392" y="6446520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FAFAFA"/>
          </a:solidFill>
          <a:ln w="762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164592" y="146304"/>
            <a:ext cx="73152" cy="73152"/>
          </a:xfrm>
          <a:prstGeom prst="ellipse">
            <a:avLst/>
          </a:prstGeom>
          <a:solidFill>
            <a:srgbClr val="FF61D7"/>
          </a:solidFill>
          <a:ln w="12700">
            <a:solidFill>
              <a:srgbClr val="FF61D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29184" y="146304"/>
            <a:ext cx="73152" cy="73152"/>
          </a:xfrm>
          <a:prstGeom prst="ellipse">
            <a:avLst/>
          </a:prstGeom>
          <a:solidFill>
            <a:srgbClr val="FFD82F"/>
          </a:solidFill>
          <a:ln w="12700">
            <a:solidFill>
              <a:srgbClr val="FFD8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93776" y="146304"/>
            <a:ext cx="73152" cy="73152"/>
          </a:xfrm>
          <a:prstGeom prst="ellipse">
            <a:avLst/>
          </a:prstGeom>
          <a:solidFill>
            <a:srgbClr val="38E556"/>
          </a:solidFill>
          <a:ln w="12700">
            <a:solidFill>
              <a:srgbClr val="38E55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/mnt/data/template_unzip/ppt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749808"/>
            <a:ext cx="512064" cy="4297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31720" y="658368"/>
            <a:ext cx="7543800" cy="676656"/>
          </a:xfrm>
          <a:prstGeom prst="roundRect">
            <a:avLst>
              <a:gd name="adj" fmla="val 22973"/>
            </a:avLst>
          </a:prstGeom>
          <a:solidFill>
            <a:srgbClr val="FFE78C"/>
          </a:solidFill>
          <a:ln w="15240">
            <a:solidFill>
              <a:srgbClr val="FFE78C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2560320" y="804672"/>
            <a:ext cx="7086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청년들이 바라는 “좋은 직업”</a:t>
            </a:r>
            <a:endParaRPr lang="en-US" sz="2500" dirty="0"/>
          </a:p>
        </p:txBody>
      </p:sp>
      <p:pic>
        <p:nvPicPr>
          <p:cNvPr id="10" name="Image 2" descr="/mnt/data/template_unzip/ppt/media/image4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0" y="941832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103120" y="143560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B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직업상 = 어떤 일을 “좋은 일”이라고 판단하는 기준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731520" y="1947672"/>
            <a:ext cx="2359152" cy="3429000"/>
          </a:xfrm>
          <a:prstGeom prst="roundRect">
            <a:avLst>
              <a:gd name="adj" fmla="val 2713"/>
            </a:avLst>
          </a:prstGeom>
          <a:solidFill>
            <a:srgbClr val="CCF7D2"/>
          </a:solidFill>
          <a:ln w="11430">
            <a:solidFill>
              <a:srgbClr val="D2D2D2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896112" y="2148840"/>
            <a:ext cx="475488" cy="347472"/>
          </a:xfrm>
          <a:prstGeom prst="roundRect">
            <a:avLst>
              <a:gd name="adj" fmla="val 2105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/>
          <p:nvPr/>
        </p:nvSpPr>
        <p:spPr>
          <a:xfrm>
            <a:off x="896112" y="2221992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020" dirty="0"/>
          </a:p>
        </p:txBody>
      </p:sp>
      <p:sp>
        <p:nvSpPr>
          <p:cNvPr id="15" name="Text 10"/>
          <p:cNvSpPr/>
          <p:nvPr/>
        </p:nvSpPr>
        <p:spPr>
          <a:xfrm>
            <a:off x="1444752" y="21214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워라밸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1033272" y="263347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일과 삶의 균형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1078992" y="3090672"/>
            <a:ext cx="1627632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1078992" y="3090672"/>
            <a:ext cx="1529974" cy="201168"/>
          </a:xfrm>
          <a:prstGeom prst="roundRect">
            <a:avLst>
              <a:gd name="adj" fmla="val 18182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/>
          <p:nvPr/>
        </p:nvSpPr>
        <p:spPr>
          <a:xfrm>
            <a:off x="1554480" y="340156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4.23</a:t>
            </a:r>
            <a:endParaRPr lang="en-US" sz="1320" dirty="0"/>
          </a:p>
        </p:txBody>
      </p:sp>
      <p:sp>
        <p:nvSpPr>
          <p:cNvPr id="20" name="Text 15"/>
          <p:cNvSpPr/>
          <p:nvPr/>
        </p:nvSpPr>
        <p:spPr>
          <a:xfrm>
            <a:off x="987552" y="3968496"/>
            <a:ext cx="184708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 때문에 건강·관계·생활이 무너지지 않는 상태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3520440" y="1947672"/>
            <a:ext cx="2359152" cy="3429000"/>
          </a:xfrm>
          <a:prstGeom prst="roundRect">
            <a:avLst>
              <a:gd name="adj" fmla="val 2713"/>
            </a:avLst>
          </a:prstGeom>
          <a:solidFill>
            <a:srgbClr val="D6ECFF"/>
          </a:solidFill>
          <a:ln w="11430">
            <a:solidFill>
              <a:srgbClr val="D2D2D2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3685032" y="2148840"/>
            <a:ext cx="475488" cy="347472"/>
          </a:xfrm>
          <a:prstGeom prst="roundRect">
            <a:avLst>
              <a:gd name="adj" fmla="val 2105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3685032" y="2221992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020" dirty="0"/>
          </a:p>
        </p:txBody>
      </p:sp>
      <p:sp>
        <p:nvSpPr>
          <p:cNvPr id="24" name="Text 19"/>
          <p:cNvSpPr/>
          <p:nvPr/>
        </p:nvSpPr>
        <p:spPr>
          <a:xfrm>
            <a:off x="4233672" y="21214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안정성</a:t>
            </a:r>
            <a:endParaRPr lang="en-US" sz="2100" dirty="0"/>
          </a:p>
        </p:txBody>
      </p:sp>
      <p:sp>
        <p:nvSpPr>
          <p:cNvPr id="25" name="Text 20"/>
          <p:cNvSpPr/>
          <p:nvPr/>
        </p:nvSpPr>
        <p:spPr>
          <a:xfrm>
            <a:off x="3822192" y="263347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오래 일할 가능성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3867912" y="3090672"/>
            <a:ext cx="1627632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3867912" y="3090672"/>
            <a:ext cx="1479337" cy="201168"/>
          </a:xfrm>
          <a:prstGeom prst="roundRect">
            <a:avLst>
              <a:gd name="adj" fmla="val 18182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/>
          <p:nvPr/>
        </p:nvSpPr>
        <p:spPr>
          <a:xfrm>
            <a:off x="4343400" y="340156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4.09</a:t>
            </a:r>
            <a:endParaRPr lang="en-US" sz="1320" dirty="0"/>
          </a:p>
        </p:txBody>
      </p:sp>
      <p:sp>
        <p:nvSpPr>
          <p:cNvPr id="29" name="Text 24"/>
          <p:cNvSpPr/>
          <p:nvPr/>
        </p:nvSpPr>
        <p:spPr>
          <a:xfrm>
            <a:off x="3776472" y="3968496"/>
            <a:ext cx="184708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조직·산업 변화 속에서도 경력을 이어갈 수 있는 상태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6309360" y="1947672"/>
            <a:ext cx="2359152" cy="3429000"/>
          </a:xfrm>
          <a:prstGeom prst="roundRect">
            <a:avLst>
              <a:gd name="adj" fmla="val 2713"/>
            </a:avLst>
          </a:prstGeom>
          <a:solidFill>
            <a:srgbClr val="F8C9F7"/>
          </a:solidFill>
          <a:ln w="11430">
            <a:solidFill>
              <a:srgbClr val="D2D2D2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6"/>
          <p:cNvSpPr/>
          <p:nvPr/>
        </p:nvSpPr>
        <p:spPr>
          <a:xfrm>
            <a:off x="6473952" y="2148840"/>
            <a:ext cx="475488" cy="347472"/>
          </a:xfrm>
          <a:prstGeom prst="roundRect">
            <a:avLst>
              <a:gd name="adj" fmla="val 2105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7"/>
          <p:cNvSpPr/>
          <p:nvPr/>
        </p:nvSpPr>
        <p:spPr>
          <a:xfrm>
            <a:off x="6473952" y="2221992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20" dirty="0"/>
          </a:p>
        </p:txBody>
      </p:sp>
      <p:sp>
        <p:nvSpPr>
          <p:cNvPr id="33" name="Text 28"/>
          <p:cNvSpPr/>
          <p:nvPr/>
        </p:nvSpPr>
        <p:spPr>
          <a:xfrm>
            <a:off x="7022592" y="21214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보상</a:t>
            </a:r>
            <a:endParaRPr lang="en-US" sz="2100" dirty="0"/>
          </a:p>
        </p:txBody>
      </p:sp>
      <p:sp>
        <p:nvSpPr>
          <p:cNvPr id="34" name="Text 29"/>
          <p:cNvSpPr/>
          <p:nvPr/>
        </p:nvSpPr>
        <p:spPr>
          <a:xfrm>
            <a:off x="6611112" y="263347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연봉과 복지</a:t>
            </a:r>
            <a:endParaRPr lang="en-US" sz="1300" dirty="0"/>
          </a:p>
        </p:txBody>
      </p:sp>
      <p:sp>
        <p:nvSpPr>
          <p:cNvPr id="35" name="Shape 30"/>
          <p:cNvSpPr/>
          <p:nvPr/>
        </p:nvSpPr>
        <p:spPr>
          <a:xfrm>
            <a:off x="6656832" y="3090672"/>
            <a:ext cx="1627632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1"/>
          <p:cNvSpPr/>
          <p:nvPr/>
        </p:nvSpPr>
        <p:spPr>
          <a:xfrm>
            <a:off x="6656832" y="3090672"/>
            <a:ext cx="1472103" cy="201168"/>
          </a:xfrm>
          <a:prstGeom prst="roundRect">
            <a:avLst>
              <a:gd name="adj" fmla="val 18182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2"/>
          <p:cNvSpPr/>
          <p:nvPr/>
        </p:nvSpPr>
        <p:spPr>
          <a:xfrm>
            <a:off x="7132320" y="340156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4.07</a:t>
            </a:r>
            <a:endParaRPr lang="en-US" sz="1320" dirty="0"/>
          </a:p>
        </p:txBody>
      </p:sp>
      <p:sp>
        <p:nvSpPr>
          <p:cNvPr id="38" name="Text 33"/>
          <p:cNvSpPr/>
          <p:nvPr/>
        </p:nvSpPr>
        <p:spPr>
          <a:xfrm>
            <a:off x="6565392" y="3968496"/>
            <a:ext cx="184708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노력에 대한 경제적 보상과 기본 생활의 안정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9098280" y="1947672"/>
            <a:ext cx="2359152" cy="3429000"/>
          </a:xfrm>
          <a:prstGeom prst="roundRect">
            <a:avLst>
              <a:gd name="adj" fmla="val 2713"/>
            </a:avLst>
          </a:prstGeom>
          <a:solidFill>
            <a:srgbClr val="FFF3B8"/>
          </a:solidFill>
          <a:ln w="11430">
            <a:solidFill>
              <a:srgbClr val="D2D2D2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5"/>
          <p:cNvSpPr/>
          <p:nvPr/>
        </p:nvSpPr>
        <p:spPr>
          <a:xfrm>
            <a:off x="9262872" y="2148840"/>
            <a:ext cx="475488" cy="347472"/>
          </a:xfrm>
          <a:prstGeom prst="roundRect">
            <a:avLst>
              <a:gd name="adj" fmla="val 2105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6"/>
          <p:cNvSpPr/>
          <p:nvPr/>
        </p:nvSpPr>
        <p:spPr>
          <a:xfrm>
            <a:off x="9262872" y="2221992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020" dirty="0"/>
          </a:p>
        </p:txBody>
      </p:sp>
      <p:sp>
        <p:nvSpPr>
          <p:cNvPr id="42" name="Text 37"/>
          <p:cNvSpPr/>
          <p:nvPr/>
        </p:nvSpPr>
        <p:spPr>
          <a:xfrm>
            <a:off x="9811512" y="21214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성장</a:t>
            </a:r>
            <a:endParaRPr lang="en-US" sz="2100" dirty="0"/>
          </a:p>
        </p:txBody>
      </p:sp>
      <p:sp>
        <p:nvSpPr>
          <p:cNvPr id="43" name="Text 38"/>
          <p:cNvSpPr/>
          <p:nvPr/>
        </p:nvSpPr>
        <p:spPr>
          <a:xfrm>
            <a:off x="9400032" y="263347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배움과 기회</a:t>
            </a:r>
            <a:endParaRPr lang="en-US" sz="1300" dirty="0"/>
          </a:p>
        </p:txBody>
      </p:sp>
      <p:sp>
        <p:nvSpPr>
          <p:cNvPr id="44" name="Shape 39"/>
          <p:cNvSpPr/>
          <p:nvPr/>
        </p:nvSpPr>
        <p:spPr>
          <a:xfrm>
            <a:off x="9445752" y="3090672"/>
            <a:ext cx="1627632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0"/>
          <p:cNvSpPr/>
          <p:nvPr/>
        </p:nvSpPr>
        <p:spPr>
          <a:xfrm>
            <a:off x="9445752" y="3090672"/>
            <a:ext cx="1421465" cy="201168"/>
          </a:xfrm>
          <a:prstGeom prst="roundRect">
            <a:avLst>
              <a:gd name="adj" fmla="val 18182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1"/>
          <p:cNvSpPr/>
          <p:nvPr/>
        </p:nvSpPr>
        <p:spPr>
          <a:xfrm>
            <a:off x="9921240" y="340156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3.93</a:t>
            </a:r>
            <a:endParaRPr lang="en-US" sz="1320" dirty="0"/>
          </a:p>
        </p:txBody>
      </p:sp>
      <p:sp>
        <p:nvSpPr>
          <p:cNvPr id="47" name="Text 42"/>
          <p:cNvSpPr/>
          <p:nvPr/>
        </p:nvSpPr>
        <p:spPr>
          <a:xfrm>
            <a:off x="9354312" y="3968496"/>
            <a:ext cx="184708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오늘의 경험이 내일의 실력으로 쌓이는 상태</a:t>
            </a:r>
            <a:endParaRPr lang="en-US" sz="1200" dirty="0"/>
          </a:p>
        </p:txBody>
      </p:sp>
      <p:sp>
        <p:nvSpPr>
          <p:cNvPr id="48" name="Shape 43"/>
          <p:cNvSpPr/>
          <p:nvPr/>
        </p:nvSpPr>
        <p:spPr>
          <a:xfrm>
            <a:off x="1664208" y="5687568"/>
            <a:ext cx="8869680" cy="384048"/>
          </a:xfrm>
          <a:prstGeom prst="roundRect">
            <a:avLst>
              <a:gd name="adj" fmla="val 23810"/>
            </a:avLst>
          </a:prstGeom>
          <a:solidFill>
            <a:srgbClr val="F6A5F6"/>
          </a:solidFill>
          <a:ln w="10160">
            <a:solidFill>
              <a:srgbClr val="F6A5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4"/>
          <p:cNvSpPr/>
          <p:nvPr/>
        </p:nvSpPr>
        <p:spPr>
          <a:xfrm>
            <a:off x="1755648" y="577443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해석: 좋은 직업은 “돈만”이 아니라 지속 가능성·생활·성장을 함께 봅니다.</a:t>
            </a:r>
            <a:endParaRPr lang="en-US" sz="1300" dirty="0"/>
          </a:p>
        </p:txBody>
      </p:sp>
      <p:sp>
        <p:nvSpPr>
          <p:cNvPr id="50" name="Text 45"/>
          <p:cNvSpPr/>
          <p:nvPr/>
        </p:nvSpPr>
        <p:spPr>
          <a:xfrm>
            <a:off x="777240" y="6144768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7777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자료: 한국고용정보원 워크넷 직업가치관검사 분석(2023) — 전국 만 15세 이상 5,786명 표본, 5점 척도.</a:t>
            </a:r>
            <a:endParaRPr lang="en-US" sz="750" dirty="0"/>
          </a:p>
        </p:txBody>
      </p:sp>
      <p:sp>
        <p:nvSpPr>
          <p:cNvPr id="51" name="Text 46"/>
          <p:cNvSpPr/>
          <p:nvPr/>
        </p:nvSpPr>
        <p:spPr>
          <a:xfrm>
            <a:off x="585216" y="6473952"/>
            <a:ext cx="10012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7B7B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발표용 해석: 직업 선택 기준은 단일 요소가 아니라 여러 가치의 조합으로 설명해야 설득력이 높습니다.</a:t>
            </a:r>
            <a:endParaRPr lang="en-US" sz="720" dirty="0"/>
          </a:p>
        </p:txBody>
      </p:sp>
      <p:sp>
        <p:nvSpPr>
          <p:cNvPr id="52" name="Text 47"/>
          <p:cNvSpPr/>
          <p:nvPr/>
        </p:nvSpPr>
        <p:spPr>
          <a:xfrm>
            <a:off x="11137392" y="6446520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FAFAFA"/>
          </a:solidFill>
          <a:ln w="762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164592" y="146304"/>
            <a:ext cx="73152" cy="73152"/>
          </a:xfrm>
          <a:prstGeom prst="ellipse">
            <a:avLst/>
          </a:prstGeom>
          <a:solidFill>
            <a:srgbClr val="FF61D7"/>
          </a:solidFill>
          <a:ln w="12700">
            <a:solidFill>
              <a:srgbClr val="FF61D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29184" y="146304"/>
            <a:ext cx="73152" cy="73152"/>
          </a:xfrm>
          <a:prstGeom prst="ellipse">
            <a:avLst/>
          </a:prstGeom>
          <a:solidFill>
            <a:srgbClr val="FFD82F"/>
          </a:solidFill>
          <a:ln w="12700">
            <a:solidFill>
              <a:srgbClr val="FFD8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93776" y="146304"/>
            <a:ext cx="73152" cy="73152"/>
          </a:xfrm>
          <a:prstGeom prst="ellipse">
            <a:avLst/>
          </a:prstGeom>
          <a:solidFill>
            <a:srgbClr val="38E556"/>
          </a:solidFill>
          <a:ln w="12700">
            <a:solidFill>
              <a:srgbClr val="38E55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/mnt/data/template_unzip/ppt/media/image1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749808"/>
            <a:ext cx="512064" cy="4297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31720" y="658368"/>
            <a:ext cx="7543800" cy="676656"/>
          </a:xfrm>
          <a:prstGeom prst="roundRect">
            <a:avLst>
              <a:gd name="adj" fmla="val 22973"/>
            </a:avLst>
          </a:prstGeom>
          <a:solidFill>
            <a:srgbClr val="F6A5F6"/>
          </a:solidFill>
          <a:ln w="15240">
            <a:solidFill>
              <a:srgbClr val="F6A5F6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2560320" y="804672"/>
            <a:ext cx="7086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직업 선택 기준을 쉽게 풀어보기</a:t>
            </a:r>
            <a:endParaRPr lang="en-US" sz="2500" dirty="0"/>
          </a:p>
        </p:txBody>
      </p:sp>
      <p:pic>
        <p:nvPicPr>
          <p:cNvPr id="10" name="Image 2" descr="/mnt/data/template_unzip/ppt/media/image7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0" y="941832"/>
            <a:ext cx="310896" cy="31089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32688" y="1755648"/>
            <a:ext cx="102870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1430">
            <a:solidFill>
              <a:srgbClr val="D9D9D9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1188720" y="1984248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/>
          <p:nvPr/>
        </p:nvSpPr>
        <p:spPr>
          <a:xfrm>
            <a:off x="1188720" y="205740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020" dirty="0"/>
          </a:p>
        </p:txBody>
      </p:sp>
      <p:sp>
        <p:nvSpPr>
          <p:cNvPr id="14" name="Text 9"/>
          <p:cNvSpPr/>
          <p:nvPr/>
        </p:nvSpPr>
        <p:spPr>
          <a:xfrm>
            <a:off x="1874520" y="19385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경제적 보상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069080" y="1947672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B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얼마를 받는가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263640" y="1892808"/>
            <a:ext cx="4434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연봉, 성과급, 복지, 주거·생활비를 감당할 수 있는 수준</a:t>
            </a:r>
            <a:endParaRPr lang="en-US" sz="1280" dirty="0"/>
          </a:p>
        </p:txBody>
      </p:sp>
      <p:sp>
        <p:nvSpPr>
          <p:cNvPr id="17" name="Shape 12"/>
          <p:cNvSpPr/>
          <p:nvPr/>
        </p:nvSpPr>
        <p:spPr>
          <a:xfrm>
            <a:off x="932688" y="2816352"/>
            <a:ext cx="10287000" cy="822960"/>
          </a:xfrm>
          <a:prstGeom prst="roundRect">
            <a:avLst>
              <a:gd name="adj" fmla="val 7778"/>
            </a:avLst>
          </a:prstGeom>
          <a:solidFill>
            <a:srgbClr val="F5F5F5"/>
          </a:solidFill>
          <a:ln w="11430">
            <a:solidFill>
              <a:srgbClr val="D9D9D9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1188720" y="3044952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/>
          <p:nvPr/>
        </p:nvSpPr>
        <p:spPr>
          <a:xfrm>
            <a:off x="1188720" y="3118104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020" dirty="0"/>
          </a:p>
        </p:txBody>
      </p:sp>
      <p:sp>
        <p:nvSpPr>
          <p:cNvPr id="20" name="Text 15"/>
          <p:cNvSpPr/>
          <p:nvPr/>
        </p:nvSpPr>
        <p:spPr>
          <a:xfrm>
            <a:off x="1874520" y="29992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직업 안정성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4069080" y="3008376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B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계속 일할 수 있는가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263640" y="2953512"/>
            <a:ext cx="4434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회사가 오래 버티는가, 산업이 성장하는가, 내 경력이 옮겨 갈 수 있는가</a:t>
            </a:r>
            <a:endParaRPr lang="en-US" sz="1280" dirty="0"/>
          </a:p>
        </p:txBody>
      </p:sp>
      <p:sp>
        <p:nvSpPr>
          <p:cNvPr id="23" name="Shape 18"/>
          <p:cNvSpPr/>
          <p:nvPr/>
        </p:nvSpPr>
        <p:spPr>
          <a:xfrm>
            <a:off x="932688" y="3877056"/>
            <a:ext cx="102870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1430">
            <a:solidFill>
              <a:srgbClr val="D9D9D9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1188720" y="4105656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/>
          <p:nvPr/>
        </p:nvSpPr>
        <p:spPr>
          <a:xfrm>
            <a:off x="1188720" y="4178808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20" dirty="0"/>
          </a:p>
        </p:txBody>
      </p:sp>
      <p:sp>
        <p:nvSpPr>
          <p:cNvPr id="26" name="Text 21"/>
          <p:cNvSpPr/>
          <p:nvPr/>
        </p:nvSpPr>
        <p:spPr>
          <a:xfrm>
            <a:off x="1874520" y="40599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직업 만족도</a:t>
            </a:r>
            <a:endParaRPr lang="en-US" sz="1700" dirty="0"/>
          </a:p>
        </p:txBody>
      </p:sp>
      <p:sp>
        <p:nvSpPr>
          <p:cNvPr id="27" name="Text 22"/>
          <p:cNvSpPr/>
          <p:nvPr/>
        </p:nvSpPr>
        <p:spPr>
          <a:xfrm>
            <a:off x="4069080" y="4069080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B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일상이 유지되는가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263640" y="4014216"/>
            <a:ext cx="4434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일과 삶의 균형, 조직문화, 근무시간, 심리적 소진의 정도</a:t>
            </a:r>
            <a:endParaRPr lang="en-US" sz="1280" dirty="0"/>
          </a:p>
        </p:txBody>
      </p:sp>
      <p:sp>
        <p:nvSpPr>
          <p:cNvPr id="29" name="Shape 24"/>
          <p:cNvSpPr/>
          <p:nvPr/>
        </p:nvSpPr>
        <p:spPr>
          <a:xfrm>
            <a:off x="932688" y="4937760"/>
            <a:ext cx="10287000" cy="822960"/>
          </a:xfrm>
          <a:prstGeom prst="roundRect">
            <a:avLst>
              <a:gd name="adj" fmla="val 7778"/>
            </a:avLst>
          </a:prstGeom>
          <a:solidFill>
            <a:srgbClr val="F5F5F5"/>
          </a:solidFill>
          <a:ln w="11430">
            <a:solidFill>
              <a:srgbClr val="D9D9D9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1188720" y="5166360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/>
          <p:nvPr/>
        </p:nvSpPr>
        <p:spPr>
          <a:xfrm>
            <a:off x="1188720" y="5239512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020" dirty="0"/>
          </a:p>
        </p:txBody>
      </p:sp>
      <p:sp>
        <p:nvSpPr>
          <p:cNvPr id="32" name="Text 27"/>
          <p:cNvSpPr/>
          <p:nvPr/>
        </p:nvSpPr>
        <p:spPr>
          <a:xfrm>
            <a:off x="1874520" y="5120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개인의 성장</a:t>
            </a:r>
            <a:endParaRPr lang="en-US" sz="1700" dirty="0"/>
          </a:p>
        </p:txBody>
      </p:sp>
      <p:sp>
        <p:nvSpPr>
          <p:cNvPr id="33" name="Text 28"/>
          <p:cNvSpPr/>
          <p:nvPr/>
        </p:nvSpPr>
        <p:spPr>
          <a:xfrm>
            <a:off x="4069080" y="5129784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B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실력이 커지는가</a:t>
            </a:r>
            <a:endParaRPr lang="en-US" sz="1500" dirty="0"/>
          </a:p>
        </p:txBody>
      </p:sp>
      <p:sp>
        <p:nvSpPr>
          <p:cNvPr id="34" name="Text 29"/>
          <p:cNvSpPr/>
          <p:nvPr/>
        </p:nvSpPr>
        <p:spPr>
          <a:xfrm>
            <a:off x="6263640" y="5074920"/>
            <a:ext cx="4434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배울 사람·프로젝트·교육 기회가 있는가, 전문성이 쌓이는가</a:t>
            </a:r>
            <a:endParaRPr lang="en-US" sz="1280" dirty="0"/>
          </a:p>
        </p:txBody>
      </p:sp>
      <p:sp>
        <p:nvSpPr>
          <p:cNvPr id="35" name="Shape 30"/>
          <p:cNvSpPr/>
          <p:nvPr/>
        </p:nvSpPr>
        <p:spPr>
          <a:xfrm>
            <a:off x="1591056" y="5797296"/>
            <a:ext cx="8997696" cy="384048"/>
          </a:xfrm>
          <a:prstGeom prst="roundRect">
            <a:avLst>
              <a:gd name="adj" fmla="val 23810"/>
            </a:avLst>
          </a:prstGeom>
          <a:solidFill>
            <a:srgbClr val="FFE78C"/>
          </a:solidFill>
          <a:ln w="10160">
            <a:solidFill>
              <a:srgbClr val="FFE7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1"/>
          <p:cNvSpPr/>
          <p:nvPr/>
        </p:nvSpPr>
        <p:spPr>
          <a:xfrm>
            <a:off x="1682496" y="5884164"/>
            <a:ext cx="8814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 메시지: “좋은 직업”은 지금의 조건과 미래의 가능성을 동시에 비교해야 합니다.</a:t>
            </a:r>
            <a:endParaRPr lang="en-US" sz="1320" dirty="0"/>
          </a:p>
        </p:txBody>
      </p:sp>
      <p:sp>
        <p:nvSpPr>
          <p:cNvPr id="37" name="Text 32"/>
          <p:cNvSpPr/>
          <p:nvPr/>
        </p:nvSpPr>
        <p:spPr>
          <a:xfrm>
            <a:off x="585216" y="6473952"/>
            <a:ext cx="10012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7B7B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용어 풀이 중심 슬라이드: 전공이 달라도 이해할 수 있도록 연봉·안정·만족·성장을 생활 언어로 풀어 설명합니다.</a:t>
            </a:r>
            <a:endParaRPr lang="en-US" sz="720" dirty="0"/>
          </a:p>
        </p:txBody>
      </p:sp>
      <p:sp>
        <p:nvSpPr>
          <p:cNvPr id="38" name="Text 33"/>
          <p:cNvSpPr/>
          <p:nvPr/>
        </p:nvSpPr>
        <p:spPr>
          <a:xfrm>
            <a:off x="11137392" y="6446520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FAFAFA"/>
          </a:solidFill>
          <a:ln w="762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164592" y="146304"/>
            <a:ext cx="73152" cy="73152"/>
          </a:xfrm>
          <a:prstGeom prst="ellipse">
            <a:avLst/>
          </a:prstGeom>
          <a:solidFill>
            <a:srgbClr val="FF61D7"/>
          </a:solidFill>
          <a:ln w="12700">
            <a:solidFill>
              <a:srgbClr val="FF61D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29184" y="146304"/>
            <a:ext cx="73152" cy="73152"/>
          </a:xfrm>
          <a:prstGeom prst="ellipse">
            <a:avLst/>
          </a:prstGeom>
          <a:solidFill>
            <a:srgbClr val="FFD82F"/>
          </a:solidFill>
          <a:ln w="12700">
            <a:solidFill>
              <a:srgbClr val="FFD8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93776" y="146304"/>
            <a:ext cx="73152" cy="73152"/>
          </a:xfrm>
          <a:prstGeom prst="ellipse">
            <a:avLst/>
          </a:prstGeom>
          <a:solidFill>
            <a:srgbClr val="38E556"/>
          </a:solidFill>
          <a:ln w="12700">
            <a:solidFill>
              <a:srgbClr val="38E55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/mnt/data/template_unzip/ppt/media/image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749808"/>
            <a:ext cx="512064" cy="4297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31720" y="658368"/>
            <a:ext cx="7543800" cy="676656"/>
          </a:xfrm>
          <a:prstGeom prst="roundRect">
            <a:avLst>
              <a:gd name="adj" fmla="val 22973"/>
            </a:avLst>
          </a:prstGeom>
          <a:solidFill>
            <a:srgbClr val="95F7A7"/>
          </a:solidFill>
          <a:ln w="15240">
            <a:solidFill>
              <a:srgbClr val="95F7A7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2560320" y="804672"/>
            <a:ext cx="7086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지역 산업이 필요로 하는 인재상</a:t>
            </a:r>
            <a:endParaRPr lang="en-US" sz="2500" dirty="0"/>
          </a:p>
        </p:txBody>
      </p:sp>
      <p:pic>
        <p:nvPicPr>
          <p:cNvPr id="10" name="Image 2" descr="/mnt/data/template_unzip/ppt/media/image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0" y="941832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011680" y="1435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B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인재상 = 기업이 “함께 일하고 싶다”고 보는 사람의 모습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777240" y="1874520"/>
            <a:ext cx="2395728" cy="3346704"/>
          </a:xfrm>
          <a:prstGeom prst="roundRect">
            <a:avLst>
              <a:gd name="adj" fmla="val 2672"/>
            </a:avLst>
          </a:prstGeom>
          <a:solidFill>
            <a:srgbClr val="FFF3B8"/>
          </a:solidFill>
          <a:ln w="11430">
            <a:solidFill>
              <a:srgbClr val="D2D2D2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1508760" y="2075688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/>
          <p:nvPr/>
        </p:nvSpPr>
        <p:spPr>
          <a:xfrm>
            <a:off x="1508760" y="2148840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67%</a:t>
            </a:r>
            <a:endParaRPr lang="en-US" sz="1020" dirty="0"/>
          </a:p>
        </p:txBody>
      </p:sp>
      <p:sp>
        <p:nvSpPr>
          <p:cNvPr id="15" name="Text 10"/>
          <p:cNvSpPr/>
          <p:nvPr/>
        </p:nvSpPr>
        <p:spPr>
          <a:xfrm>
            <a:off x="1005840" y="269748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책임의식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1069848" y="3401568"/>
            <a:ext cx="1810512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맡은 일의 결과를 끝까지 완성하는 태도</a:t>
            </a:r>
            <a:endParaRPr lang="en-US" sz="1280" dirty="0"/>
          </a:p>
        </p:txBody>
      </p:sp>
      <p:sp>
        <p:nvSpPr>
          <p:cNvPr id="17" name="Shape 12"/>
          <p:cNvSpPr/>
          <p:nvPr/>
        </p:nvSpPr>
        <p:spPr>
          <a:xfrm>
            <a:off x="3593592" y="1874520"/>
            <a:ext cx="2395728" cy="3346704"/>
          </a:xfrm>
          <a:prstGeom prst="roundRect">
            <a:avLst>
              <a:gd name="adj" fmla="val 2672"/>
            </a:avLst>
          </a:prstGeom>
          <a:solidFill>
            <a:srgbClr val="CCF7D2"/>
          </a:solidFill>
          <a:ln w="11430">
            <a:solidFill>
              <a:srgbClr val="D2D2D2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4325112" y="2075688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/>
          <p:nvPr/>
        </p:nvSpPr>
        <p:spPr>
          <a:xfrm>
            <a:off x="4325112" y="2148840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66%</a:t>
            </a:r>
            <a:endParaRPr lang="en-US" sz="1020" dirty="0"/>
          </a:p>
        </p:txBody>
      </p:sp>
      <p:sp>
        <p:nvSpPr>
          <p:cNvPr id="20" name="Text 15"/>
          <p:cNvSpPr/>
          <p:nvPr/>
        </p:nvSpPr>
        <p:spPr>
          <a:xfrm>
            <a:off x="3822192" y="269748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도전정신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3886200" y="3401568"/>
            <a:ext cx="1810512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새로운 일도 작게 시도하고 배우려는 태도</a:t>
            </a:r>
            <a:endParaRPr lang="en-US" sz="1280" dirty="0"/>
          </a:p>
        </p:txBody>
      </p:sp>
      <p:sp>
        <p:nvSpPr>
          <p:cNvPr id="22" name="Shape 17"/>
          <p:cNvSpPr/>
          <p:nvPr/>
        </p:nvSpPr>
        <p:spPr>
          <a:xfrm>
            <a:off x="6409944" y="1874520"/>
            <a:ext cx="2395728" cy="3346704"/>
          </a:xfrm>
          <a:prstGeom prst="roundRect">
            <a:avLst>
              <a:gd name="adj" fmla="val 2672"/>
            </a:avLst>
          </a:prstGeom>
          <a:solidFill>
            <a:srgbClr val="D6ECFF"/>
          </a:solidFill>
          <a:ln w="11430">
            <a:solidFill>
              <a:srgbClr val="D2D2D2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141464" y="2075688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9"/>
          <p:cNvSpPr/>
          <p:nvPr/>
        </p:nvSpPr>
        <p:spPr>
          <a:xfrm>
            <a:off x="7141464" y="2148840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64%</a:t>
            </a:r>
            <a:endParaRPr lang="en-US" sz="1020" dirty="0"/>
          </a:p>
        </p:txBody>
      </p:sp>
      <p:sp>
        <p:nvSpPr>
          <p:cNvPr id="25" name="Text 20"/>
          <p:cNvSpPr/>
          <p:nvPr/>
        </p:nvSpPr>
        <p:spPr>
          <a:xfrm>
            <a:off x="6638544" y="269748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소통·협력</a:t>
            </a:r>
            <a:endParaRPr lang="en-US" sz="1900" dirty="0"/>
          </a:p>
        </p:txBody>
      </p:sp>
      <p:sp>
        <p:nvSpPr>
          <p:cNvPr id="26" name="Text 21"/>
          <p:cNvSpPr/>
          <p:nvPr/>
        </p:nvSpPr>
        <p:spPr>
          <a:xfrm>
            <a:off x="6702552" y="3401568"/>
            <a:ext cx="1810512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다른 전공·부서와 맞춰 일하는 능력</a:t>
            </a:r>
            <a:endParaRPr lang="en-US" sz="1280" dirty="0"/>
          </a:p>
        </p:txBody>
      </p:sp>
      <p:sp>
        <p:nvSpPr>
          <p:cNvPr id="27" name="Shape 22"/>
          <p:cNvSpPr/>
          <p:nvPr/>
        </p:nvSpPr>
        <p:spPr>
          <a:xfrm>
            <a:off x="9226296" y="1874520"/>
            <a:ext cx="2395728" cy="3346704"/>
          </a:xfrm>
          <a:prstGeom prst="roundRect">
            <a:avLst>
              <a:gd name="adj" fmla="val 2672"/>
            </a:avLst>
          </a:prstGeom>
          <a:solidFill>
            <a:srgbClr val="F8C9F7"/>
          </a:solidFill>
          <a:ln w="11430">
            <a:solidFill>
              <a:srgbClr val="D2D2D2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9957816" y="2075688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4"/>
          <p:cNvSpPr/>
          <p:nvPr/>
        </p:nvSpPr>
        <p:spPr>
          <a:xfrm>
            <a:off x="9957816" y="2148840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54%</a:t>
            </a:r>
            <a:endParaRPr lang="en-US" sz="1020" dirty="0"/>
          </a:p>
        </p:txBody>
      </p:sp>
      <p:sp>
        <p:nvSpPr>
          <p:cNvPr id="30" name="Text 25"/>
          <p:cNvSpPr/>
          <p:nvPr/>
        </p:nvSpPr>
        <p:spPr>
          <a:xfrm>
            <a:off x="9454896" y="269748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창의성</a:t>
            </a:r>
            <a:endParaRPr lang="en-US" sz="1900" dirty="0"/>
          </a:p>
        </p:txBody>
      </p:sp>
      <p:sp>
        <p:nvSpPr>
          <p:cNvPr id="31" name="Text 26"/>
          <p:cNvSpPr/>
          <p:nvPr/>
        </p:nvSpPr>
        <p:spPr>
          <a:xfrm>
            <a:off x="9518904" y="3401568"/>
            <a:ext cx="1810512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정답이 없는 문제에서 다른 방법을 찾는 힘</a:t>
            </a:r>
            <a:endParaRPr lang="en-US" sz="1280" dirty="0"/>
          </a:p>
        </p:txBody>
      </p:sp>
      <p:sp>
        <p:nvSpPr>
          <p:cNvPr id="32" name="Shape 27"/>
          <p:cNvSpPr/>
          <p:nvPr/>
        </p:nvSpPr>
        <p:spPr>
          <a:xfrm>
            <a:off x="1417320" y="5468112"/>
            <a:ext cx="9354312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1430">
            <a:solidFill>
              <a:srgbClr val="D8D8D8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8"/>
          <p:cNvSpPr/>
          <p:nvPr/>
        </p:nvSpPr>
        <p:spPr>
          <a:xfrm>
            <a:off x="1737360" y="5660136"/>
            <a:ext cx="8732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기업 규모가 달라도 공통점은 분명합니다: “잘하는 사람”보다 “문제를 끝까지 해결하는 사람”을 원합니다.</a:t>
            </a:r>
            <a:endParaRPr lang="en-US" sz="1420" dirty="0"/>
          </a:p>
        </p:txBody>
      </p:sp>
      <p:sp>
        <p:nvSpPr>
          <p:cNvPr id="34" name="Text 29"/>
          <p:cNvSpPr/>
          <p:nvPr/>
        </p:nvSpPr>
        <p:spPr>
          <a:xfrm>
            <a:off x="777240" y="6144768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7777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자료: 대한상공회의소 「100대 기업 인재상 보고서」(2023) — 책임의식 67%, 도전정신 66%, 소통·협력 64%, 창의성 54%.</a:t>
            </a:r>
            <a:endParaRPr lang="en-US" sz="750" dirty="0"/>
          </a:p>
        </p:txBody>
      </p:sp>
      <p:sp>
        <p:nvSpPr>
          <p:cNvPr id="35" name="Text 30"/>
          <p:cNvSpPr/>
          <p:nvPr/>
        </p:nvSpPr>
        <p:spPr>
          <a:xfrm>
            <a:off x="585216" y="6473952"/>
            <a:ext cx="10012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7B7B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발표용 해석: 기업은 전공 지식만 보지 않고, 조직 안에서 문제를 완성하는 태도와 협업 방식을 함께 봅니다.</a:t>
            </a:r>
            <a:endParaRPr lang="en-US" sz="720" dirty="0"/>
          </a:p>
        </p:txBody>
      </p:sp>
      <p:sp>
        <p:nvSpPr>
          <p:cNvPr id="36" name="Text 31"/>
          <p:cNvSpPr/>
          <p:nvPr/>
        </p:nvSpPr>
        <p:spPr>
          <a:xfrm>
            <a:off x="11137392" y="6446520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FAFAFA"/>
          </a:solidFill>
          <a:ln w="762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164592" y="146304"/>
            <a:ext cx="73152" cy="73152"/>
          </a:xfrm>
          <a:prstGeom prst="ellipse">
            <a:avLst/>
          </a:prstGeom>
          <a:solidFill>
            <a:srgbClr val="FF61D7"/>
          </a:solidFill>
          <a:ln w="12700">
            <a:solidFill>
              <a:srgbClr val="FF61D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29184" y="146304"/>
            <a:ext cx="73152" cy="73152"/>
          </a:xfrm>
          <a:prstGeom prst="ellipse">
            <a:avLst/>
          </a:prstGeom>
          <a:solidFill>
            <a:srgbClr val="FFD82F"/>
          </a:solidFill>
          <a:ln w="12700">
            <a:solidFill>
              <a:srgbClr val="FFD8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93776" y="146304"/>
            <a:ext cx="73152" cy="73152"/>
          </a:xfrm>
          <a:prstGeom prst="ellipse">
            <a:avLst/>
          </a:prstGeom>
          <a:solidFill>
            <a:srgbClr val="38E556"/>
          </a:solidFill>
          <a:ln w="12700">
            <a:solidFill>
              <a:srgbClr val="38E55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/mnt/data/template_unzip/ppt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749808"/>
            <a:ext cx="512064" cy="4297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423160" y="658368"/>
            <a:ext cx="7360920" cy="676656"/>
          </a:xfrm>
          <a:prstGeom prst="roundRect">
            <a:avLst>
              <a:gd name="adj" fmla="val 22973"/>
            </a:avLst>
          </a:prstGeom>
          <a:solidFill>
            <a:srgbClr val="B7DBFF"/>
          </a:solidFill>
          <a:ln w="15240">
            <a:solidFill>
              <a:srgbClr val="B7DBFF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2651760" y="804672"/>
            <a:ext cx="6903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기업 규모별로 달라지는 기대</a:t>
            </a:r>
            <a:endParaRPr lang="en-US" sz="2500" dirty="0"/>
          </a:p>
        </p:txBody>
      </p:sp>
      <p:pic>
        <p:nvPicPr>
          <p:cNvPr id="10" name="Image 2" descr="/mnt/data/template_unzip/ppt/media/image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941832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37360" y="1435608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2B2B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“좋은 인재”라도 기업의 규모와 업무 방식에 따라 강조점이 달라집니다.</a:t>
            </a:r>
            <a:endParaRPr lang="en-US" sz="1480" dirty="0"/>
          </a:p>
        </p:txBody>
      </p:sp>
      <p:sp>
        <p:nvSpPr>
          <p:cNvPr id="12" name="Shape 7"/>
          <p:cNvSpPr/>
          <p:nvPr/>
        </p:nvSpPr>
        <p:spPr>
          <a:xfrm>
            <a:off x="804672" y="1920240"/>
            <a:ext cx="2359152" cy="3639312"/>
          </a:xfrm>
          <a:prstGeom prst="roundRect">
            <a:avLst>
              <a:gd name="adj" fmla="val 2713"/>
            </a:avLst>
          </a:prstGeom>
          <a:solidFill>
            <a:srgbClr val="FFF3B8"/>
          </a:solidFill>
          <a:ln w="11430">
            <a:solidFill>
              <a:srgbClr val="D2D2D2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987552" y="2130552"/>
            <a:ext cx="475488" cy="347472"/>
          </a:xfrm>
          <a:prstGeom prst="roundRect">
            <a:avLst>
              <a:gd name="adj" fmla="val 2105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/>
          <p:nvPr/>
        </p:nvSpPr>
        <p:spPr>
          <a:xfrm>
            <a:off x="987552" y="220370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020" dirty="0"/>
          </a:p>
        </p:txBody>
      </p:sp>
      <p:sp>
        <p:nvSpPr>
          <p:cNvPr id="15" name="Text 10"/>
          <p:cNvSpPr/>
          <p:nvPr/>
        </p:nvSpPr>
        <p:spPr>
          <a:xfrm>
            <a:off x="1517904" y="2103120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대기업</a:t>
            </a:r>
            <a:endParaRPr lang="en-US" sz="1820" dirty="0"/>
          </a:p>
        </p:txBody>
      </p:sp>
      <p:sp>
        <p:nvSpPr>
          <p:cNvPr id="16" name="Text 11"/>
          <p:cNvSpPr/>
          <p:nvPr/>
        </p:nvSpPr>
        <p:spPr>
          <a:xfrm>
            <a:off x="1060704" y="2743200"/>
            <a:ext cx="1847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큰 조직 안에서</a:t>
            </a:r>
            <a:endParaRPr lang="en-US" sz="1420" dirty="0"/>
          </a:p>
          <a:p>
            <a:pPr marL="0" indent="0" algn="ctr">
              <a:buNone/>
            </a:pPr>
            <a:r>
              <a:rPr lang="en-US" sz="14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책임 있게 실행</a:t>
            </a:r>
            <a:endParaRPr lang="en-US" sz="1420" dirty="0"/>
          </a:p>
        </p:txBody>
      </p:sp>
      <p:sp>
        <p:nvSpPr>
          <p:cNvPr id="17" name="Text 12"/>
          <p:cNvSpPr/>
          <p:nvPr/>
        </p:nvSpPr>
        <p:spPr>
          <a:xfrm>
            <a:off x="1078992" y="3685032"/>
            <a:ext cx="181051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규정·절차가 분명합니다.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맡은 역할을 정확하게 수행하고, 보고와 협업을 잘하는 역량이 중요합니다.</a:t>
            </a:r>
            <a:endParaRPr lang="en-US" sz="1140" dirty="0"/>
          </a:p>
        </p:txBody>
      </p:sp>
      <p:sp>
        <p:nvSpPr>
          <p:cNvPr id="18" name="Shape 13"/>
          <p:cNvSpPr/>
          <p:nvPr/>
        </p:nvSpPr>
        <p:spPr>
          <a:xfrm>
            <a:off x="3593592" y="1920240"/>
            <a:ext cx="2359152" cy="3639312"/>
          </a:xfrm>
          <a:prstGeom prst="roundRect">
            <a:avLst>
              <a:gd name="adj" fmla="val 2713"/>
            </a:avLst>
          </a:prstGeom>
          <a:solidFill>
            <a:srgbClr val="CCF7D2"/>
          </a:solidFill>
          <a:ln w="11430">
            <a:solidFill>
              <a:srgbClr val="D2D2D2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3776472" y="2130552"/>
            <a:ext cx="475488" cy="347472"/>
          </a:xfrm>
          <a:prstGeom prst="roundRect">
            <a:avLst>
              <a:gd name="adj" fmla="val 2105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/>
          <p:nvPr/>
        </p:nvSpPr>
        <p:spPr>
          <a:xfrm>
            <a:off x="3776472" y="220370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020" dirty="0"/>
          </a:p>
        </p:txBody>
      </p:sp>
      <p:sp>
        <p:nvSpPr>
          <p:cNvPr id="21" name="Text 16"/>
          <p:cNvSpPr/>
          <p:nvPr/>
        </p:nvSpPr>
        <p:spPr>
          <a:xfrm>
            <a:off x="4306824" y="2103120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중견기업</a:t>
            </a:r>
            <a:endParaRPr lang="en-US" sz="1820" dirty="0"/>
          </a:p>
        </p:txBody>
      </p:sp>
      <p:sp>
        <p:nvSpPr>
          <p:cNvPr id="22" name="Text 17"/>
          <p:cNvSpPr/>
          <p:nvPr/>
        </p:nvSpPr>
        <p:spPr>
          <a:xfrm>
            <a:off x="3849624" y="2743200"/>
            <a:ext cx="1847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여러 부서와</a:t>
            </a:r>
            <a:endParaRPr lang="en-US" sz="1420" dirty="0"/>
          </a:p>
          <a:p>
            <a:pPr marL="0" indent="0" algn="ctr">
              <a:buNone/>
            </a:pPr>
            <a:r>
              <a:rPr lang="en-US" sz="14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문제를 연결</a:t>
            </a:r>
            <a:endParaRPr lang="en-US" sz="1420" dirty="0"/>
          </a:p>
        </p:txBody>
      </p:sp>
      <p:sp>
        <p:nvSpPr>
          <p:cNvPr id="23" name="Text 18"/>
          <p:cNvSpPr/>
          <p:nvPr/>
        </p:nvSpPr>
        <p:spPr>
          <a:xfrm>
            <a:off x="3867912" y="3685032"/>
            <a:ext cx="181051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사람이 여러 부서와 맞물려 움직입니다.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전문성뿐 아니라 조율력과 문제 해결력이 필요합니다.</a:t>
            </a:r>
            <a:endParaRPr lang="en-US" sz="1140" dirty="0"/>
          </a:p>
        </p:txBody>
      </p:sp>
      <p:sp>
        <p:nvSpPr>
          <p:cNvPr id="24" name="Shape 19"/>
          <p:cNvSpPr/>
          <p:nvPr/>
        </p:nvSpPr>
        <p:spPr>
          <a:xfrm>
            <a:off x="6382512" y="1920240"/>
            <a:ext cx="2359152" cy="3639312"/>
          </a:xfrm>
          <a:prstGeom prst="roundRect">
            <a:avLst>
              <a:gd name="adj" fmla="val 2713"/>
            </a:avLst>
          </a:prstGeom>
          <a:solidFill>
            <a:srgbClr val="D6ECFF"/>
          </a:solidFill>
          <a:ln w="11430">
            <a:solidFill>
              <a:srgbClr val="D2D2D2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6565392" y="2130552"/>
            <a:ext cx="475488" cy="347472"/>
          </a:xfrm>
          <a:prstGeom prst="roundRect">
            <a:avLst>
              <a:gd name="adj" fmla="val 2105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/>
          <p:nvPr/>
        </p:nvSpPr>
        <p:spPr>
          <a:xfrm>
            <a:off x="6565392" y="220370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20" dirty="0"/>
          </a:p>
        </p:txBody>
      </p:sp>
      <p:sp>
        <p:nvSpPr>
          <p:cNvPr id="27" name="Text 22"/>
          <p:cNvSpPr/>
          <p:nvPr/>
        </p:nvSpPr>
        <p:spPr>
          <a:xfrm>
            <a:off x="7095744" y="2103120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중소·강소기업</a:t>
            </a:r>
            <a:endParaRPr lang="en-US" sz="1820" dirty="0"/>
          </a:p>
        </p:txBody>
      </p:sp>
      <p:sp>
        <p:nvSpPr>
          <p:cNvPr id="28" name="Text 23"/>
          <p:cNvSpPr/>
          <p:nvPr/>
        </p:nvSpPr>
        <p:spPr>
          <a:xfrm>
            <a:off x="6638544" y="2743200"/>
            <a:ext cx="1847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빠르게 배우고</a:t>
            </a:r>
            <a:endParaRPr lang="en-US" sz="1420" dirty="0"/>
          </a:p>
          <a:p>
            <a:pPr marL="0" indent="0" algn="ctr">
              <a:buNone/>
            </a:pPr>
            <a:r>
              <a:rPr lang="en-US" sz="14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현장에 적용</a:t>
            </a:r>
            <a:endParaRPr lang="en-US" sz="1420" dirty="0"/>
          </a:p>
        </p:txBody>
      </p:sp>
      <p:sp>
        <p:nvSpPr>
          <p:cNvPr id="29" name="Text 24"/>
          <p:cNvSpPr/>
          <p:nvPr/>
        </p:nvSpPr>
        <p:spPr>
          <a:xfrm>
            <a:off x="6656832" y="3685032"/>
            <a:ext cx="181051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인력이 제한되어 한 사람이 넓게 일합니다.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배우는 속도와 실행력이 경쟁력이 됩니다.</a:t>
            </a:r>
            <a:endParaRPr lang="en-US" sz="1140" dirty="0"/>
          </a:p>
        </p:txBody>
      </p:sp>
      <p:sp>
        <p:nvSpPr>
          <p:cNvPr id="30" name="Shape 25"/>
          <p:cNvSpPr/>
          <p:nvPr/>
        </p:nvSpPr>
        <p:spPr>
          <a:xfrm>
            <a:off x="9171432" y="1920240"/>
            <a:ext cx="2359152" cy="3639312"/>
          </a:xfrm>
          <a:prstGeom prst="roundRect">
            <a:avLst>
              <a:gd name="adj" fmla="val 2713"/>
            </a:avLst>
          </a:prstGeom>
          <a:solidFill>
            <a:srgbClr val="F8C9F7"/>
          </a:solidFill>
          <a:ln w="11430">
            <a:solidFill>
              <a:srgbClr val="D2D2D2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6"/>
          <p:cNvSpPr/>
          <p:nvPr/>
        </p:nvSpPr>
        <p:spPr>
          <a:xfrm>
            <a:off x="9354312" y="2130552"/>
            <a:ext cx="475488" cy="347472"/>
          </a:xfrm>
          <a:prstGeom prst="roundRect">
            <a:avLst>
              <a:gd name="adj" fmla="val 2105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7"/>
          <p:cNvSpPr/>
          <p:nvPr/>
        </p:nvSpPr>
        <p:spPr>
          <a:xfrm>
            <a:off x="9354312" y="2203704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020" dirty="0"/>
          </a:p>
        </p:txBody>
      </p:sp>
      <p:sp>
        <p:nvSpPr>
          <p:cNvPr id="33" name="Text 28"/>
          <p:cNvSpPr/>
          <p:nvPr/>
        </p:nvSpPr>
        <p:spPr>
          <a:xfrm>
            <a:off x="9884664" y="2103120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창업·프로젝트</a:t>
            </a:r>
            <a:endParaRPr lang="en-US" sz="1820" dirty="0"/>
          </a:p>
        </p:txBody>
      </p:sp>
      <p:sp>
        <p:nvSpPr>
          <p:cNvPr id="34" name="Text 29"/>
          <p:cNvSpPr/>
          <p:nvPr/>
        </p:nvSpPr>
        <p:spPr>
          <a:xfrm>
            <a:off x="9427464" y="2743200"/>
            <a:ext cx="1847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스스로 가설을 세우고</a:t>
            </a:r>
            <a:endParaRPr lang="en-US" sz="1420" dirty="0"/>
          </a:p>
          <a:p>
            <a:pPr marL="0" indent="0" algn="ctr">
              <a:buNone/>
            </a:pPr>
            <a:r>
              <a:rPr lang="en-US" sz="14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</a:t>
            </a:r>
            <a:endParaRPr lang="en-US" sz="1420" dirty="0"/>
          </a:p>
        </p:txBody>
      </p:sp>
      <p:sp>
        <p:nvSpPr>
          <p:cNvPr id="35" name="Text 30"/>
          <p:cNvSpPr/>
          <p:nvPr/>
        </p:nvSpPr>
        <p:spPr>
          <a:xfrm>
            <a:off x="9445752" y="3685032"/>
            <a:ext cx="181051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정해진 답이 적습니다.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작게 만들고, 시장 반응을 보고, 빠르게 고치는 능력이 핵심입니다.</a:t>
            </a:r>
            <a:endParaRPr lang="en-US" sz="1140" dirty="0"/>
          </a:p>
        </p:txBody>
      </p:sp>
      <p:sp>
        <p:nvSpPr>
          <p:cNvPr id="36" name="Shape 31"/>
          <p:cNvSpPr/>
          <p:nvPr/>
        </p:nvSpPr>
        <p:spPr>
          <a:xfrm>
            <a:off x="1755648" y="5833872"/>
            <a:ext cx="8686800" cy="384048"/>
          </a:xfrm>
          <a:prstGeom prst="roundRect">
            <a:avLst>
              <a:gd name="adj" fmla="val 23810"/>
            </a:avLst>
          </a:prstGeom>
          <a:solidFill>
            <a:srgbClr val="FFE78C"/>
          </a:solidFill>
          <a:ln w="10160">
            <a:solidFill>
              <a:srgbClr val="FFE7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2"/>
          <p:cNvSpPr/>
          <p:nvPr/>
        </p:nvSpPr>
        <p:spPr>
          <a:xfrm>
            <a:off x="1847088" y="59207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정리: 내가 원하는 조직문화와 나의 일하는 방식이 맞는지도 함께 봐야 합니다.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585216" y="6473952"/>
            <a:ext cx="10012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7B7B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전공 공통 적용: 약학·보건·공학·인문사회·경영 등 모든 전공에서 조직 적합성과 실행력이 함께 요구됩니다.</a:t>
            </a:r>
            <a:endParaRPr lang="en-US" sz="720" dirty="0"/>
          </a:p>
        </p:txBody>
      </p:sp>
      <p:sp>
        <p:nvSpPr>
          <p:cNvPr id="39" name="Text 34"/>
          <p:cNvSpPr/>
          <p:nvPr/>
        </p:nvSpPr>
        <p:spPr>
          <a:xfrm>
            <a:off x="11137392" y="6446520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FAFAFA"/>
          </a:solidFill>
          <a:ln w="762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164592" y="146304"/>
            <a:ext cx="73152" cy="73152"/>
          </a:xfrm>
          <a:prstGeom prst="ellipse">
            <a:avLst/>
          </a:prstGeom>
          <a:solidFill>
            <a:srgbClr val="FF61D7"/>
          </a:solidFill>
          <a:ln w="12700">
            <a:solidFill>
              <a:srgbClr val="FF61D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29184" y="146304"/>
            <a:ext cx="73152" cy="73152"/>
          </a:xfrm>
          <a:prstGeom prst="ellipse">
            <a:avLst/>
          </a:prstGeom>
          <a:solidFill>
            <a:srgbClr val="FFD82F"/>
          </a:solidFill>
          <a:ln w="12700">
            <a:solidFill>
              <a:srgbClr val="FFD8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93776" y="146304"/>
            <a:ext cx="73152" cy="73152"/>
          </a:xfrm>
          <a:prstGeom prst="ellipse">
            <a:avLst/>
          </a:prstGeom>
          <a:solidFill>
            <a:srgbClr val="38E556"/>
          </a:solidFill>
          <a:ln w="12700">
            <a:solidFill>
              <a:srgbClr val="38E55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/mnt/data/template_unzip/ppt/media/image1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749808"/>
            <a:ext cx="512064" cy="4297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965960" y="658368"/>
            <a:ext cx="8275320" cy="676656"/>
          </a:xfrm>
          <a:prstGeom prst="roundRect">
            <a:avLst>
              <a:gd name="adj" fmla="val 22973"/>
            </a:avLst>
          </a:prstGeom>
          <a:solidFill>
            <a:srgbClr val="F6A5F6"/>
          </a:solidFill>
          <a:ln w="15240">
            <a:solidFill>
              <a:srgbClr val="F6A5F6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2194560" y="804672"/>
            <a:ext cx="7818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AI·글로벌 변화가 바꾸는 일의 방식</a:t>
            </a:r>
            <a:endParaRPr lang="en-US" sz="2500" dirty="0"/>
          </a:p>
        </p:txBody>
      </p:sp>
      <p:pic>
        <p:nvPicPr>
          <p:cNvPr id="10" name="Image 2" descr="/mnt/data/template_unzip/ppt/media/image7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941832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1435608"/>
            <a:ext cx="9372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2B2B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사람을 “완전히 대체”한다기보다, 반복 업무를 줄이고 사람에게 더 높은 판단을 요구합니다.</a:t>
            </a:r>
            <a:endParaRPr lang="en-US" sz="1430" dirty="0"/>
          </a:p>
        </p:txBody>
      </p:sp>
      <p:sp>
        <p:nvSpPr>
          <p:cNvPr id="12" name="Shape 7"/>
          <p:cNvSpPr/>
          <p:nvPr/>
        </p:nvSpPr>
        <p:spPr>
          <a:xfrm>
            <a:off x="3566160" y="3648456"/>
            <a:ext cx="5010912" cy="0"/>
          </a:xfrm>
          <a:prstGeom prst="line">
            <a:avLst/>
          </a:prstGeom>
          <a:noFill/>
          <a:ln w="17780">
            <a:solidFill>
              <a:srgbClr val="B7B7B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841248" y="2029968"/>
            <a:ext cx="3840480" cy="3364992"/>
          </a:xfrm>
          <a:prstGeom prst="roundRect">
            <a:avLst>
              <a:gd name="adj" fmla="val 1902"/>
            </a:avLst>
          </a:prstGeom>
          <a:solidFill>
            <a:srgbClr val="F8C9F7"/>
          </a:solidFill>
          <a:ln w="11430">
            <a:solidFill>
              <a:srgbClr val="D3D3D3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/>
          <p:nvPr/>
        </p:nvSpPr>
        <p:spPr>
          <a:xfrm>
            <a:off x="1170432" y="233172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위기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1170432" y="2816352"/>
            <a:ext cx="28346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방식만 믿으면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경쟁력이 빨리 낮아집니다.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170432" y="3639312"/>
            <a:ext cx="29260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예: 해외구매대행은 한때 개인도 쉽게 수익을 만들 수 있었지만, 알리·테무 같은 대형 플랫폼이 직접 진입하면 가격·배송·광고 경쟁이 매우 어려워집니다.</a:t>
            </a:r>
            <a:endParaRPr lang="en-US" sz="1220" dirty="0"/>
          </a:p>
        </p:txBody>
      </p:sp>
      <p:sp>
        <p:nvSpPr>
          <p:cNvPr id="17" name="Shape 12"/>
          <p:cNvSpPr/>
          <p:nvPr/>
        </p:nvSpPr>
        <p:spPr>
          <a:xfrm>
            <a:off x="7479792" y="2029968"/>
            <a:ext cx="3840480" cy="3364992"/>
          </a:xfrm>
          <a:prstGeom prst="roundRect">
            <a:avLst>
              <a:gd name="adj" fmla="val 1902"/>
            </a:avLst>
          </a:prstGeom>
          <a:solidFill>
            <a:srgbClr val="CCF7D2"/>
          </a:solidFill>
          <a:ln w="11430">
            <a:solidFill>
              <a:srgbClr val="D3D3D3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/>
          <p:nvPr/>
        </p:nvSpPr>
        <p:spPr>
          <a:xfrm>
            <a:off x="7808976" y="233172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준비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7808976" y="2816352"/>
            <a:ext cx="28346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AI를 활용하고, 변화에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빠르게 적응해야 합니다.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7808976" y="3639312"/>
            <a:ext cx="292608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 역량은 기술 지식만이 아닙니다. 분석적 사고, 창의적 사고, 유연성, 민첩성, 협업 능력이 함께 필요합니다.</a:t>
            </a:r>
            <a:endParaRPr lang="en-US" sz="1220" dirty="0"/>
          </a:p>
        </p:txBody>
      </p:sp>
      <p:sp>
        <p:nvSpPr>
          <p:cNvPr id="21" name="Shape 16"/>
          <p:cNvSpPr/>
          <p:nvPr/>
        </p:nvSpPr>
        <p:spPr>
          <a:xfrm>
            <a:off x="2487168" y="5596128"/>
            <a:ext cx="7223760" cy="384048"/>
          </a:xfrm>
          <a:prstGeom prst="roundRect">
            <a:avLst>
              <a:gd name="adj" fmla="val 23810"/>
            </a:avLst>
          </a:prstGeom>
          <a:solidFill>
            <a:srgbClr val="FFE78C"/>
          </a:solidFill>
          <a:ln w="10160">
            <a:solidFill>
              <a:srgbClr val="FFE7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/>
          <p:nvPr/>
        </p:nvSpPr>
        <p:spPr>
          <a:xfrm>
            <a:off x="2578608" y="5682996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핵심: AI는 도구이고, 사람은 문제를 정의하고 판단하는 역할을 맡습니다.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77240" y="6144768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7777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자료: World Economic Forum, Future of Jobs Report 2025 — AI·빅데이터, 분석적 사고, 창의적 사고, 회복탄력성·유연성·민첩성의 중요성 제시.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585216" y="6473952"/>
            <a:ext cx="10012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7B7B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발표용 표현: “AI를 배워야 한다”는 말은 코딩만 하라는 뜻이 아니라, 내 전공 업무에 AI를 어떻게 붙일지 아는 능력입니다.</a:t>
            </a:r>
            <a:endParaRPr lang="en-US" sz="720" dirty="0"/>
          </a:p>
        </p:txBody>
      </p:sp>
      <p:sp>
        <p:nvSpPr>
          <p:cNvPr id="25" name="Text 20"/>
          <p:cNvSpPr/>
          <p:nvPr/>
        </p:nvSpPr>
        <p:spPr>
          <a:xfrm>
            <a:off x="11137392" y="6446520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FAFAFA"/>
          </a:solidFill>
          <a:ln w="762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164592" y="146304"/>
            <a:ext cx="73152" cy="73152"/>
          </a:xfrm>
          <a:prstGeom prst="ellipse">
            <a:avLst/>
          </a:prstGeom>
          <a:solidFill>
            <a:srgbClr val="FF61D7"/>
          </a:solidFill>
          <a:ln w="12700">
            <a:solidFill>
              <a:srgbClr val="FF61D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29184" y="146304"/>
            <a:ext cx="73152" cy="73152"/>
          </a:xfrm>
          <a:prstGeom prst="ellipse">
            <a:avLst/>
          </a:prstGeom>
          <a:solidFill>
            <a:srgbClr val="FFD82F"/>
          </a:solidFill>
          <a:ln w="12700">
            <a:solidFill>
              <a:srgbClr val="FFD8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93776" y="146304"/>
            <a:ext cx="73152" cy="73152"/>
          </a:xfrm>
          <a:prstGeom prst="ellipse">
            <a:avLst/>
          </a:prstGeom>
          <a:solidFill>
            <a:srgbClr val="38E556"/>
          </a:solidFill>
          <a:ln w="12700">
            <a:solidFill>
              <a:srgbClr val="38E55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/mnt/data/template_unzip/ppt/media/image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749808"/>
            <a:ext cx="512064" cy="4297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057400" y="658368"/>
            <a:ext cx="8092440" cy="676656"/>
          </a:xfrm>
          <a:prstGeom prst="roundRect">
            <a:avLst>
              <a:gd name="adj" fmla="val 22973"/>
            </a:avLst>
          </a:prstGeom>
          <a:solidFill>
            <a:srgbClr val="FFE78C"/>
          </a:solidFill>
          <a:ln w="15240">
            <a:solidFill>
              <a:srgbClr val="FFE78C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2286000" y="804672"/>
            <a:ext cx="7635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지역에서도 충분히 만들 수 있는 기회</a:t>
            </a:r>
            <a:endParaRPr lang="en-US" sz="2500" dirty="0"/>
          </a:p>
        </p:txBody>
      </p:sp>
      <p:pic>
        <p:nvPicPr>
          <p:cNvPr id="10" name="Image 2" descr="/mnt/data/template_unzip/ppt/media/image4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0" y="941832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35024" y="1435608"/>
            <a:ext cx="9555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B2B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지역은 시장이 작다는 약점도 있지만, 전문성·관계·빠른 실행을 결합하면 강점이 됩니다.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932688" y="1993392"/>
            <a:ext cx="3154680" cy="2999232"/>
          </a:xfrm>
          <a:prstGeom prst="roundRect">
            <a:avLst>
              <a:gd name="adj" fmla="val 2134"/>
            </a:avLst>
          </a:prstGeom>
          <a:solidFill>
            <a:srgbClr val="CCF7D2"/>
          </a:solidFill>
          <a:ln w="11430">
            <a:solidFill>
              <a:srgbClr val="D0D0D0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1152144" y="2212848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/>
          <p:nvPr/>
        </p:nvSpPr>
        <p:spPr>
          <a:xfrm>
            <a:off x="1152144" y="228600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020" dirty="0"/>
          </a:p>
        </p:txBody>
      </p:sp>
      <p:sp>
        <p:nvSpPr>
          <p:cNvPr id="15" name="Text 10"/>
          <p:cNvSpPr/>
          <p:nvPr/>
        </p:nvSpPr>
        <p:spPr>
          <a:xfrm>
            <a:off x="1792224" y="22128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K-Food·한류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280160" y="2999232"/>
            <a:ext cx="2450592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 음식과 문화에 대한 관심이 커지면 지역 식품·관광·콘텐츠 기업도 해외 고객을 만날 수 있습니다.</a:t>
            </a:r>
            <a:endParaRPr lang="en-US" sz="1260" dirty="0"/>
          </a:p>
        </p:txBody>
      </p:sp>
      <p:sp>
        <p:nvSpPr>
          <p:cNvPr id="17" name="Shape 12"/>
          <p:cNvSpPr/>
          <p:nvPr/>
        </p:nvSpPr>
        <p:spPr>
          <a:xfrm>
            <a:off x="4700016" y="1993392"/>
            <a:ext cx="3154680" cy="2999232"/>
          </a:xfrm>
          <a:prstGeom prst="roundRect">
            <a:avLst>
              <a:gd name="adj" fmla="val 2134"/>
            </a:avLst>
          </a:prstGeom>
          <a:solidFill>
            <a:srgbClr val="D6ECFF"/>
          </a:solidFill>
          <a:ln w="11430">
            <a:solidFill>
              <a:srgbClr val="D0D0D0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4919472" y="2212848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/>
          <p:nvPr/>
        </p:nvSpPr>
        <p:spPr>
          <a:xfrm>
            <a:off x="4919472" y="228600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020" dirty="0"/>
          </a:p>
        </p:txBody>
      </p:sp>
      <p:sp>
        <p:nvSpPr>
          <p:cNvPr id="20" name="Text 15"/>
          <p:cNvSpPr/>
          <p:nvPr/>
        </p:nvSpPr>
        <p:spPr>
          <a:xfrm>
            <a:off x="5559552" y="22128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강소기업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5047488" y="2999232"/>
            <a:ext cx="2450592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규모는 작아도 특정 기술·제품·서비스에 강한 기업은 지역에서도 안정적인 성장 경로를 만들 수 있습니다.</a:t>
            </a:r>
            <a:endParaRPr lang="en-US" sz="1260" dirty="0"/>
          </a:p>
        </p:txBody>
      </p:sp>
      <p:sp>
        <p:nvSpPr>
          <p:cNvPr id="22" name="Shape 17"/>
          <p:cNvSpPr/>
          <p:nvPr/>
        </p:nvSpPr>
        <p:spPr>
          <a:xfrm>
            <a:off x="8467344" y="1993392"/>
            <a:ext cx="3154680" cy="2999232"/>
          </a:xfrm>
          <a:prstGeom prst="roundRect">
            <a:avLst>
              <a:gd name="adj" fmla="val 2134"/>
            </a:avLst>
          </a:prstGeom>
          <a:solidFill>
            <a:srgbClr val="F8C9F7"/>
          </a:solidFill>
          <a:ln w="11430">
            <a:solidFill>
              <a:srgbClr val="D0D0D0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8686800" y="2212848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9"/>
          <p:cNvSpPr/>
          <p:nvPr/>
        </p:nvSpPr>
        <p:spPr>
          <a:xfrm>
            <a:off x="8686800" y="228600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20" dirty="0"/>
          </a:p>
        </p:txBody>
      </p:sp>
      <p:sp>
        <p:nvSpPr>
          <p:cNvPr id="25" name="Text 20"/>
          <p:cNvSpPr/>
          <p:nvPr/>
        </p:nvSpPr>
        <p:spPr>
          <a:xfrm>
            <a:off x="9326880" y="22128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전공 기반 창업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8814816" y="2999232"/>
            <a:ext cx="2450592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약학·보건·데이터·디자인·경영 등 전공 지식을 생활 문제 해결 서비스로 바꿀 수 있습니다.</a:t>
            </a:r>
            <a:endParaRPr lang="en-US" sz="1260" dirty="0"/>
          </a:p>
        </p:txBody>
      </p:sp>
      <p:sp>
        <p:nvSpPr>
          <p:cNvPr id="27" name="Shape 22"/>
          <p:cNvSpPr/>
          <p:nvPr/>
        </p:nvSpPr>
        <p:spPr>
          <a:xfrm>
            <a:off x="1353312" y="5330952"/>
            <a:ext cx="947318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1430">
            <a:solidFill>
              <a:srgbClr val="D8D8D8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/>
          <p:nvPr/>
        </p:nvSpPr>
        <p:spPr>
          <a:xfrm>
            <a:off x="1700784" y="5568696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지역정주의 관점: “어디에 있느냐”보다 “무엇을 연결하고 실행하느냐”가 더 중요해졌습니다.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777240" y="6144768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7777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자료: 농림축산식품부 2026년 1분기 K-Food+ 수출 보도자료 — 전년 대비 3.5% 증가, 33.5억 달러(잠정).</a:t>
            </a:r>
            <a:endParaRPr lang="en-US" sz="750" dirty="0"/>
          </a:p>
        </p:txBody>
      </p:sp>
      <p:sp>
        <p:nvSpPr>
          <p:cNvPr id="30" name="Text 25"/>
          <p:cNvSpPr/>
          <p:nvPr/>
        </p:nvSpPr>
        <p:spPr>
          <a:xfrm>
            <a:off x="585216" y="6473952"/>
            <a:ext cx="10012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7B7B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용어 풀이: 강소기업은 규모는 크지 않아도 특정 분야에서 경쟁력이 강한 기업을 의미합니다.</a:t>
            </a:r>
            <a:endParaRPr lang="en-US" sz="720" dirty="0"/>
          </a:p>
        </p:txBody>
      </p:sp>
      <p:sp>
        <p:nvSpPr>
          <p:cNvPr id="31" name="Text 26"/>
          <p:cNvSpPr/>
          <p:nvPr/>
        </p:nvSpPr>
        <p:spPr>
          <a:xfrm>
            <a:off x="11137392" y="6446520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unzip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FAFAFA"/>
          </a:solidFill>
          <a:ln w="762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164592" y="146304"/>
            <a:ext cx="73152" cy="73152"/>
          </a:xfrm>
          <a:prstGeom prst="ellipse">
            <a:avLst/>
          </a:prstGeom>
          <a:solidFill>
            <a:srgbClr val="FF61D7"/>
          </a:solidFill>
          <a:ln w="12700">
            <a:solidFill>
              <a:srgbClr val="FF61D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29184" y="146304"/>
            <a:ext cx="73152" cy="73152"/>
          </a:xfrm>
          <a:prstGeom prst="ellipse">
            <a:avLst/>
          </a:prstGeom>
          <a:solidFill>
            <a:srgbClr val="FFD82F"/>
          </a:solidFill>
          <a:ln w="12700">
            <a:solidFill>
              <a:srgbClr val="FFD8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93776" y="146304"/>
            <a:ext cx="73152" cy="73152"/>
          </a:xfrm>
          <a:prstGeom prst="ellipse">
            <a:avLst/>
          </a:prstGeom>
          <a:solidFill>
            <a:srgbClr val="38E556"/>
          </a:solidFill>
          <a:ln w="12700">
            <a:solidFill>
              <a:srgbClr val="38E55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/mnt/data/template_unzip/ppt/media/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749808"/>
            <a:ext cx="512064" cy="4297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874520" y="658368"/>
            <a:ext cx="8458200" cy="676656"/>
          </a:xfrm>
          <a:prstGeom prst="roundRect">
            <a:avLst>
              <a:gd name="adj" fmla="val 22973"/>
            </a:avLst>
          </a:prstGeom>
          <a:solidFill>
            <a:srgbClr val="95F7A7"/>
          </a:solidFill>
          <a:ln w="15240">
            <a:solidFill>
              <a:srgbClr val="95F7A7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2103120" y="804672"/>
            <a:ext cx="8001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결론: 기회가 올 때 잡을 수 있는 사람</a:t>
            </a:r>
            <a:endParaRPr lang="en-US" sz="2500" dirty="0"/>
          </a:p>
        </p:txBody>
      </p:sp>
      <p:pic>
        <p:nvPicPr>
          <p:cNvPr id="10" name="Image 2" descr="/mnt/data/template_unzip/ppt/media/image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8440" y="941832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1435608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B2B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정답을 먼저 찾기보다, 나의 강점과 지역의 기회를 연결할 준비가 필요합니다.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3429000" y="3182112"/>
            <a:ext cx="1188720" cy="0"/>
          </a:xfrm>
          <a:prstGeom prst="line">
            <a:avLst/>
          </a:prstGeom>
          <a:noFill/>
          <a:ln w="15240">
            <a:solidFill>
              <a:srgbClr val="B7B7B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7562088" y="3182112"/>
            <a:ext cx="1188720" cy="0"/>
          </a:xfrm>
          <a:prstGeom prst="line">
            <a:avLst/>
          </a:prstGeom>
          <a:noFill/>
          <a:ln w="15240">
            <a:solidFill>
              <a:srgbClr val="B7B7B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896112" y="2139696"/>
            <a:ext cx="2880360" cy="2724912"/>
          </a:xfrm>
          <a:prstGeom prst="roundRect">
            <a:avLst>
              <a:gd name="adj" fmla="val 2349"/>
            </a:avLst>
          </a:prstGeom>
          <a:solidFill>
            <a:srgbClr val="FFF3B8"/>
          </a:solidFill>
          <a:ln w="11430">
            <a:solidFill>
              <a:srgbClr val="D0D0D0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1828800" y="239572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/>
          <p:nvPr/>
        </p:nvSpPr>
        <p:spPr>
          <a:xfrm>
            <a:off x="1828800" y="2468880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1단계</a:t>
            </a:r>
            <a:endParaRPr lang="en-US" sz="1020" dirty="0"/>
          </a:p>
        </p:txBody>
      </p:sp>
      <p:sp>
        <p:nvSpPr>
          <p:cNvPr id="17" name="Text 12"/>
          <p:cNvSpPr/>
          <p:nvPr/>
        </p:nvSpPr>
        <p:spPr>
          <a:xfrm>
            <a:off x="1280160" y="29626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나를 파악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1280160" y="3602736"/>
            <a:ext cx="2084832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잘하는지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오래 할 수 있는지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배우고 싶은지 적어보기</a:t>
            </a:r>
            <a:endParaRPr lang="en-US" sz="1280" dirty="0"/>
          </a:p>
        </p:txBody>
      </p:sp>
      <p:sp>
        <p:nvSpPr>
          <p:cNvPr id="19" name="Shape 14"/>
          <p:cNvSpPr/>
          <p:nvPr/>
        </p:nvSpPr>
        <p:spPr>
          <a:xfrm>
            <a:off x="4965192" y="2139696"/>
            <a:ext cx="2880360" cy="2724912"/>
          </a:xfrm>
          <a:prstGeom prst="roundRect">
            <a:avLst>
              <a:gd name="adj" fmla="val 2349"/>
            </a:avLst>
          </a:prstGeom>
          <a:solidFill>
            <a:srgbClr val="D6ECFF"/>
          </a:solidFill>
          <a:ln w="11430">
            <a:solidFill>
              <a:srgbClr val="D0D0D0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5897880" y="239572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/>
          <p:cNvSpPr/>
          <p:nvPr/>
        </p:nvSpPr>
        <p:spPr>
          <a:xfrm>
            <a:off x="5897880" y="2468880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2단계</a:t>
            </a:r>
            <a:endParaRPr lang="en-US" sz="1020" dirty="0"/>
          </a:p>
        </p:txBody>
      </p:sp>
      <p:sp>
        <p:nvSpPr>
          <p:cNvPr id="22" name="Text 17"/>
          <p:cNvSpPr/>
          <p:nvPr/>
        </p:nvSpPr>
        <p:spPr>
          <a:xfrm>
            <a:off x="5349240" y="29626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기회를 관찰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5349240" y="3602736"/>
            <a:ext cx="2084832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지역기업, 산업 변화,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활용 사례, 해외 시장 흐름을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꾸준히 살펴보기</a:t>
            </a:r>
            <a:endParaRPr lang="en-US" sz="1280" dirty="0"/>
          </a:p>
        </p:txBody>
      </p:sp>
      <p:sp>
        <p:nvSpPr>
          <p:cNvPr id="24" name="Shape 19"/>
          <p:cNvSpPr/>
          <p:nvPr/>
        </p:nvSpPr>
        <p:spPr>
          <a:xfrm>
            <a:off x="9034272" y="2139696"/>
            <a:ext cx="2880360" cy="2724912"/>
          </a:xfrm>
          <a:prstGeom prst="roundRect">
            <a:avLst>
              <a:gd name="adj" fmla="val 2349"/>
            </a:avLst>
          </a:prstGeom>
          <a:solidFill>
            <a:srgbClr val="F8C9F7"/>
          </a:solidFill>
          <a:ln w="11430">
            <a:solidFill>
              <a:srgbClr val="D0D0D0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9966960" y="239572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/>
          <p:nvPr/>
        </p:nvSpPr>
        <p:spPr>
          <a:xfrm>
            <a:off x="9966960" y="2468880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3단계</a:t>
            </a:r>
            <a:endParaRPr lang="en-US" sz="1020" dirty="0"/>
          </a:p>
        </p:txBody>
      </p:sp>
      <p:sp>
        <p:nvSpPr>
          <p:cNvPr id="27" name="Text 22"/>
          <p:cNvSpPr/>
          <p:nvPr/>
        </p:nvSpPr>
        <p:spPr>
          <a:xfrm>
            <a:off x="9418320" y="29626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작게 실행</a:t>
            </a:r>
            <a:endParaRPr lang="en-US" sz="2000" dirty="0"/>
          </a:p>
        </p:txBody>
      </p:sp>
      <p:sp>
        <p:nvSpPr>
          <p:cNvPr id="28" name="Text 23"/>
          <p:cNvSpPr/>
          <p:nvPr/>
        </p:nvSpPr>
        <p:spPr>
          <a:xfrm>
            <a:off x="9418320" y="3602736"/>
            <a:ext cx="2084832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프로젝트, 인턴, 공모전,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창업 실험처럼 작은 결과물을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계속 만들어 보기</a:t>
            </a:r>
            <a:endParaRPr lang="en-US" sz="1280" dirty="0"/>
          </a:p>
        </p:txBody>
      </p:sp>
      <p:sp>
        <p:nvSpPr>
          <p:cNvPr id="29" name="Shape 24"/>
          <p:cNvSpPr/>
          <p:nvPr/>
        </p:nvSpPr>
        <p:spPr>
          <a:xfrm>
            <a:off x="1170432" y="5440680"/>
            <a:ext cx="9857232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1430">
            <a:solidFill>
              <a:srgbClr val="D7D7D7"/>
            </a:solidFill>
            <a:prstDash val="solid"/>
          </a:ln>
          <a:effectLst>
            <a:outerShdw algn="bl" rotWithShape="0">
              <a:srgbClr val="777777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/>
          <p:nvPr/>
        </p:nvSpPr>
        <p:spPr>
          <a:xfrm>
            <a:off x="1591056" y="5678424"/>
            <a:ext cx="89976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마지막 메시지: 과거보다 중요한 것은 “스펙을 많이 쌓는 것”보다, 기회를 알아보고 실행할 수 있는 능력과 시야입니다.</a:t>
            </a:r>
            <a:endParaRPr lang="en-US" sz="1380" dirty="0"/>
          </a:p>
        </p:txBody>
      </p:sp>
      <p:sp>
        <p:nvSpPr>
          <p:cNvPr id="31" name="Text 26"/>
          <p:cNvSpPr/>
          <p:nvPr/>
        </p:nvSpPr>
        <p:spPr>
          <a:xfrm>
            <a:off x="585216" y="6473952"/>
            <a:ext cx="10012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7B7B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참고자료: 한국고용정보원(2023), 대한상공회의소(2023), World Economic Forum(2025), 농림축산식품부(2026).</a:t>
            </a:r>
            <a:endParaRPr lang="en-US" sz="720" dirty="0"/>
          </a:p>
        </p:txBody>
      </p:sp>
      <p:sp>
        <p:nvSpPr>
          <p:cNvPr id="32" name="Text 27"/>
          <p:cNvSpPr/>
          <p:nvPr/>
        </p:nvSpPr>
        <p:spPr>
          <a:xfrm>
            <a:off x="11137392" y="6446520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1102</Words>
  <Application>Microsoft Macintosh PowerPoint</Application>
  <PresentationFormat>와이드스크린</PresentationFormat>
  <Paragraphs>180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Noto Sans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대구가톨릭대학교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지역정주 인재 양성을 위한 지역 전문가 특강</dc:title>
  <dc:subject>지역정주 인재 양성을 위한 지역 전문가 특강</dc:subject>
  <dc:creator>OpenAI</dc:creator>
  <cp:lastModifiedBy>박준영</cp:lastModifiedBy>
  <cp:revision>2</cp:revision>
  <dcterms:created xsi:type="dcterms:W3CDTF">2026-05-20T05:23:38Z</dcterms:created>
  <dcterms:modified xsi:type="dcterms:W3CDTF">2026-05-20T05:29:47Z</dcterms:modified>
</cp:coreProperties>
</file>