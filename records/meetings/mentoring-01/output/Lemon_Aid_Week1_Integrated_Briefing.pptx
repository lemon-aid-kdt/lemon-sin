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75" r:id="rId12"/>
    <p:sldId id="265" r:id="rId13"/>
    <p:sldId id="266" r:id="rId14"/>
    <p:sldId id="267" r:id="rId15"/>
    <p:sldId id="276" r:id="rId16"/>
    <p:sldId id="268" r:id="rId17"/>
    <p:sldId id="269" r:id="rId18"/>
    <p:sldId id="270" r:id="rId19"/>
    <p:sldId id="277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/>
    <p:restoredTop sz="94690"/>
  </p:normalViewPr>
  <p:slideViewPr>
    <p:cSldViewPr snapToGrid="0">
      <p:cViewPr varScale="1">
        <p:scale>
          <a:sx n="99" d="100"/>
          <a:sy n="99" d="100"/>
        </p:scale>
        <p:origin x="208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0088412-2ED2-405B-8C49-BC11E41E10ED}"/>
              </a:ext>
            </a:extLst>
          </p:cNvPr>
          <p:cNvSpPr>
            <a:spLocks noGrp="1"/>
          </p:cNvSpPr>
          <p:nvPr/>
        </p:nvSpPr>
        <p:spPr>
          <a:xfrm>
            <a:off x="0" y="279699"/>
            <a:ext cx="12192000" cy="6858000"/>
          </a:xfrm>
          <a:prstGeom prst="rect">
            <a:avLst/>
          </a:prstGeom>
          <a:solidFill>
            <a:srgbClr val="FFFDF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28A838-1979-477C-B4D9-136A1DC456B3}"/>
              </a:ext>
            </a:extLst>
          </p:cNvPr>
          <p:cNvSpPr>
            <a:spLocks noGrp="1"/>
          </p:cNvSpPr>
          <p:nvPr/>
        </p:nvSpPr>
        <p:spPr>
          <a:xfrm>
            <a:off x="895350" y="12001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 · WEEK 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868127-9F52-460A-9E97-CC989DCA643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68580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레몬에이드</a:t>
            </a:r>
            <a:endParaRPr sz="4350" b="1" dirty="0">
              <a:solidFill>
                <a:srgbClr val="5080F8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4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 dirty="0">
                <a:latin typeface="Apple SD Gothic Neo"/>
                <a:ea typeface="Apple SD Gothic Neo"/>
                <a:cs typeface="Apple SD Gothic Neo"/>
              </a:rPr>
              <a:t>1주차 </a:t>
            </a:r>
            <a:r>
              <a:rPr sz="4350" b="1" dirty="0" err="1">
                <a:latin typeface="Apple SD Gothic Neo"/>
                <a:ea typeface="Apple SD Gothic Neo"/>
                <a:cs typeface="Apple SD Gothic Neo"/>
              </a:rPr>
              <a:t>통합</a:t>
            </a:r>
            <a:r>
              <a:rPr sz="4350" b="1" dirty="0"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4350" b="1" dirty="0" err="1">
                <a:latin typeface="Apple SD Gothic Neo"/>
                <a:ea typeface="Apple SD Gothic Neo"/>
                <a:cs typeface="Apple SD Gothic Neo"/>
              </a:rPr>
              <a:t>브리핑</a:t>
            </a:r>
            <a:endParaRPr sz="4350" b="1" dirty="0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67CC79-9679-4923-BF19-A6880C958B68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UX · 음식 비전 · 알고리즘 · DB/백엔드 결과를 한 흐름으로 묶은 발표 자료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5B4140-D1A1-4A4C-AE78-4C7A005DE150}"/>
              </a:ext>
            </a:extLst>
          </p:cNvPr>
          <p:cNvSpPr>
            <a:spLocks noGrp="1"/>
          </p:cNvSpPr>
          <p:nvPr/>
        </p:nvSpPr>
        <p:spPr>
          <a:xfrm>
            <a:off x="914399" y="5305424"/>
            <a:ext cx="6131859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dirty="0" err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일자</a:t>
            </a:r>
            <a:r>
              <a:rPr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 2026.05.13 (</a:t>
            </a:r>
            <a:r>
              <a:rPr sz="1125" b="1" dirty="0" err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)        </a:t>
            </a:r>
            <a:r>
              <a:rPr lang="ko-KR" altLang="en-US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담당 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ko-KR" altLang="en-US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 김태동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(UIUX), </a:t>
            </a:r>
            <a:r>
              <a:rPr lang="ko-KR" altLang="en-US" sz="1125" b="1" dirty="0" err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문종필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125" b="1" dirty="0" err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백엔드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),</a:t>
            </a:r>
            <a:r>
              <a:rPr lang="ko-KR" altLang="en-US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 박성훈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(DB), </a:t>
            </a:r>
            <a:r>
              <a:rPr lang="ko-KR" altLang="en-US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박준영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125" b="1" dirty="0" err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백엔드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),</a:t>
            </a:r>
            <a:r>
              <a:rPr lang="ko-KR" altLang="en-US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 이창민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기획</a:t>
            </a:r>
            <a:r>
              <a:rPr lang="en-US" altLang="ko-KR" sz="1125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sz="1125" b="1" dirty="0">
              <a:solidFill>
                <a:srgbClr val="11182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C2823A-76A1-4C8C-8E55-2365D9D0DA7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46DAA2-AD09-4802-83F4-55A7D04066F9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4397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icker-marker">
            <a:extLst>
              <a:ext uri="{FF2B5EF4-FFF2-40B4-BE49-F238E27FC236}">
                <a16:creationId xmlns:a16="http://schemas.microsoft.com/office/drawing/2014/main" id="{2CC9D7B4-578A-4C8C-841A-062C4E385E94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443149B1-11BB-4948-B9A6-CB7AFF1E730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1주차 핵심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15D4D4-1951-44CE-9EBE-50820D87E20F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기능 완성이 아니라, 파트 간 연결 규칙을 정했다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A79463-85B1-4062-AC45-51CC20B21A84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각 파트가 따로 문서를 만든 것이 아니라 다음 주 구현 기준을 미리 맞춘 한 주.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243559-4176-489A-A471-919A1C6FE72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614613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47A922-CFDE-4F42-A2FD-C29C8DD10C58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215741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170F61-42C4-4DFA-8AE7-492EBB009D4D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21574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UX 화면 뼈대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0AF660-8985-4196-927A-3277B5D945BE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2157413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Splash · Login · Signup · Verify · Consent · Onboarding · Dashboard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6606B2-6213-4FBB-8EBF-8103EEAD01E4}"/>
              </a:ext>
            </a:extLst>
          </p:cNvPr>
          <p:cNvSpPr>
            <a:spLocks noGrp="1"/>
          </p:cNvSpPr>
          <p:nvPr/>
        </p:nvSpPr>
        <p:spPr>
          <a:xfrm>
            <a:off x="3395663" y="2381250"/>
            <a:ext cx="2614613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F202E4-E0FF-468C-9D41-0338BE34C487}"/>
              </a:ext>
            </a:extLst>
          </p:cNvPr>
          <p:cNvSpPr>
            <a:spLocks noGrp="1"/>
          </p:cNvSpPr>
          <p:nvPr/>
        </p:nvSpPr>
        <p:spPr>
          <a:xfrm>
            <a:off x="3624263" y="2590800"/>
            <a:ext cx="215741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100g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440E46-C6B9-445A-8BC3-D9AB6D5E1064}"/>
              </a:ext>
            </a:extLst>
          </p:cNvPr>
          <p:cNvSpPr>
            <a:spLocks noGrp="1"/>
          </p:cNvSpPr>
          <p:nvPr/>
        </p:nvSpPr>
        <p:spPr>
          <a:xfrm>
            <a:off x="3624263" y="3124200"/>
            <a:ext cx="21574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음식 기본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3C4C85-984C-4AD6-B4E0-FE204D8E7DB9}"/>
              </a:ext>
            </a:extLst>
          </p:cNvPr>
          <p:cNvSpPr>
            <a:spLocks noGrp="1"/>
          </p:cNvSpPr>
          <p:nvPr/>
        </p:nvSpPr>
        <p:spPr>
          <a:xfrm>
            <a:off x="3624263" y="3352800"/>
            <a:ext cx="2157413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사진만으로 양을 단정하지 않고 기본 영양 프로필부터 제공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17B79F-96DC-43CE-B7D2-E71FE6DDB99E}"/>
              </a:ext>
            </a:extLst>
          </p:cNvPr>
          <p:cNvSpPr>
            <a:spLocks noGrp="1"/>
          </p:cNvSpPr>
          <p:nvPr/>
        </p:nvSpPr>
        <p:spPr>
          <a:xfrm>
            <a:off x="6181725" y="2381250"/>
            <a:ext cx="2614613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0A8FD2-C94C-4B2B-AF00-752063E7C471}"/>
              </a:ext>
            </a:extLst>
          </p:cNvPr>
          <p:cNvSpPr>
            <a:spLocks noGrp="1"/>
          </p:cNvSpPr>
          <p:nvPr/>
        </p:nvSpPr>
        <p:spPr>
          <a:xfrm>
            <a:off x="6410325" y="2590800"/>
            <a:ext cx="215741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rPr>
              <a:t>2층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9303B4-E522-49E2-942D-F9981BD06534}"/>
              </a:ext>
            </a:extLst>
          </p:cNvPr>
          <p:cNvSpPr>
            <a:spLocks noGrp="1"/>
          </p:cNvSpPr>
          <p:nvPr/>
        </p:nvSpPr>
        <p:spPr>
          <a:xfrm>
            <a:off x="6410325" y="3124200"/>
            <a:ext cx="21574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알고리즘 규칙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D807DB-AF63-4E53-AEF5-113C2A183B4D}"/>
              </a:ext>
            </a:extLst>
          </p:cNvPr>
          <p:cNvSpPr>
            <a:spLocks noGrp="1"/>
          </p:cNvSpPr>
          <p:nvPr/>
        </p:nvSpPr>
        <p:spPr>
          <a:xfrm>
            <a:off x="6410325" y="3352800"/>
            <a:ext cx="2157413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공식 계산식과 운영 규칙을 분리해 검증 가능하게 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6EAD86-972E-4F5A-A647-DCE305374A69}"/>
              </a:ext>
            </a:extLst>
          </p:cNvPr>
          <p:cNvSpPr>
            <a:spLocks noGrp="1"/>
          </p:cNvSpPr>
          <p:nvPr/>
        </p:nvSpPr>
        <p:spPr>
          <a:xfrm>
            <a:off x="8967788" y="2381250"/>
            <a:ext cx="2614613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7E908C-837A-4D4B-85A8-54E99FDCA00B}"/>
              </a:ext>
            </a:extLst>
          </p:cNvPr>
          <p:cNvSpPr>
            <a:spLocks noGrp="1"/>
          </p:cNvSpPr>
          <p:nvPr/>
        </p:nvSpPr>
        <p:spPr>
          <a:xfrm>
            <a:off x="9196388" y="2590800"/>
            <a:ext cx="215741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7353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353D8"/>
                </a:solidFill>
                <a:latin typeface="Apple SD Gothic Neo"/>
                <a:ea typeface="Apple SD Gothic Neo"/>
                <a:cs typeface="Apple SD Gothic Neo"/>
              </a:rPr>
              <a:t>user_id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E0EB11-1221-4C9F-A6B4-AED71C89EE37}"/>
              </a:ext>
            </a:extLst>
          </p:cNvPr>
          <p:cNvSpPr>
            <a:spLocks noGrp="1"/>
          </p:cNvSpPr>
          <p:nvPr/>
        </p:nvSpPr>
        <p:spPr>
          <a:xfrm>
            <a:off x="9196388" y="3124200"/>
            <a:ext cx="21574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데이터 연결키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2F9874-0193-450C-946E-9A144CB24A97}"/>
              </a:ext>
            </a:extLst>
          </p:cNvPr>
          <p:cNvSpPr>
            <a:spLocks noGrp="1"/>
          </p:cNvSpPr>
          <p:nvPr/>
        </p:nvSpPr>
        <p:spPr>
          <a:xfrm>
            <a:off x="9196388" y="3352800"/>
            <a:ext cx="2157413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기록, 분석 결과, Agent Memory를 사용자 기준으로 연결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956B7A-4A78-4AE1-A1F4-D8C812979D93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2614613" cy="81915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834E29-EA5A-4F96-A6E3-0538B60A51B8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UX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CC5F3C-1845-4FA7-BDC3-38A174F91F07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22717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멈춤 지점과 결과 카드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B142C9-8F4D-4AFF-9225-1DC6CC6D0D00}"/>
              </a:ext>
            </a:extLst>
          </p:cNvPr>
          <p:cNvSpPr>
            <a:spLocks noGrp="1"/>
          </p:cNvSpPr>
          <p:nvPr/>
        </p:nvSpPr>
        <p:spPr>
          <a:xfrm>
            <a:off x="3395663" y="4210050"/>
            <a:ext cx="2614613" cy="819150"/>
          </a:xfrm>
          <a:prstGeom prst="rect">
            <a:avLst/>
          </a:prstGeom>
          <a:solidFill>
            <a:srgbClr val="FFF8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F0BA132-F9FE-4C77-AB1A-81208F0456B4}"/>
              </a:ext>
            </a:extLst>
          </p:cNvPr>
          <p:cNvSpPr>
            <a:spLocks noGrp="1"/>
          </p:cNvSpPr>
          <p:nvPr/>
        </p:nvSpPr>
        <p:spPr>
          <a:xfrm>
            <a:off x="3567113" y="44005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VISION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6EBF23-F089-4499-AF5D-A9E55CC0177D}"/>
              </a:ext>
            </a:extLst>
          </p:cNvPr>
          <p:cNvSpPr>
            <a:spLocks noGrp="1"/>
          </p:cNvSpPr>
          <p:nvPr/>
        </p:nvSpPr>
        <p:spPr>
          <a:xfrm>
            <a:off x="3567113" y="4667250"/>
            <a:ext cx="22717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후보·100g·검토 플래그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0760E31-CE0D-4F35-88AA-86E042BB1371}"/>
              </a:ext>
            </a:extLst>
          </p:cNvPr>
          <p:cNvSpPr>
            <a:spLocks noGrp="1"/>
          </p:cNvSpPr>
          <p:nvPr/>
        </p:nvSpPr>
        <p:spPr>
          <a:xfrm>
            <a:off x="6181725" y="4210050"/>
            <a:ext cx="2614613" cy="819150"/>
          </a:xfrm>
          <a:prstGeom prst="rect">
            <a:avLst/>
          </a:prstGeom>
          <a:solidFill>
            <a:srgbClr val="ECFAF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7712D2-57C7-446E-ABC1-51AE2A5F5801}"/>
              </a:ext>
            </a:extLst>
          </p:cNvPr>
          <p:cNvSpPr>
            <a:spLocks noGrp="1"/>
          </p:cNvSpPr>
          <p:nvPr/>
        </p:nvSpPr>
        <p:spPr>
          <a:xfrm>
            <a:off x="6353175" y="44005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rPr>
              <a:t>ALGO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85341C2-8855-4CAB-8456-2A4023AD5113}"/>
              </a:ext>
            </a:extLst>
          </p:cNvPr>
          <p:cNvSpPr>
            <a:spLocks noGrp="1"/>
          </p:cNvSpPr>
          <p:nvPr/>
        </p:nvSpPr>
        <p:spPr>
          <a:xfrm>
            <a:off x="6353175" y="4667250"/>
            <a:ext cx="22717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공식 근거와 preview 승인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32285A-B7FD-479D-BA06-D43558C8FBDD}"/>
              </a:ext>
            </a:extLst>
          </p:cNvPr>
          <p:cNvSpPr>
            <a:spLocks noGrp="1"/>
          </p:cNvSpPr>
          <p:nvPr/>
        </p:nvSpPr>
        <p:spPr>
          <a:xfrm>
            <a:off x="8967788" y="4210050"/>
            <a:ext cx="2614613" cy="819150"/>
          </a:xfrm>
          <a:prstGeom prst="rect">
            <a:avLst/>
          </a:prstGeom>
          <a:solidFill>
            <a:srgbClr val="F1ED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8C28D35-4BFC-4025-A29F-A41AB323BA52}"/>
              </a:ext>
            </a:extLst>
          </p:cNvPr>
          <p:cNvSpPr>
            <a:spLocks noGrp="1"/>
          </p:cNvSpPr>
          <p:nvPr/>
        </p:nvSpPr>
        <p:spPr>
          <a:xfrm>
            <a:off x="9139238" y="44005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353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353D8"/>
                </a:solidFill>
                <a:latin typeface="Apple SD Gothic Neo"/>
                <a:ea typeface="Apple SD Gothic Neo"/>
                <a:cs typeface="Apple SD Gothic Neo"/>
              </a:rPr>
              <a:t>BACKEND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37BA392-CDB3-477B-8F6C-C2433F87114C}"/>
              </a:ext>
            </a:extLst>
          </p:cNvPr>
          <p:cNvSpPr>
            <a:spLocks noGrp="1"/>
          </p:cNvSpPr>
          <p:nvPr/>
        </p:nvSpPr>
        <p:spPr>
          <a:xfrm>
            <a:off x="9139238" y="4667250"/>
            <a:ext cx="227171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저장·검증·최소 전달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5CB906-776D-47A7-9628-EE080DEF596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CC30B53-8466-4871-97DF-6E7E3B6D8C34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172144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marker">
            <a:extLst>
              <a:ext uri="{FF2B5EF4-FFF2-40B4-BE49-F238E27FC236}">
                <a16:creationId xmlns:a16="http://schemas.microsoft.com/office/drawing/2014/main" id="{B666146F-E46A-464A-9F12-BF0D1677FF7F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34C50798-F40B-45B5-BA26-74A9CFD7A9B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서비스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9D67A0-4C30-46CF-97CD-D5E3E27FAC5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음식·영양제 입력이 건강관리 피드백으로 이어진다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1134DA-0E64-4138-8287-E460828052D2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한눈에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보아도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이해할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있도록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피드백의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책임을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분리했다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E52B85-EF65-4CE2-81E2-274F9683BEA7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943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E3156D-8D7B-4830-91F5-7D8B20CA8E15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1. 입력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96F647-5D25-4445-A6D4-CCA5222C6BDD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사진·텍스트·라벨 OCR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사용자가 가장 빨리 남길 수 있는 형태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464FA8-E38F-482F-B2DB-7AAF43B3C0E6}"/>
              </a:ext>
            </a:extLst>
          </p:cNvPr>
          <p:cNvSpPr>
            <a:spLocks noGrp="1"/>
          </p:cNvSpPr>
          <p:nvPr/>
        </p:nvSpPr>
        <p:spPr>
          <a:xfrm>
            <a:off x="264795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90BFD8-E0D7-4FCE-B750-B6E6E3545266}"/>
              </a:ext>
            </a:extLst>
          </p:cNvPr>
          <p:cNvSpPr>
            <a:spLocks noGrp="1"/>
          </p:cNvSpPr>
          <p:nvPr/>
        </p:nvSpPr>
        <p:spPr>
          <a:xfrm>
            <a:off x="2800350" y="2571750"/>
            <a:ext cx="1943100" cy="15240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948661-E285-46CC-9FC6-701A8E7E79B0}"/>
              </a:ext>
            </a:extLst>
          </p:cNvPr>
          <p:cNvSpPr>
            <a:spLocks noGrp="1"/>
          </p:cNvSpPr>
          <p:nvPr/>
        </p:nvSpPr>
        <p:spPr>
          <a:xfrm>
            <a:off x="297180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2. 후보화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0E1092-0D0A-4AD2-AA5B-D61E6B40DB72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음식 후보·영양제 성분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AI는 확정이 아니라 후보를 정리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83F01C-6013-4A00-A94D-152CCBE25DFB}"/>
              </a:ext>
            </a:extLst>
          </p:cNvPr>
          <p:cNvSpPr>
            <a:spLocks noGrp="1"/>
          </p:cNvSpPr>
          <p:nvPr/>
        </p:nvSpPr>
        <p:spPr>
          <a:xfrm>
            <a:off x="483870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741FA1-A663-45C8-8BF0-78521CDE4855}"/>
              </a:ext>
            </a:extLst>
          </p:cNvPr>
          <p:cNvSpPr>
            <a:spLocks noGrp="1"/>
          </p:cNvSpPr>
          <p:nvPr/>
        </p:nvSpPr>
        <p:spPr>
          <a:xfrm>
            <a:off x="4991100" y="2571750"/>
            <a:ext cx="1943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D25B93-6F22-4BB6-975B-D0885E698903}"/>
              </a:ext>
            </a:extLst>
          </p:cNvPr>
          <p:cNvSpPr>
            <a:spLocks noGrp="1"/>
          </p:cNvSpPr>
          <p:nvPr/>
        </p:nvSpPr>
        <p:spPr>
          <a:xfrm>
            <a:off x="516255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3. 기준 매칭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1B1A4A-2A74-4756-90EF-1ACAE94C13FF}"/>
              </a:ext>
            </a:extLst>
          </p:cNvPr>
          <p:cNvSpPr>
            <a:spLocks noGrp="1"/>
          </p:cNvSpPr>
          <p:nvPr/>
        </p:nvSpPr>
        <p:spPr>
          <a:xfrm>
            <a:off x="516255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공식 영양 DB·KDRIs·계산식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근거 있는 값과 운영값을 분리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C96396-6C12-44DB-9F7E-B5017683746D}"/>
              </a:ext>
            </a:extLst>
          </p:cNvPr>
          <p:cNvSpPr>
            <a:spLocks noGrp="1"/>
          </p:cNvSpPr>
          <p:nvPr/>
        </p:nvSpPr>
        <p:spPr>
          <a:xfrm>
            <a:off x="702945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0B0DC5-2AA9-4304-AAF2-8ED61E581F3F}"/>
              </a:ext>
            </a:extLst>
          </p:cNvPr>
          <p:cNvSpPr>
            <a:spLocks noGrp="1"/>
          </p:cNvSpPr>
          <p:nvPr/>
        </p:nvSpPr>
        <p:spPr>
          <a:xfrm>
            <a:off x="7181850" y="2571750"/>
            <a:ext cx="1943100" cy="15240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EC91F0-9BF8-48B2-96BA-9BD246475A17}"/>
              </a:ext>
            </a:extLst>
          </p:cNvPr>
          <p:cNvSpPr>
            <a:spLocks noGrp="1"/>
          </p:cNvSpPr>
          <p:nvPr/>
        </p:nvSpPr>
        <p:spPr>
          <a:xfrm>
            <a:off x="735330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4. 안전 저장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282E21-1FF0-4A57-A1DE-28FB0123701C}"/>
              </a:ext>
            </a:extLst>
          </p:cNvPr>
          <p:cNvSpPr>
            <a:spLocks noGrp="1"/>
          </p:cNvSpPr>
          <p:nvPr/>
        </p:nvSpPr>
        <p:spPr>
          <a:xfrm>
            <a:off x="735330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user_id·snapshot·preview 상태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나중에 같은 결과를 재현 가능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EF06BC-28B1-4F5D-B65D-DC517C162D4A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D41CA7-38E4-46C9-84ED-6A37C982ADFC}"/>
              </a:ext>
            </a:extLst>
          </p:cNvPr>
          <p:cNvSpPr>
            <a:spLocks noGrp="1"/>
          </p:cNvSpPr>
          <p:nvPr/>
        </p:nvSpPr>
        <p:spPr>
          <a:xfrm>
            <a:off x="9372600" y="2571750"/>
            <a:ext cx="1943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4A3FB6-BA5F-4067-8C35-DCCBF7E91037}"/>
              </a:ext>
            </a:extLst>
          </p:cNvPr>
          <p:cNvSpPr>
            <a:spLocks noGrp="1"/>
          </p:cNvSpPr>
          <p:nvPr/>
        </p:nvSpPr>
        <p:spPr>
          <a:xfrm>
            <a:off x="954405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5. 피드백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2F118E-7B4F-4E15-90AD-F57FE05AEDB0}"/>
              </a:ext>
            </a:extLst>
          </p:cNvPr>
          <p:cNvSpPr>
            <a:spLocks noGrp="1"/>
          </p:cNvSpPr>
          <p:nvPr/>
        </p:nvSpPr>
        <p:spPr>
          <a:xfrm>
            <a:off x="954405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결과 카드·수정·다음 행동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사용자가 이해하고 고친 뒤 저장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EBB261C-7A99-42D6-8B41-114A87DC844E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972800" cy="552450"/>
          </a:xfrm>
          <a:prstGeom prst="rect">
            <a:avLst/>
          </a:prstGeom>
          <a:solidFill>
            <a:srgbClr val="FFF8E8"/>
          </a:solidFill>
          <a:ln w="9525">
            <a:solidFill>
              <a:srgbClr val="F3D8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F9E6AD-690B-43D5-AB22-70D49F4C6D22}"/>
              </a:ext>
            </a:extLst>
          </p:cNvPr>
          <p:cNvSpPr>
            <a:spLocks noGrp="1"/>
          </p:cNvSpPr>
          <p:nvPr/>
        </p:nvSpPr>
        <p:spPr>
          <a:xfrm>
            <a:off x="838200" y="4876800"/>
            <a:ext cx="1051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핵심은 AI가 건강 판단을 대신하는 것이 아니라, 사용자가 확인 가능한 흐름을 만드는 것.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F72A18A-0096-4946-B3A8-A7D1B2DCA66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9D02CC-80ED-4DC4-A535-B00D47EE37B7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03 / 22</a:t>
            </a:r>
          </a:p>
        </p:txBody>
      </p:sp>
    </p:spTree>
    <p:extLst>
      <p:ext uri="{BB962C8B-B14F-4D97-AF65-F5344CB8AC3E}">
        <p14:creationId xmlns:p14="http://schemas.microsoft.com/office/powerpoint/2010/main" val="165286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-marker">
            <a:extLst>
              <a:ext uri="{FF2B5EF4-FFF2-40B4-BE49-F238E27FC236}">
                <a16:creationId xmlns:a16="http://schemas.microsoft.com/office/drawing/2014/main" id="{452D736C-AF25-4CDE-8C66-5CD8F4A2353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B9F8121-4773-4B1B-893F-D3BCEA72FC1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UX 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CC726E-B1BD-4DFF-B6CD-865C3FE74B2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UX는 예쁜 화면보다 먼저, 사용자가 멈추는 지점을 줄인다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D368D1-FAAF-47B2-B7E9-0B93E0C0B56B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Lemon Aid의 사용자는 긴 설명을 읽는 사람이 아니라 식탁 앞에서 빠르게 기록해야 하는 사람이다.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31CAEB-0BB4-4F5E-AFAF-02F72A114F5A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219700" cy="26670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DF5CF-5E15-4128-8B1B-B2F87AEB67AD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 기준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3A76F0-6712-415F-AAF1-8229D9224063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46863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- 30~50대 만성질환 관심층이 주력, 60대 이상도 함께 고려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한 번 켤 때 30초~2분, 하루 3~5회 사용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식탁 앞, 약통 옆, 운동 직후처럼 손이 바쁜 상황이 기본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A211CB-4B6C-4ECC-93FE-0F976B712DB2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76200" cy="2667000"/>
          </a:xfrm>
          <a:prstGeom prst="rect">
            <a:avLst/>
          </a:prstGeom>
          <a:solidFill>
            <a:srgbClr val="C987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14DE3A-0657-45B0-AE9E-DFD57A5E8798}"/>
              </a:ext>
            </a:extLst>
          </p:cNvPr>
          <p:cNvSpPr>
            <a:spLocks noGrp="1"/>
          </p:cNvSpPr>
          <p:nvPr/>
        </p:nvSpPr>
        <p:spPr>
          <a:xfrm>
            <a:off x="6362700" y="2552700"/>
            <a:ext cx="5219700" cy="26670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4C9100-4DBE-49C3-8CA3-7D498D40C627}"/>
              </a:ext>
            </a:extLst>
          </p:cNvPr>
          <p:cNvSpPr>
            <a:spLocks noGrp="1"/>
          </p:cNvSpPr>
          <p:nvPr/>
        </p:nvSpPr>
        <p:spPr>
          <a:xfrm>
            <a:off x="6591300" y="27622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UX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B40BD5-BE42-43B0-8BCA-91939B68357F}"/>
              </a:ext>
            </a:extLst>
          </p:cNvPr>
          <p:cNvSpPr>
            <a:spLocks noGrp="1"/>
          </p:cNvSpPr>
          <p:nvPr/>
        </p:nvSpPr>
        <p:spPr>
          <a:xfrm>
            <a:off x="6629400" y="3200400"/>
            <a:ext cx="46863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첫 안내는 3단계 안에서 끝낸다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카메라는 한 번에 도달하게 둔다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큰 글씨, 큰 버튼, 높은 색 대비를 기본값으로 둔다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AI·DB·비전 결과는 같은 카드 문법으로 받는다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1B8CE8-A203-4892-88EB-8BD2F7528846}"/>
              </a:ext>
            </a:extLst>
          </p:cNvPr>
          <p:cNvSpPr>
            <a:spLocks noGrp="1"/>
          </p:cNvSpPr>
          <p:nvPr/>
        </p:nvSpPr>
        <p:spPr>
          <a:xfrm>
            <a:off x="6362700" y="2552700"/>
            <a:ext cx="76200" cy="2667000"/>
          </a:xfrm>
          <a:prstGeom prst="rect">
            <a:avLst/>
          </a:prstGeom>
          <a:solidFill>
            <a:srgbClr val="3F6D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A79F1B-EDF8-460C-A3F9-2C15D6E80BD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13E823-C0B6-45F0-BFFA-7EFB9481815E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04 / 22</a:t>
            </a:r>
          </a:p>
        </p:txBody>
      </p:sp>
    </p:spTree>
    <p:extLst>
      <p:ext uri="{BB962C8B-B14F-4D97-AF65-F5344CB8AC3E}">
        <p14:creationId xmlns:p14="http://schemas.microsoft.com/office/powerpoint/2010/main" val="16108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kicker-marker">
            <a:extLst>
              <a:ext uri="{FF2B5EF4-FFF2-40B4-BE49-F238E27FC236}">
                <a16:creationId xmlns:a16="http://schemas.microsoft.com/office/drawing/2014/main" id="{835349F7-E247-4B8F-868E-9583C04F17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0A17EC21-5DD2-460B-8B0E-5266AC8ABF8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UX 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E82184-8032-4130-AA4F-5E53C1EA134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7개 화면은 다음 팀 결과가 들어올 자리를 미리 만든 구조다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B1925B-A5BB-4508-8AF9-7153EA1F8874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최종 디자인이 아니라, 인증·동의·입력·분석 결과가 들어갈 위치를 먼저 고정했다.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F4E181-7A40-4D0C-8940-D41D7E9F5C23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1469571" cy="14287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B83113-D215-44A2-9074-4873CA74442F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12409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S-01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9F6D3E-66EE-4DBA-A009-53B30E43DEEF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317171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Splash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31B4D7-F162-4782-8D6A-D5E1FAE40628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31717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앱 시작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4D33BC-F39A-4969-ADA2-0B0597F16C1E}"/>
              </a:ext>
            </a:extLst>
          </p:cNvPr>
          <p:cNvSpPr>
            <a:spLocks noGrp="1"/>
          </p:cNvSpPr>
          <p:nvPr/>
        </p:nvSpPr>
        <p:spPr>
          <a:xfrm>
            <a:off x="2193471" y="2705100"/>
            <a:ext cx="1469571" cy="14287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53AD25-A23A-4A48-A728-BECBF5418850}"/>
              </a:ext>
            </a:extLst>
          </p:cNvPr>
          <p:cNvSpPr>
            <a:spLocks noGrp="1"/>
          </p:cNvSpPr>
          <p:nvPr/>
        </p:nvSpPr>
        <p:spPr>
          <a:xfrm>
            <a:off x="2307771" y="2914650"/>
            <a:ext cx="12409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S-02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A81DB1-F593-4B91-8127-359C108F5B2D}"/>
              </a:ext>
            </a:extLst>
          </p:cNvPr>
          <p:cNvSpPr>
            <a:spLocks noGrp="1"/>
          </p:cNvSpPr>
          <p:nvPr/>
        </p:nvSpPr>
        <p:spPr>
          <a:xfrm>
            <a:off x="2269671" y="3276600"/>
            <a:ext cx="1317171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Login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D00B89-5084-4ED6-BC49-082C0386FA56}"/>
              </a:ext>
            </a:extLst>
          </p:cNvPr>
          <p:cNvSpPr>
            <a:spLocks noGrp="1"/>
          </p:cNvSpPr>
          <p:nvPr/>
        </p:nvSpPr>
        <p:spPr>
          <a:xfrm>
            <a:off x="2269671" y="3676650"/>
            <a:ext cx="131717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기존 사용자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71240D-556A-4753-A915-1C8783942DE9}"/>
              </a:ext>
            </a:extLst>
          </p:cNvPr>
          <p:cNvSpPr>
            <a:spLocks noGrp="1"/>
          </p:cNvSpPr>
          <p:nvPr/>
        </p:nvSpPr>
        <p:spPr>
          <a:xfrm>
            <a:off x="3777343" y="2705100"/>
            <a:ext cx="1469571" cy="14287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85CAD-533F-4AA6-B47F-E8685522BBB2}"/>
              </a:ext>
            </a:extLst>
          </p:cNvPr>
          <p:cNvSpPr>
            <a:spLocks noGrp="1"/>
          </p:cNvSpPr>
          <p:nvPr/>
        </p:nvSpPr>
        <p:spPr>
          <a:xfrm>
            <a:off x="3891643" y="2914650"/>
            <a:ext cx="12409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S-03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17E067-A70B-4586-BA6D-E92838C3D46F}"/>
              </a:ext>
            </a:extLst>
          </p:cNvPr>
          <p:cNvSpPr>
            <a:spLocks noGrp="1"/>
          </p:cNvSpPr>
          <p:nvPr/>
        </p:nvSpPr>
        <p:spPr>
          <a:xfrm>
            <a:off x="3853543" y="3276600"/>
            <a:ext cx="1317171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Signup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6EAB006-C836-421B-B3F2-748D02F61E26}"/>
              </a:ext>
            </a:extLst>
          </p:cNvPr>
          <p:cNvSpPr>
            <a:spLocks noGrp="1"/>
          </p:cNvSpPr>
          <p:nvPr/>
        </p:nvSpPr>
        <p:spPr>
          <a:xfrm>
            <a:off x="3853543" y="3676650"/>
            <a:ext cx="131717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신규 가입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1C74DD-ACA0-4083-B3E8-AE6F8A08B65F}"/>
              </a:ext>
            </a:extLst>
          </p:cNvPr>
          <p:cNvSpPr>
            <a:spLocks noGrp="1"/>
          </p:cNvSpPr>
          <p:nvPr/>
        </p:nvSpPr>
        <p:spPr>
          <a:xfrm>
            <a:off x="5361214" y="2705100"/>
            <a:ext cx="1469571" cy="14287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99B5052-FBA2-4D5F-BEEB-408902256353}"/>
              </a:ext>
            </a:extLst>
          </p:cNvPr>
          <p:cNvSpPr>
            <a:spLocks noGrp="1"/>
          </p:cNvSpPr>
          <p:nvPr/>
        </p:nvSpPr>
        <p:spPr>
          <a:xfrm>
            <a:off x="5475514" y="2914650"/>
            <a:ext cx="12409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S-04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C6EC36-9C4E-4F19-B8F4-B9C2ACFD2090}"/>
              </a:ext>
            </a:extLst>
          </p:cNvPr>
          <p:cNvSpPr>
            <a:spLocks noGrp="1"/>
          </p:cNvSpPr>
          <p:nvPr/>
        </p:nvSpPr>
        <p:spPr>
          <a:xfrm>
            <a:off x="5437414" y="3276600"/>
            <a:ext cx="1317171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3B100E-96DA-4F11-8666-D3ECC3DBDA18}"/>
              </a:ext>
            </a:extLst>
          </p:cNvPr>
          <p:cNvSpPr>
            <a:spLocks noGrp="1"/>
          </p:cNvSpPr>
          <p:nvPr/>
        </p:nvSpPr>
        <p:spPr>
          <a:xfrm>
            <a:off x="5437414" y="3676650"/>
            <a:ext cx="131717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이메일 확인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40DC25-A606-48C0-B7D6-35B41BEAF6AC}"/>
              </a:ext>
            </a:extLst>
          </p:cNvPr>
          <p:cNvSpPr>
            <a:spLocks noGrp="1"/>
          </p:cNvSpPr>
          <p:nvPr/>
        </p:nvSpPr>
        <p:spPr>
          <a:xfrm>
            <a:off x="6945086" y="2705100"/>
            <a:ext cx="1469571" cy="14287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6BB51E-B950-4469-9099-A28AFAC076CF}"/>
              </a:ext>
            </a:extLst>
          </p:cNvPr>
          <p:cNvSpPr>
            <a:spLocks noGrp="1"/>
          </p:cNvSpPr>
          <p:nvPr/>
        </p:nvSpPr>
        <p:spPr>
          <a:xfrm>
            <a:off x="7059386" y="2914650"/>
            <a:ext cx="12409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S-05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AA0230-B1D9-40D0-8AFD-2EF176D788C4}"/>
              </a:ext>
            </a:extLst>
          </p:cNvPr>
          <p:cNvSpPr>
            <a:spLocks noGrp="1"/>
          </p:cNvSpPr>
          <p:nvPr/>
        </p:nvSpPr>
        <p:spPr>
          <a:xfrm>
            <a:off x="7021286" y="3276600"/>
            <a:ext cx="1317171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Consent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6922FD-F404-4EFB-87AE-38D2C23564E5}"/>
              </a:ext>
            </a:extLst>
          </p:cNvPr>
          <p:cNvSpPr>
            <a:spLocks noGrp="1"/>
          </p:cNvSpPr>
          <p:nvPr/>
        </p:nvSpPr>
        <p:spPr>
          <a:xfrm>
            <a:off x="7021286" y="3676650"/>
            <a:ext cx="131717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권한·건강정보 안내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438C92D-8A2B-4C02-9183-7EE60B8F0CAE}"/>
              </a:ext>
            </a:extLst>
          </p:cNvPr>
          <p:cNvSpPr>
            <a:spLocks noGrp="1"/>
          </p:cNvSpPr>
          <p:nvPr/>
        </p:nvSpPr>
        <p:spPr>
          <a:xfrm>
            <a:off x="8528957" y="2705100"/>
            <a:ext cx="1469571" cy="14287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CECA1E-80C3-4852-8FD2-C209C7C74C84}"/>
              </a:ext>
            </a:extLst>
          </p:cNvPr>
          <p:cNvSpPr>
            <a:spLocks noGrp="1"/>
          </p:cNvSpPr>
          <p:nvPr/>
        </p:nvSpPr>
        <p:spPr>
          <a:xfrm>
            <a:off x="8643257" y="2914650"/>
            <a:ext cx="12409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S-06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3E69038-FE08-4FF5-8271-096BC667CC6C}"/>
              </a:ext>
            </a:extLst>
          </p:cNvPr>
          <p:cNvSpPr>
            <a:spLocks noGrp="1"/>
          </p:cNvSpPr>
          <p:nvPr/>
        </p:nvSpPr>
        <p:spPr>
          <a:xfrm>
            <a:off x="8605157" y="3276600"/>
            <a:ext cx="1317171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Onboarding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A05BB9-985F-4C42-B4AC-9753F3F71EFB}"/>
              </a:ext>
            </a:extLst>
          </p:cNvPr>
          <p:cNvSpPr>
            <a:spLocks noGrp="1"/>
          </p:cNvSpPr>
          <p:nvPr/>
        </p:nvSpPr>
        <p:spPr>
          <a:xfrm>
            <a:off x="8605157" y="3676650"/>
            <a:ext cx="131717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첫 사용법·기본 정보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B516FB-6457-4106-A819-84419DC1F979}"/>
              </a:ext>
            </a:extLst>
          </p:cNvPr>
          <p:cNvSpPr>
            <a:spLocks noGrp="1"/>
          </p:cNvSpPr>
          <p:nvPr/>
        </p:nvSpPr>
        <p:spPr>
          <a:xfrm>
            <a:off x="10112829" y="2705100"/>
            <a:ext cx="1469571" cy="142875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6BE0DFD-873D-4E45-9BA6-B9C6E8726724}"/>
              </a:ext>
            </a:extLst>
          </p:cNvPr>
          <p:cNvSpPr>
            <a:spLocks noGrp="1"/>
          </p:cNvSpPr>
          <p:nvPr/>
        </p:nvSpPr>
        <p:spPr>
          <a:xfrm>
            <a:off x="10227129" y="2914650"/>
            <a:ext cx="124097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S-07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4A8609-C4EF-46A2-8366-07B9B3232CBB}"/>
              </a:ext>
            </a:extLst>
          </p:cNvPr>
          <p:cNvSpPr>
            <a:spLocks noGrp="1"/>
          </p:cNvSpPr>
          <p:nvPr/>
        </p:nvSpPr>
        <p:spPr>
          <a:xfrm>
            <a:off x="10189029" y="3276600"/>
            <a:ext cx="1317171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Dashboard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182D97-24BD-4A60-B79D-BE134B54A2E2}"/>
              </a:ext>
            </a:extLst>
          </p:cNvPr>
          <p:cNvSpPr>
            <a:spLocks noGrp="1"/>
          </p:cNvSpPr>
          <p:nvPr/>
        </p:nvSpPr>
        <p:spPr>
          <a:xfrm>
            <a:off x="10189029" y="3676650"/>
            <a:ext cx="131717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기록·분석·다음 행동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D4ADAB-002B-4DF7-BECA-87BB22F92B83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590550"/>
          </a:xfrm>
          <a:prstGeom prst="rect">
            <a:avLst/>
          </a:prstGeom>
          <a:solidFill>
            <a:srgbClr val="FFF8E8"/>
          </a:solidFill>
          <a:ln w="9525">
            <a:solidFill>
              <a:srgbClr val="F3D8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EACE565-827E-412E-8CEC-8B1A127A6ECF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043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이 7개 화면 위에 음식 후보, AI preview, 데이터 빈 상태, Agent 분석 결과가 순서대로 얹힌다.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00FE372-B55E-4237-A24F-FA651B891EF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371AABB-151D-4247-A949-2DAF96FC7F02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05 / 22</a:t>
            </a:r>
          </a:p>
        </p:txBody>
      </p:sp>
    </p:spTree>
    <p:extLst>
      <p:ext uri="{BB962C8B-B14F-4D97-AF65-F5344CB8AC3E}">
        <p14:creationId xmlns:p14="http://schemas.microsoft.com/office/powerpoint/2010/main" val="1752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marker">
            <a:extLst>
              <a:ext uri="{FF2B5EF4-FFF2-40B4-BE49-F238E27FC236}">
                <a16:creationId xmlns:a16="http://schemas.microsoft.com/office/drawing/2014/main" id="{3A4E1703-59D8-4B1B-87DE-F50FE1B286C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297FBB7B-A1A7-4259-B9CC-7BC887F2DAE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UX 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53EFF3-ED4C-4DB7-8C72-61E600348D10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멈춤 지점마다 같은 카드 안에서 이해·수정·저장까지 끝낸다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4E259E-A1EB-46D1-B600-874D901A9A91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사용자가 다른 화면으로 밀려나지 않도록 결과 카드의 공통 약속을 먼저 정했다.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A2FBA7-78C8-4E40-ABA3-67492CD28159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255270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13E61-D07D-471F-8B9E-819AAF348C32}"/>
              </a:ext>
            </a:extLst>
          </p:cNvPr>
          <p:cNvSpPr>
            <a:spLocks noGrp="1"/>
          </p:cNvSpPr>
          <p:nvPr/>
        </p:nvSpPr>
        <p:spPr>
          <a:xfrm>
            <a:off x="800100" y="27432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01 처음 켤 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36B501-126E-4AE2-8496-F2BB321517FF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2171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"뭐부터 하지?"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8F9FDB-62E8-499F-882C-D86DEBCAB856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21717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931B05-71EE-459D-9305-3EB067B9B39C}"/>
              </a:ext>
            </a:extLst>
          </p:cNvPr>
          <p:cNvSpPr>
            <a:spLocks noGrp="1"/>
          </p:cNvSpPr>
          <p:nvPr/>
        </p:nvSpPr>
        <p:spPr>
          <a:xfrm>
            <a:off x="800100" y="37719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rPr>
              <a:t>-&gt; 안내 3단계 · 카메라 한 번에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8F0FC5-9BB1-4250-8A08-080934D5348D}"/>
              </a:ext>
            </a:extLst>
          </p:cNvPr>
          <p:cNvSpPr>
            <a:spLocks noGrp="1"/>
          </p:cNvSpPr>
          <p:nvPr/>
        </p:nvSpPr>
        <p:spPr>
          <a:xfrm>
            <a:off x="3409950" y="2533650"/>
            <a:ext cx="255270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F12BA0-5E88-42A3-8B7E-652022F0F6E6}"/>
              </a:ext>
            </a:extLst>
          </p:cNvPr>
          <p:cNvSpPr>
            <a:spLocks noGrp="1"/>
          </p:cNvSpPr>
          <p:nvPr/>
        </p:nvSpPr>
        <p:spPr>
          <a:xfrm>
            <a:off x="3600450" y="27432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02 결과 의심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FD4C3-4EC1-4DEC-9FA6-E3CC817C5425}"/>
              </a:ext>
            </a:extLst>
          </p:cNvPr>
          <p:cNvSpPr>
            <a:spLocks noGrp="1"/>
          </p:cNvSpPr>
          <p:nvPr/>
        </p:nvSpPr>
        <p:spPr>
          <a:xfrm>
            <a:off x="3600450" y="3067050"/>
            <a:ext cx="2171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"믿어도 되나?"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70BC0B-9411-4F69-9C60-849AF6226F98}"/>
              </a:ext>
            </a:extLst>
          </p:cNvPr>
          <p:cNvSpPr>
            <a:spLocks noGrp="1"/>
          </p:cNvSpPr>
          <p:nvPr/>
        </p:nvSpPr>
        <p:spPr>
          <a:xfrm>
            <a:off x="3600450" y="3657600"/>
            <a:ext cx="21717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6676FE-275A-44AE-A199-0BF3BF33002C}"/>
              </a:ext>
            </a:extLst>
          </p:cNvPr>
          <p:cNvSpPr>
            <a:spLocks noGrp="1"/>
          </p:cNvSpPr>
          <p:nvPr/>
        </p:nvSpPr>
        <p:spPr>
          <a:xfrm>
            <a:off x="3600450" y="37719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rPr>
              <a:t>-&gt; 확신도 · 출처 · 고치기 표시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CC6E82-76A5-42C0-8BAA-4C152523AF76}"/>
              </a:ext>
            </a:extLst>
          </p:cNvPr>
          <p:cNvSpPr>
            <a:spLocks noGrp="1"/>
          </p:cNvSpPr>
          <p:nvPr/>
        </p:nvSpPr>
        <p:spPr>
          <a:xfrm>
            <a:off x="6210300" y="2533650"/>
            <a:ext cx="255270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2F0E6F-C622-4E01-B98B-FE9878614964}"/>
              </a:ext>
            </a:extLst>
          </p:cNvPr>
          <p:cNvSpPr>
            <a:spLocks noGrp="1"/>
          </p:cNvSpPr>
          <p:nvPr/>
        </p:nvSpPr>
        <p:spPr>
          <a:xfrm>
            <a:off x="6400800" y="27432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03 고치고 싶을 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498B19-C6BC-42CB-8AC5-FACF7A49A8C4}"/>
              </a:ext>
            </a:extLst>
          </p:cNvPr>
          <p:cNvSpPr>
            <a:spLocks noGrp="1"/>
          </p:cNvSpPr>
          <p:nvPr/>
        </p:nvSpPr>
        <p:spPr>
          <a:xfrm>
            <a:off x="6400800" y="3067050"/>
            <a:ext cx="2171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"어떻게 고치지?"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1D7752-CF58-480F-A273-00DDA75B2507}"/>
              </a:ext>
            </a:extLst>
          </p:cNvPr>
          <p:cNvSpPr>
            <a:spLocks noGrp="1"/>
          </p:cNvSpPr>
          <p:nvPr/>
        </p:nvSpPr>
        <p:spPr>
          <a:xfrm>
            <a:off x="6400800" y="3657600"/>
            <a:ext cx="21717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5447D-D17B-4A20-B335-7DD90FD2307B}"/>
              </a:ext>
            </a:extLst>
          </p:cNvPr>
          <p:cNvSpPr>
            <a:spLocks noGrp="1"/>
          </p:cNvSpPr>
          <p:nvPr/>
        </p:nvSpPr>
        <p:spPr>
          <a:xfrm>
            <a:off x="6400800" y="37719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rPr>
              <a:t>-&gt; 같은 카드 안 인라인 수정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D81BC5-2B9F-4552-B8D2-452D6F4C346E}"/>
              </a:ext>
            </a:extLst>
          </p:cNvPr>
          <p:cNvSpPr>
            <a:spLocks noGrp="1"/>
          </p:cNvSpPr>
          <p:nvPr/>
        </p:nvSpPr>
        <p:spPr>
          <a:xfrm>
            <a:off x="9010650" y="2533650"/>
            <a:ext cx="255270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57D572-CE30-4729-847E-D1F9C2E1740C}"/>
              </a:ext>
            </a:extLst>
          </p:cNvPr>
          <p:cNvSpPr>
            <a:spLocks noGrp="1"/>
          </p:cNvSpPr>
          <p:nvPr/>
        </p:nvSpPr>
        <p:spPr>
          <a:xfrm>
            <a:off x="9201150" y="27432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04 하루 마무리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E408C6-912D-435E-AB8C-14B596F1A8AD}"/>
              </a:ext>
            </a:extLst>
          </p:cNvPr>
          <p:cNvSpPr>
            <a:spLocks noGrp="1"/>
          </p:cNvSpPr>
          <p:nvPr/>
        </p:nvSpPr>
        <p:spPr>
          <a:xfrm>
            <a:off x="9201150" y="3067050"/>
            <a:ext cx="2171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"내일 뭐 하지?"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144EA5-2F31-424E-88AC-5AC531158647}"/>
              </a:ext>
            </a:extLst>
          </p:cNvPr>
          <p:cNvSpPr>
            <a:spLocks noGrp="1"/>
          </p:cNvSpPr>
          <p:nvPr/>
        </p:nvSpPr>
        <p:spPr>
          <a:xfrm>
            <a:off x="9201150" y="3657600"/>
            <a:ext cx="21717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B01954-B5B8-4EFF-BB3F-F8FB7F97CEA2}"/>
              </a:ext>
            </a:extLst>
          </p:cNvPr>
          <p:cNvSpPr>
            <a:spLocks noGrp="1"/>
          </p:cNvSpPr>
          <p:nvPr/>
        </p:nvSpPr>
        <p:spPr>
          <a:xfrm>
            <a:off x="9201150" y="3771900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FA77A"/>
                </a:solidFill>
                <a:latin typeface="Apple SD Gothic Neo"/>
                <a:ea typeface="Apple SD Gothic Neo"/>
                <a:cs typeface="Apple SD Gothic Neo"/>
              </a:rPr>
              <a:t>-&gt; 점수 + 다음 행동 한 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B5906FD-5B08-40E8-813C-744F7EFA3735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10972800" cy="762000"/>
          </a:xfrm>
          <a:prstGeom prst="rect">
            <a:avLst/>
          </a:prstGeom>
          <a:solidFill>
            <a:srgbClr val="ECFAF4"/>
          </a:solidFill>
          <a:ln w="9525">
            <a:solidFill>
              <a:srgbClr val="BDEBD9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EB8A92-1493-4581-ADDE-FF46262CA394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결과 카드 공통 약속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783014-4A24-4B05-B5EB-2EB120FE0EAD}"/>
              </a:ext>
            </a:extLst>
          </p:cNvPr>
          <p:cNvSpPr>
            <a:spLocks noGrp="1"/>
          </p:cNvSpPr>
          <p:nvPr/>
        </p:nvSpPr>
        <p:spPr>
          <a:xfrm>
            <a:off x="3429000" y="47815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결과 큰 글씨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6EC444-4EEA-419C-A777-B3F164B8903A}"/>
              </a:ext>
            </a:extLst>
          </p:cNvPr>
          <p:cNvSpPr>
            <a:spLocks noGrp="1"/>
          </p:cNvSpPr>
          <p:nvPr/>
        </p:nvSpPr>
        <p:spPr>
          <a:xfrm>
            <a:off x="5334000" y="47815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확신 정도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023D0A-9F61-4135-83D7-ED81E5B6B443}"/>
              </a:ext>
            </a:extLst>
          </p:cNvPr>
          <p:cNvSpPr>
            <a:spLocks noGrp="1"/>
          </p:cNvSpPr>
          <p:nvPr/>
        </p:nvSpPr>
        <p:spPr>
          <a:xfrm>
            <a:off x="7239000" y="47815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출처 /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B915DD3-D2C2-4B34-909B-55B6D7ADB6D9}"/>
              </a:ext>
            </a:extLst>
          </p:cNvPr>
          <p:cNvSpPr>
            <a:spLocks noGrp="1"/>
          </p:cNvSpPr>
          <p:nvPr/>
        </p:nvSpPr>
        <p:spPr>
          <a:xfrm>
            <a:off x="9144000" y="47815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다음 행동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CE58CEF-2CD3-4D49-B1AD-01B8F40A21E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435990B-DDA3-4591-B65D-41C3555652C7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89231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TextBox 3"/>
          <p:cNvSpPr/>
          <p:nvPr/>
        </p:nvSpPr>
        <p:spPr>
          <a:xfrm>
            <a:off x="857250" y="666750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UX 04</a:t>
            </a:r>
          </a:p>
        </p:txBody>
      </p:sp>
      <p:sp>
        <p:nvSpPr>
          <p:cNvPr id="4" name="TextBox 4"/>
          <p:cNvSpPr/>
          <p:nvPr/>
        </p:nvSpPr>
        <p:spPr>
          <a:xfrm>
            <a:off x="857250" y="1104900"/>
            <a:ext cx="9906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30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UX 기능은 기록 시작부터 저장까지 한 화면 흐름으로 이어진다</a:t>
            </a:r>
          </a:p>
        </p:txBody>
      </p:sp>
      <p:sp>
        <p:nvSpPr>
          <p:cNvPr id="5" name="TextBox 5"/>
          <p:cNvSpPr/>
          <p:nvPr/>
        </p:nvSpPr>
        <p:spPr>
          <a:xfrm>
            <a:off x="857250" y="194310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425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사용자가 길게 학습하지 않아도 입력, 확인, 수정, 저장을 같은 카드 문법으로 이해하게 만든다.</a:t>
            </a:r>
          </a:p>
        </p:txBody>
      </p:sp>
      <p:sp>
        <p:nvSpPr>
          <p:cNvPr id="6" name="TextBox 6"/>
          <p:cNvSpPr/>
          <p:nvPr/>
        </p:nvSpPr>
        <p:spPr>
          <a:xfrm>
            <a:off x="857250" y="2714625"/>
            <a:ext cx="5095875" cy="1362075"/>
          </a:xfrm>
          <a:prstGeom prst="rect">
            <a:avLst/>
          </a:prstGeom>
          <a:solidFill>
            <a:srgbClr val="F7FA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7" name="TextBox 7"/>
          <p:cNvSpPr/>
          <p:nvPr/>
        </p:nvSpPr>
        <p:spPr>
          <a:xfrm>
            <a:off x="1047750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8"/>
          <p:cNvSpPr/>
          <p:nvPr/>
        </p:nvSpPr>
        <p:spPr>
          <a:xfrm>
            <a:off x="1638300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시작 · 동의</a:t>
            </a:r>
          </a:p>
        </p:txBody>
      </p:sp>
      <p:sp>
        <p:nvSpPr>
          <p:cNvPr id="9" name="TextBox 9"/>
          <p:cNvSpPr/>
          <p:nvPr/>
        </p:nvSpPr>
        <p:spPr>
          <a:xfrm>
            <a:off x="1085850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로그인, 이메일 확인, 건강정보 동의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민감정보를 왜 쓰는지 먼저 안내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처음 사용자는 3단계 안에서 핵심 이해</a:t>
            </a:r>
          </a:p>
        </p:txBody>
      </p:sp>
      <p:sp>
        <p:nvSpPr>
          <p:cNvPr id="10" name="TextBox 10"/>
          <p:cNvSpPr/>
          <p:nvPr/>
        </p:nvSpPr>
        <p:spPr>
          <a:xfrm>
            <a:off x="6238875" y="2714625"/>
            <a:ext cx="5095875" cy="1362075"/>
          </a:xfrm>
          <a:prstGeom prst="rect">
            <a:avLst/>
          </a:prstGeom>
          <a:solidFill>
            <a:srgbClr val="FFF7E8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1" name="TextBox 11"/>
          <p:cNvSpPr/>
          <p:nvPr/>
        </p:nvSpPr>
        <p:spPr>
          <a:xfrm>
            <a:off x="6429375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2"/>
          <p:cNvSpPr/>
          <p:nvPr/>
        </p:nvSpPr>
        <p:spPr>
          <a:xfrm>
            <a:off x="7019925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3" name="TextBox 13"/>
          <p:cNvSpPr/>
          <p:nvPr/>
        </p:nvSpPr>
        <p:spPr>
          <a:xfrm>
            <a:off x="6467475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카메라, 텍스트, 라벨 촬영을 빠르게 진입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촬영 실패나 권한 없음은 다음 행동 한 줄 표시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식탁 앞 사용을 고려해 큰 버튼 유지</a:t>
            </a:r>
          </a:p>
        </p:txBody>
      </p:sp>
      <p:sp>
        <p:nvSpPr>
          <p:cNvPr id="14" name="TextBox 14"/>
          <p:cNvSpPr/>
          <p:nvPr/>
        </p:nvSpPr>
        <p:spPr>
          <a:xfrm>
            <a:off x="857250" y="4400550"/>
            <a:ext cx="5095875" cy="1362075"/>
          </a:xfrm>
          <a:prstGeom prst="rect">
            <a:avLst/>
          </a:prstGeom>
          <a:solidFill>
            <a:srgbClr val="EEF8F2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5" name="TextBox 15"/>
          <p:cNvSpPr/>
          <p:nvPr/>
        </p:nvSpPr>
        <p:spPr>
          <a:xfrm>
            <a:off x="1047750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6"/>
          <p:cNvSpPr/>
          <p:nvPr/>
        </p:nvSpPr>
        <p:spPr>
          <a:xfrm>
            <a:off x="1638300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결과 확인</a:t>
            </a:r>
          </a:p>
        </p:txBody>
      </p:sp>
      <p:sp>
        <p:nvSpPr>
          <p:cNvPr id="17" name="TextBox 17"/>
          <p:cNvSpPr/>
          <p:nvPr/>
        </p:nvSpPr>
        <p:spPr>
          <a:xfrm>
            <a:off x="1085850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음식 후보, 확신도, 출처, 시간 표시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낮은 확신은 확정하지 않고 검토 상태로 노출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AI 결과는 사용자가 확인할 수 있게 설명</a:t>
            </a:r>
          </a:p>
        </p:txBody>
      </p:sp>
      <p:sp>
        <p:nvSpPr>
          <p:cNvPr id="18" name="TextBox 18"/>
          <p:cNvSpPr/>
          <p:nvPr/>
        </p:nvSpPr>
        <p:spPr>
          <a:xfrm>
            <a:off x="6238875" y="4400550"/>
            <a:ext cx="5095875" cy="1362075"/>
          </a:xfrm>
          <a:prstGeom prst="rect">
            <a:avLst/>
          </a:prstGeom>
          <a:solidFill>
            <a:srgbClr val="F7F3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9" name="TextBox 19"/>
          <p:cNvSpPr/>
          <p:nvPr/>
        </p:nvSpPr>
        <p:spPr>
          <a:xfrm>
            <a:off x="6429375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20"/>
          <p:cNvSpPr/>
          <p:nvPr/>
        </p:nvSpPr>
        <p:spPr>
          <a:xfrm>
            <a:off x="7019925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수정 · 저장</a:t>
            </a:r>
          </a:p>
        </p:txBody>
      </p:sp>
      <p:sp>
        <p:nvSpPr>
          <p:cNvPr id="21" name="TextBox 21"/>
          <p:cNvSpPr/>
          <p:nvPr/>
        </p:nvSpPr>
        <p:spPr>
          <a:xfrm>
            <a:off x="6467475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틀린 후보, 양, 성분은 같은 카드 안에서 수정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저장 전 preview 상태와 최종 기록을 구분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저장 후 홈 카드와 다음 행동에 반영</a:t>
            </a:r>
          </a:p>
        </p:txBody>
      </p:sp>
      <p:sp>
        <p:nvSpPr>
          <p:cNvPr id="22" name="TextBox 22"/>
          <p:cNvSpPr/>
          <p:nvPr/>
        </p:nvSpPr>
        <p:spPr>
          <a:xfrm>
            <a:off x="857250" y="5815293"/>
            <a:ext cx="10477500" cy="361950"/>
          </a:xfrm>
          <a:prstGeom prst="rect">
            <a:avLst/>
          </a:prstGeom>
          <a:solidFill>
            <a:srgbClr val="FFF5D8"/>
          </a:solidFill>
          <a:ln w="9525">
            <a:solidFill>
              <a:srgbClr val="F0D7A4"/>
            </a:solidFill>
          </a:ln>
        </p:spPr>
        <p:txBody>
          <a:bodyPr wrap="square" lIns="133350" tIns="133350" rIns="133350" bIns="133350"/>
          <a:lstStyle/>
          <a:p>
            <a:pPr algn="l"/>
            <a:r>
              <a:rPr lang="ko-KR" sz="12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UX 상세 기능의 기준: 사용자가 멈추는 지점마다 출처, 고치기, 다음 행동을 함께 제공한다.</a:t>
            </a:r>
          </a:p>
        </p:txBody>
      </p:sp>
      <p:sp>
        <p:nvSpPr>
          <p:cNvPr id="23" name="TextBox 23"/>
          <p:cNvSpPr/>
          <p:nvPr/>
        </p:nvSpPr>
        <p:spPr>
          <a:xfrm>
            <a:off x="619125" y="63722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24" name="TextBox 24"/>
          <p:cNvSpPr/>
          <p:nvPr/>
        </p:nvSpPr>
        <p:spPr>
          <a:xfrm>
            <a:off x="11049000" y="6372225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-marker">
            <a:extLst>
              <a:ext uri="{FF2B5EF4-FFF2-40B4-BE49-F238E27FC236}">
                <a16:creationId xmlns:a16="http://schemas.microsoft.com/office/drawing/2014/main" id="{1FF39C84-65DC-416B-A86D-29C772A8474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8790DB5-BD78-4DFD-9642-0AF096A68CA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음식 비전 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E8C180-E4B0-405C-A336-895FF58E54B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음식 비전은 완벽한 판정이 아니라 검토 가능한 후보를 만든다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7F4D56-BE67-4154-B650-C22EABAE5DFA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5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베타버전을 만들기 전 </a:t>
            </a:r>
            <a:r>
              <a:rPr lang="en-US" altLang="ko-KR" sz="15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MVP</a:t>
            </a:r>
            <a:r>
              <a:rPr lang="ko-KR" altLang="en-US" sz="150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ko-KR" altLang="en-US" sz="15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만듦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FD45A2-AA38-4EB8-81F1-E5DFC27352A5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219700" cy="26670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F83A92-A9CD-471F-BE8F-E3476EC7359D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하지 않는 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3FEF35-3347-409C-A6C2-DC93C7DB7724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46863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사진만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보고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섭취량을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확정하지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않는다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GCV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label이나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OCR을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음식명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엔진으로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쓰지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않는다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매칭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실패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후보를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조용히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저장하지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않는다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E2C737-C405-47DC-8DBD-6D0DB134F223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76200" cy="2667000"/>
          </a:xfrm>
          <a:prstGeom prst="rect">
            <a:avLst/>
          </a:prstGeom>
          <a:solidFill>
            <a:srgbClr val="C987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0A3B1F-096C-44B3-8EBD-6535374A7673}"/>
              </a:ext>
            </a:extLst>
          </p:cNvPr>
          <p:cNvSpPr>
            <a:spLocks noGrp="1"/>
          </p:cNvSpPr>
          <p:nvPr/>
        </p:nvSpPr>
        <p:spPr>
          <a:xfrm>
            <a:off x="6362700" y="2552700"/>
            <a:ext cx="5219700" cy="26670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9AC5A6-29E5-440C-9F0C-78BE70A8DDC9}"/>
              </a:ext>
            </a:extLst>
          </p:cNvPr>
          <p:cNvSpPr>
            <a:spLocks noGrp="1"/>
          </p:cNvSpPr>
          <p:nvPr/>
        </p:nvSpPr>
        <p:spPr>
          <a:xfrm>
            <a:off x="6591300" y="27622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하는 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64BD80-C803-4119-A8EF-E35D30D685D5}"/>
              </a:ext>
            </a:extLst>
          </p:cNvPr>
          <p:cNvSpPr>
            <a:spLocks noGrp="1"/>
          </p:cNvSpPr>
          <p:nvPr/>
        </p:nvSpPr>
        <p:spPr>
          <a:xfrm>
            <a:off x="6629400" y="3200400"/>
            <a:ext cx="46863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YOLO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후보를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중심으로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hint와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OCR을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보강한다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공식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영양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데이터와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연결된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100g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프로필을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만든다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g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또는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인분을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입력할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때만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섭취량을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재계산한다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애매한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후보는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review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flag로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화면에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넘긴다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82910-04DC-4B5E-9627-7B68B604DE15}"/>
              </a:ext>
            </a:extLst>
          </p:cNvPr>
          <p:cNvSpPr>
            <a:spLocks noGrp="1"/>
          </p:cNvSpPr>
          <p:nvPr/>
        </p:nvSpPr>
        <p:spPr>
          <a:xfrm>
            <a:off x="6362700" y="2552700"/>
            <a:ext cx="76200" cy="2667000"/>
          </a:xfrm>
          <a:prstGeom prst="rect">
            <a:avLst/>
          </a:prstGeom>
          <a:solidFill>
            <a:srgbClr val="3F6D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B72F69-F6D4-4C31-8797-BB8404B79B8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126D11-6046-4FCA-A47A-933D9A9487EB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08 / 22</a:t>
            </a:r>
          </a:p>
        </p:txBody>
      </p:sp>
    </p:spTree>
    <p:extLst>
      <p:ext uri="{BB962C8B-B14F-4D97-AF65-F5344CB8AC3E}">
        <p14:creationId xmlns:p14="http://schemas.microsoft.com/office/powerpoint/2010/main" val="39064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marker">
            <a:extLst>
              <a:ext uri="{FF2B5EF4-FFF2-40B4-BE49-F238E27FC236}">
                <a16:creationId xmlns:a16="http://schemas.microsoft.com/office/drawing/2014/main" id="{213F93F2-60B0-49A2-A0D7-EFE55A28877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F2966288-96AA-43D8-A056-C042AD0BC62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음식</a:t>
            </a:r>
            <a:r>
              <a:rPr sz="1125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비전</a:t>
            </a:r>
            <a:r>
              <a:rPr sz="1125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F35274-CC1F-4C0B-B41D-CD4084352FA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사진·텍스트는 후보 생성, 융합, 공식 DB 매칭을 거쳐 100g 프로필이 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EA46CB-F5FC-433D-8895-83E36951D1D8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각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단계의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책임을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나누면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mock에서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5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모델로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바꿀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때도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응답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구조를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유지할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있다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A79AE-C9BF-488C-89FE-B07BB092A81E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409700" cy="12192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1CA857-7E66-4594-B8AE-E2E9440DCA4D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3E7B82-D15E-4711-9A14-06A8D6CBC1F8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사진 또는 텍스트 식단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097714-B72F-4E69-A4F0-C0E2563ECB07}"/>
              </a:ext>
            </a:extLst>
          </p:cNvPr>
          <p:cNvSpPr>
            <a:spLocks noGrp="1"/>
          </p:cNvSpPr>
          <p:nvPr/>
        </p:nvSpPr>
        <p:spPr>
          <a:xfrm>
            <a:off x="2028825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67ACB9-662C-472B-A8B0-87FD89A4B894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1409700" cy="12192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D69420-4DC4-4EF3-A848-FC77473D962A}"/>
              </a:ext>
            </a:extLst>
          </p:cNvPr>
          <p:cNvSpPr>
            <a:spLocks noGrp="1"/>
          </p:cNvSpPr>
          <p:nvPr/>
        </p:nvSpPr>
        <p:spPr>
          <a:xfrm>
            <a:off x="2286000" y="27813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Detection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E35D51-4FD6-4397-9842-08971DC4D8C9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bbox · class · confidence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46E226-CE62-4241-8437-5C1492EEEE16}"/>
              </a:ext>
            </a:extLst>
          </p:cNvPr>
          <p:cNvSpPr>
            <a:spLocks noGrp="1"/>
          </p:cNvSpPr>
          <p:nvPr/>
        </p:nvSpPr>
        <p:spPr>
          <a:xfrm>
            <a:off x="3590925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B67400-95D7-47B9-99AE-3BB37607C071}"/>
              </a:ext>
            </a:extLst>
          </p:cNvPr>
          <p:cNvSpPr>
            <a:spLocks noGrp="1"/>
          </p:cNvSpPr>
          <p:nvPr/>
        </p:nvSpPr>
        <p:spPr>
          <a:xfrm>
            <a:off x="3733800" y="2571750"/>
            <a:ext cx="1409700" cy="12192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D7C6B6-5303-4AD4-AFD5-85948062CD43}"/>
              </a:ext>
            </a:extLst>
          </p:cNvPr>
          <p:cNvSpPr>
            <a:spLocks noGrp="1"/>
          </p:cNvSpPr>
          <p:nvPr/>
        </p:nvSpPr>
        <p:spPr>
          <a:xfrm>
            <a:off x="3848100" y="27813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Hint/OCR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7BBAFF-3CA6-4183-9F37-82F005EA3434}"/>
              </a:ext>
            </a:extLst>
          </p:cNvPr>
          <p:cNvSpPr>
            <a:spLocks noGrp="1"/>
          </p:cNvSpPr>
          <p:nvPr/>
        </p:nvSpPr>
        <p:spPr>
          <a:xfrm>
            <a:off x="3848100" y="31432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label · object hint · 원문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4FC8E0-8AB2-4FE7-964F-9B7C7AE62BA5}"/>
              </a:ext>
            </a:extLst>
          </p:cNvPr>
          <p:cNvSpPr>
            <a:spLocks noGrp="1"/>
          </p:cNvSpPr>
          <p:nvPr/>
        </p:nvSpPr>
        <p:spPr>
          <a:xfrm>
            <a:off x="5153025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172754-2588-4631-A369-B576F835FB2D}"/>
              </a:ext>
            </a:extLst>
          </p:cNvPr>
          <p:cNvSpPr>
            <a:spLocks noGrp="1"/>
          </p:cNvSpPr>
          <p:nvPr/>
        </p:nvSpPr>
        <p:spPr>
          <a:xfrm>
            <a:off x="5295900" y="2571750"/>
            <a:ext cx="1409700" cy="12192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D52C95-8674-4D39-B943-FD52E1DF291A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Fusion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14A0CB-E571-4EAF-97FE-77AAAEE5BDEA}"/>
              </a:ext>
            </a:extLst>
          </p:cNvPr>
          <p:cNvSpPr>
            <a:spLocks noGrp="1"/>
          </p:cNvSpPr>
          <p:nvPr/>
        </p:nvSpPr>
        <p:spPr>
          <a:xfrm>
            <a:off x="5410200" y="31432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후보 정리 · alias 보정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F1D3D8-AF4D-4055-8985-1D81002EC74B}"/>
              </a:ext>
            </a:extLst>
          </p:cNvPr>
          <p:cNvSpPr>
            <a:spLocks noGrp="1"/>
          </p:cNvSpPr>
          <p:nvPr/>
        </p:nvSpPr>
        <p:spPr>
          <a:xfrm>
            <a:off x="6715125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86158E-2FB6-4570-94AB-6FF784097299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1409700" cy="12192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977960-3002-4DEB-A096-EED7517FF0B5}"/>
              </a:ext>
            </a:extLst>
          </p:cNvPr>
          <p:cNvSpPr>
            <a:spLocks noGrp="1"/>
          </p:cNvSpPr>
          <p:nvPr/>
        </p:nvSpPr>
        <p:spPr>
          <a:xfrm>
            <a:off x="6972300" y="27813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RDA Match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469630-AAAA-4887-A79E-7AF5E1770B2A}"/>
              </a:ext>
            </a:extLst>
          </p:cNvPr>
          <p:cNvSpPr>
            <a:spLocks noGrp="1"/>
          </p:cNvSpPr>
          <p:nvPr/>
        </p:nvSpPr>
        <p:spPr>
          <a:xfrm>
            <a:off x="6972300" y="31432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국가표준식품성분표 연결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EA44A7A-1CB4-4A40-9C94-87B9CB1E21AC}"/>
              </a:ext>
            </a:extLst>
          </p:cNvPr>
          <p:cNvSpPr>
            <a:spLocks noGrp="1"/>
          </p:cNvSpPr>
          <p:nvPr/>
        </p:nvSpPr>
        <p:spPr>
          <a:xfrm>
            <a:off x="8277225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9325CB-3292-4364-8DE1-A56C83434BF0}"/>
              </a:ext>
            </a:extLst>
          </p:cNvPr>
          <p:cNvSpPr>
            <a:spLocks noGrp="1"/>
          </p:cNvSpPr>
          <p:nvPr/>
        </p:nvSpPr>
        <p:spPr>
          <a:xfrm>
            <a:off x="8420100" y="2571750"/>
            <a:ext cx="1409700" cy="12192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90BA668-3134-46A9-B75D-2491B0D4757A}"/>
              </a:ext>
            </a:extLst>
          </p:cNvPr>
          <p:cNvSpPr>
            <a:spLocks noGrp="1"/>
          </p:cNvSpPr>
          <p:nvPr/>
        </p:nvSpPr>
        <p:spPr>
          <a:xfrm>
            <a:off x="8534400" y="27813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100g Profile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71585E-A9E3-4FE5-99D3-5DEB288B1721}"/>
              </a:ext>
            </a:extLst>
          </p:cNvPr>
          <p:cNvSpPr>
            <a:spLocks noGrp="1"/>
          </p:cNvSpPr>
          <p:nvPr/>
        </p:nvSpPr>
        <p:spPr>
          <a:xfrm>
            <a:off x="8534400" y="31432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기본 영양 성격 표시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A9A685-F6F8-4F36-8B84-45E3E8395FB1}"/>
              </a:ext>
            </a:extLst>
          </p:cNvPr>
          <p:cNvSpPr>
            <a:spLocks noGrp="1"/>
          </p:cNvSpPr>
          <p:nvPr/>
        </p:nvSpPr>
        <p:spPr>
          <a:xfrm>
            <a:off x="9839325" y="30670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968AFB-6A9D-4229-A8D2-87F3CF0FF439}"/>
              </a:ext>
            </a:extLst>
          </p:cNvPr>
          <p:cNvSpPr>
            <a:spLocks noGrp="1"/>
          </p:cNvSpPr>
          <p:nvPr/>
        </p:nvSpPr>
        <p:spPr>
          <a:xfrm>
            <a:off x="9982200" y="2571750"/>
            <a:ext cx="1409700" cy="12192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ACC16E7-67E0-4B79-B555-E6A113FEE73A}"/>
              </a:ext>
            </a:extLst>
          </p:cNvPr>
          <p:cNvSpPr>
            <a:spLocks noGrp="1"/>
          </p:cNvSpPr>
          <p:nvPr/>
        </p:nvSpPr>
        <p:spPr>
          <a:xfrm>
            <a:off x="10096500" y="27813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Optional Scale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7EF58F1-7956-4EA3-B262-470CBE6FCBF6}"/>
              </a:ext>
            </a:extLst>
          </p:cNvPr>
          <p:cNvSpPr>
            <a:spLocks noGrp="1"/>
          </p:cNvSpPr>
          <p:nvPr/>
        </p:nvSpPr>
        <p:spPr>
          <a:xfrm>
            <a:off x="10096500" y="31432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g·인분 입력 시 재계산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4F81355-4430-4E75-8539-1265F5E3D90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33528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FF19788-7655-48C3-958F-E407C2490B8E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최종 후보는 YOLO primary + fusion 규칙으로 정리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655254F-B339-4B08-8FBE-D0C339DF3430}"/>
              </a:ext>
            </a:extLst>
          </p:cNvPr>
          <p:cNvSpPr>
            <a:spLocks noGrp="1"/>
          </p:cNvSpPr>
          <p:nvPr/>
        </p:nvSpPr>
        <p:spPr>
          <a:xfrm>
            <a:off x="4267200" y="4495800"/>
            <a:ext cx="3352800" cy="666750"/>
          </a:xfrm>
          <a:prstGeom prst="rect">
            <a:avLst/>
          </a:prstGeom>
          <a:solidFill>
            <a:srgbClr val="FFF8E8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FE7386-6DE7-4C87-B075-5FED1054C80F}"/>
              </a:ext>
            </a:extLst>
          </p:cNvPr>
          <p:cNvSpPr>
            <a:spLocks noGrp="1"/>
          </p:cNvSpPr>
          <p:nvPr/>
        </p:nvSpPr>
        <p:spPr>
          <a:xfrm>
            <a:off x="4476750" y="47053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GCV/OCR은 보조 힌트로만 사용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2FCA974-FC56-442D-9E69-5601EC1860C8}"/>
              </a:ext>
            </a:extLst>
          </p:cNvPr>
          <p:cNvSpPr>
            <a:spLocks noGrp="1"/>
          </p:cNvSpPr>
          <p:nvPr/>
        </p:nvSpPr>
        <p:spPr>
          <a:xfrm>
            <a:off x="7924800" y="4495800"/>
            <a:ext cx="33528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B86566-FCE3-4027-92B9-A5F408B85D24}"/>
              </a:ext>
            </a:extLst>
          </p:cNvPr>
          <p:cNvSpPr>
            <a:spLocks noGrp="1"/>
          </p:cNvSpPr>
          <p:nvPr/>
        </p:nvSpPr>
        <p:spPr>
          <a:xfrm>
            <a:off x="8134350" y="47053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매칭 실패는 review flag로 사용자 확인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9F0DBE1-0C08-4D43-AD03-B22B2AD3447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5F821EA-726B-4714-BF46-1A997BE76DE8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09 / 22</a:t>
            </a:r>
          </a:p>
        </p:txBody>
      </p:sp>
    </p:spTree>
    <p:extLst>
      <p:ext uri="{BB962C8B-B14F-4D97-AF65-F5344CB8AC3E}">
        <p14:creationId xmlns:p14="http://schemas.microsoft.com/office/powerpoint/2010/main" val="149782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marker">
            <a:extLst>
              <a:ext uri="{FF2B5EF4-FFF2-40B4-BE49-F238E27FC236}">
                <a16:creationId xmlns:a16="http://schemas.microsoft.com/office/drawing/2014/main" id="{7C009645-4EA9-49EE-B199-44E1081085A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AD5117C0-670C-4CEA-B6EB-8666BED8BB1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음식 비전 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8B25AF-9DD3-45E7-A4D0-2897D092FC88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100g </a:t>
            </a:r>
            <a:r>
              <a:rPr sz="31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기준은</a:t>
            </a:r>
            <a:r>
              <a:rPr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1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안전장치</a:t>
            </a:r>
            <a:endParaRPr sz="3150" b="1" dirty="0">
              <a:solidFill>
                <a:srgbClr val="5080F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2BD144-9606-492A-8C68-2086439B819A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양 추정이 불확실한 상태에서 칼로리와 영양소를 단정하면 사용자는 잘못된 결론을 받을 수 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F60D47-18FE-4D87-ADE6-4FB57EAD3117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리스크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08B43E-7791-4E82-B120-CCB122EDE6C3}"/>
              </a:ext>
            </a:extLst>
          </p:cNvPr>
          <p:cNvSpPr>
            <a:spLocks noGrp="1"/>
          </p:cNvSpPr>
          <p:nvPr/>
        </p:nvSpPr>
        <p:spPr>
          <a:xfrm>
            <a:off x="5448300" y="24955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대응 원칙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69E1EE-E137-4F2F-9BF6-831A3CF039DA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88620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16D697-86D0-4FCB-943E-916F196CA5DD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6629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716C57-850F-4262-8302-8A8F786CA910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이미지 기반 섭취량 추정 부정확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37DEBF-DD3C-4609-A777-8E5BFF634DED}"/>
              </a:ext>
            </a:extLst>
          </p:cNvPr>
          <p:cNvSpPr>
            <a:spLocks noGrp="1"/>
          </p:cNvSpPr>
          <p:nvPr/>
        </p:nvSpPr>
        <p:spPr>
          <a:xfrm>
            <a:off x="5181600" y="2971800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기본은 100g 기준, 사용자가 양을 입력할 때만 재계산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098DBF-F5DC-420F-B02B-E5AF3C3AE830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BFC42D-D89B-436A-A8E5-58439DDC3954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388620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9F6E90-DB9A-4F29-A5AB-880BD0158CD7}"/>
              </a:ext>
            </a:extLst>
          </p:cNvPr>
          <p:cNvSpPr>
            <a:spLocks noGrp="1"/>
          </p:cNvSpPr>
          <p:nvPr/>
        </p:nvSpPr>
        <p:spPr>
          <a:xfrm>
            <a:off x="4953000" y="3409950"/>
            <a:ext cx="6629400" cy="4191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C23B3E-361A-4DB2-8D29-CFC3F7F89FE4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AI Hub 전체 데이터 용량 과다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884C31-0412-4C6C-B114-35368E689B25}"/>
              </a:ext>
            </a:extLst>
          </p:cNvPr>
          <p:cNvSpPr>
            <a:spLocks noGrp="1"/>
          </p:cNvSpPr>
          <p:nvPr/>
        </p:nvSpPr>
        <p:spPr>
          <a:xfrm>
            <a:off x="5181600" y="3524250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작은 subset과 mock으로 흐름을 먼저 검증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824640-4917-42D6-BB7C-627A2BAC79E3}"/>
              </a:ext>
            </a:extLst>
          </p:cNvPr>
          <p:cNvSpPr>
            <a:spLocks noGrp="1"/>
          </p:cNvSpPr>
          <p:nvPr/>
        </p:nvSpPr>
        <p:spPr>
          <a:xfrm>
            <a:off x="4572000" y="35052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D1D86E-9E02-4FE1-A00A-CC9232ABBCCD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388620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3BBB17-37E1-47CF-BAEF-5661195C45B6}"/>
              </a:ext>
            </a:extLst>
          </p:cNvPr>
          <p:cNvSpPr>
            <a:spLocks noGrp="1"/>
          </p:cNvSpPr>
          <p:nvPr/>
        </p:nvSpPr>
        <p:spPr>
          <a:xfrm>
            <a:off x="4953000" y="3962400"/>
            <a:ext cx="6629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8DEAD2-2332-405D-B740-61F096CB8325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한국 음식 alias와 표기 변형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DC476E-0D72-4009-B943-B88097DACCCD}"/>
              </a:ext>
            </a:extLst>
          </p:cNvPr>
          <p:cNvSpPr>
            <a:spLocks noGrp="1"/>
          </p:cNvSpPr>
          <p:nvPr/>
        </p:nvSpPr>
        <p:spPr>
          <a:xfrm>
            <a:off x="5181600" y="4076700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food_aliases.json</a:t>
            </a:r>
            <a:r>
              <a:rPr sz="12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2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75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별명</a:t>
            </a:r>
            <a:r>
              <a:rPr sz="12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으로</a:t>
            </a:r>
            <a:r>
              <a:rPr sz="12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  <a:endParaRPr sz="1275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11E8FD-0832-43F9-877C-C9C55D3AFE2C}"/>
              </a:ext>
            </a:extLst>
          </p:cNvPr>
          <p:cNvSpPr>
            <a:spLocks noGrp="1"/>
          </p:cNvSpPr>
          <p:nvPr/>
        </p:nvSpPr>
        <p:spPr>
          <a:xfrm>
            <a:off x="4572000" y="405765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85AA09-1ED2-4B31-8090-7C1E63F94FDB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388620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B0B889-6024-418C-8BED-4DAF514E2311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629400" cy="4191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7AE44B-F0C2-4391-A010-4FDAA1441C18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의료 표현 오해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C61BCA-5D1E-448F-A8F2-4F8A47853959}"/>
              </a:ext>
            </a:extLst>
          </p:cNvPr>
          <p:cNvSpPr>
            <a:spLocks noGrp="1"/>
          </p:cNvSpPr>
          <p:nvPr/>
        </p:nvSpPr>
        <p:spPr>
          <a:xfrm>
            <a:off x="5181600" y="4629150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진단·치료·처방처럼 보이는 표현 제외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EAA0D7-D862-4C2B-9FA2-6EF171974384}"/>
              </a:ext>
            </a:extLst>
          </p:cNvPr>
          <p:cNvSpPr>
            <a:spLocks noGrp="1"/>
          </p:cNvSpPr>
          <p:nvPr/>
        </p:nvSpPr>
        <p:spPr>
          <a:xfrm>
            <a:off x="4572000" y="46101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4E69A6-0CB6-44C9-996F-E527D2D4D0F9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88620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1A57D3-8711-4830-902E-AC76EF0AB6C4}"/>
              </a:ext>
            </a:extLst>
          </p:cNvPr>
          <p:cNvSpPr>
            <a:spLocks noGrp="1"/>
          </p:cNvSpPr>
          <p:nvPr/>
        </p:nvSpPr>
        <p:spPr>
          <a:xfrm>
            <a:off x="4953000" y="5067300"/>
            <a:ext cx="6629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29C3EF-5CB4-4B83-AA6B-0EB4D4599A6A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real 모델 전환 시 흔들림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A6222BC-A04E-4B20-B666-CCF3E586CB78}"/>
              </a:ext>
            </a:extLst>
          </p:cNvPr>
          <p:cNvSpPr>
            <a:spLocks noGrp="1"/>
          </p:cNvSpPr>
          <p:nvPr/>
        </p:nvSpPr>
        <p:spPr>
          <a:xfrm>
            <a:off x="5181600" y="5181600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mock과 real 구현이 같은 인터페이스를 따르도록 고정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9D8E25-E6B5-411B-BB74-6139D556AFBC}"/>
              </a:ext>
            </a:extLst>
          </p:cNvPr>
          <p:cNvSpPr>
            <a:spLocks noGrp="1"/>
          </p:cNvSpPr>
          <p:nvPr/>
        </p:nvSpPr>
        <p:spPr>
          <a:xfrm>
            <a:off x="4572000" y="516255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EA2FE4-0CAE-4174-B221-7EB8693F089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A8F8E0-B9ED-4A06-B755-9DF6D7E9BD11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103046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TextBox 3"/>
          <p:cNvSpPr/>
          <p:nvPr/>
        </p:nvSpPr>
        <p:spPr>
          <a:xfrm>
            <a:off x="857250" y="666750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음식 비전 04</a:t>
            </a:r>
          </a:p>
        </p:txBody>
      </p:sp>
      <p:sp>
        <p:nvSpPr>
          <p:cNvPr id="4" name="TextBox 4"/>
          <p:cNvSpPr/>
          <p:nvPr/>
        </p:nvSpPr>
        <p:spPr>
          <a:xfrm>
            <a:off x="857250" y="1104900"/>
            <a:ext cx="9906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30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음식 인식 기능은 후보를 만들고 사용자가 양을 확정하게 한다</a:t>
            </a:r>
          </a:p>
        </p:txBody>
      </p:sp>
      <p:sp>
        <p:nvSpPr>
          <p:cNvPr id="5" name="TextBox 5"/>
          <p:cNvSpPr/>
          <p:nvPr/>
        </p:nvSpPr>
        <p:spPr>
          <a:xfrm>
            <a:off x="857250" y="194310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425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사진만으로 섭취량을 단정하지 않고, 후보와 100g 기준 프로필을 먼저 보여준 뒤 사용자 입력으로 보정한다.</a:t>
            </a:r>
          </a:p>
        </p:txBody>
      </p:sp>
      <p:sp>
        <p:nvSpPr>
          <p:cNvPr id="6" name="TextBox 6"/>
          <p:cNvSpPr/>
          <p:nvPr/>
        </p:nvSpPr>
        <p:spPr>
          <a:xfrm>
            <a:off x="857250" y="2714625"/>
            <a:ext cx="5095875" cy="1362075"/>
          </a:xfrm>
          <a:prstGeom prst="rect">
            <a:avLst/>
          </a:prstGeom>
          <a:solidFill>
            <a:srgbClr val="F7FA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7" name="TextBox 7"/>
          <p:cNvSpPr/>
          <p:nvPr/>
        </p:nvSpPr>
        <p:spPr>
          <a:xfrm>
            <a:off x="1047750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8"/>
          <p:cNvSpPr/>
          <p:nvPr/>
        </p:nvSpPr>
        <p:spPr>
          <a:xfrm>
            <a:off x="1638300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입력 수집</a:t>
            </a:r>
          </a:p>
        </p:txBody>
      </p:sp>
      <p:sp>
        <p:nvSpPr>
          <p:cNvPr id="9" name="TextBox 9"/>
          <p:cNvSpPr/>
          <p:nvPr/>
        </p:nvSpPr>
        <p:spPr>
          <a:xfrm>
            <a:off x="1085850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사진 또는 텍스트 식단을 받음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라벨 OCR과 object hint는 보조 힌트로 사용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입력 원문은 review 가능하게 유지</a:t>
            </a:r>
          </a:p>
        </p:txBody>
      </p:sp>
      <p:sp>
        <p:nvSpPr>
          <p:cNvPr id="10" name="TextBox 10"/>
          <p:cNvSpPr/>
          <p:nvPr/>
        </p:nvSpPr>
        <p:spPr>
          <a:xfrm>
            <a:off x="6238875" y="2714625"/>
            <a:ext cx="5095875" cy="1362075"/>
          </a:xfrm>
          <a:prstGeom prst="rect">
            <a:avLst/>
          </a:prstGeom>
          <a:solidFill>
            <a:srgbClr val="FFF7E8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1" name="TextBox 11"/>
          <p:cNvSpPr/>
          <p:nvPr/>
        </p:nvSpPr>
        <p:spPr>
          <a:xfrm>
            <a:off x="6429375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2"/>
          <p:cNvSpPr/>
          <p:nvPr/>
        </p:nvSpPr>
        <p:spPr>
          <a:xfrm>
            <a:off x="7019925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13" name="TextBox 13"/>
          <p:cNvSpPr/>
          <p:nvPr/>
        </p:nvSpPr>
        <p:spPr>
          <a:xfrm>
            <a:off x="6467475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YOLO 후보를 중심으로 class와 confidence 정리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GCV/OCR은 음식명 확정이 아니라 보강 신호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top-N 후보와 애매한 후보를 함께 전달</a:t>
            </a:r>
          </a:p>
        </p:txBody>
      </p:sp>
      <p:sp>
        <p:nvSpPr>
          <p:cNvPr id="14" name="TextBox 14"/>
          <p:cNvSpPr/>
          <p:nvPr/>
        </p:nvSpPr>
        <p:spPr>
          <a:xfrm>
            <a:off x="857250" y="4400550"/>
            <a:ext cx="5095875" cy="1362075"/>
          </a:xfrm>
          <a:prstGeom prst="rect">
            <a:avLst/>
          </a:prstGeom>
          <a:solidFill>
            <a:srgbClr val="EEF8F2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5" name="TextBox 15"/>
          <p:cNvSpPr/>
          <p:nvPr/>
        </p:nvSpPr>
        <p:spPr>
          <a:xfrm>
            <a:off x="1047750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6"/>
          <p:cNvSpPr/>
          <p:nvPr/>
        </p:nvSpPr>
        <p:spPr>
          <a:xfrm>
            <a:off x="1638300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영양 DB 매칭</a:t>
            </a:r>
          </a:p>
        </p:txBody>
      </p:sp>
      <p:sp>
        <p:nvSpPr>
          <p:cNvPr id="17" name="TextBox 17"/>
          <p:cNvSpPr/>
          <p:nvPr/>
        </p:nvSpPr>
        <p:spPr>
          <a:xfrm>
            <a:off x="1085850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공식 식품성분표와 alias 규칙으로 연결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매칭 실패는 조용히 저장하지 않고 flag 처리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- 100g 기준 영양 성격을 먼저 표시</a:t>
            </a:r>
          </a:p>
        </p:txBody>
      </p:sp>
      <p:sp>
        <p:nvSpPr>
          <p:cNvPr id="18" name="TextBox 18"/>
          <p:cNvSpPr/>
          <p:nvPr/>
        </p:nvSpPr>
        <p:spPr>
          <a:xfrm>
            <a:off x="6238875" y="4400550"/>
            <a:ext cx="5095875" cy="1362075"/>
          </a:xfrm>
          <a:prstGeom prst="rect">
            <a:avLst/>
          </a:prstGeom>
          <a:solidFill>
            <a:srgbClr val="F7F3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9" name="TextBox 19"/>
          <p:cNvSpPr/>
          <p:nvPr/>
        </p:nvSpPr>
        <p:spPr>
          <a:xfrm>
            <a:off x="6429375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20"/>
          <p:cNvSpPr/>
          <p:nvPr/>
        </p:nvSpPr>
        <p:spPr>
          <a:xfrm>
            <a:off x="7019925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양 보정 · 저장</a:t>
            </a:r>
          </a:p>
        </p:txBody>
      </p:sp>
      <p:sp>
        <p:nvSpPr>
          <p:cNvPr id="21" name="TextBox 21"/>
          <p:cNvSpPr/>
          <p:nvPr/>
        </p:nvSpPr>
        <p:spPr>
          <a:xfrm>
            <a:off x="6467475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사용자가 g 또는 인분을 입력하면 재계산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수정값과 원 후보를 함께 snapshot으로 남김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다음 분석에서 같은 근거를 재현 가능하게 함</a:t>
            </a:r>
          </a:p>
        </p:txBody>
      </p:sp>
      <p:sp>
        <p:nvSpPr>
          <p:cNvPr id="22" name="TextBox 22"/>
          <p:cNvSpPr/>
          <p:nvPr/>
        </p:nvSpPr>
        <p:spPr>
          <a:xfrm>
            <a:off x="857250" y="5829300"/>
            <a:ext cx="10477500" cy="361950"/>
          </a:xfrm>
          <a:prstGeom prst="rect">
            <a:avLst/>
          </a:prstGeom>
          <a:solidFill>
            <a:srgbClr val="FFF5D8"/>
          </a:solidFill>
          <a:ln w="9525">
            <a:solidFill>
              <a:srgbClr val="F0D7A4"/>
            </a:solidFill>
          </a:ln>
        </p:spPr>
        <p:txBody>
          <a:bodyPr wrap="square" lIns="133350" tIns="133350" rIns="133350" bIns="133350"/>
          <a:lstStyle/>
          <a:p>
            <a:pPr algn="l"/>
            <a:r>
              <a:rPr lang="ko-KR" sz="1200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음식 비전 상세 기능의 기준: AI </a:t>
            </a:r>
            <a:r>
              <a:rPr lang="ko-KR" sz="1200" b="1" dirty="0" err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판정값은</a:t>
            </a:r>
            <a:r>
              <a:rPr lang="ko-KR" sz="1200" b="1" dirty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 확정 기록이 아니라 사용자가 검토할 수 있는 후보다.</a:t>
            </a:r>
          </a:p>
        </p:txBody>
      </p:sp>
      <p:sp>
        <p:nvSpPr>
          <p:cNvPr id="23" name="TextBox 23"/>
          <p:cNvSpPr/>
          <p:nvPr/>
        </p:nvSpPr>
        <p:spPr>
          <a:xfrm>
            <a:off x="619125" y="63722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24" name="TextBox 24"/>
          <p:cNvSpPr/>
          <p:nvPr/>
        </p:nvSpPr>
        <p:spPr>
          <a:xfrm>
            <a:off x="11049000" y="6372225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-marker">
            <a:extLst>
              <a:ext uri="{FF2B5EF4-FFF2-40B4-BE49-F238E27FC236}">
                <a16:creationId xmlns:a16="http://schemas.microsoft.com/office/drawing/2014/main" id="{A2637470-4440-4ED9-96DB-01F33C365DE9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F8E59FE6-36B8-413D-A9D1-F25EEBF51EE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알고리즘 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FE5B63-B92D-4BE8-A265-34736F13A10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알고리즘은 공식 계산식과 운영 규칙을 분리해야 안전하게 바꿀 수 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DC7104-1B68-484B-96F9-185CF22F902C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근거가 있는 계산은 고정하고, 프로젝트에서 검증할 값은 운영 규칙으로 표시한다.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5BEE77-F670-4A6B-9686-DCEC22C23AED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5219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3368F9-AF48-4C0C-AEA6-BDAE1494DA11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공식 기반 계산식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F0ACB4-4C31-4201-B2D0-84E402A38B48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235250-C45C-4494-868F-6987F1ACA596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BMI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757618-D112-47B7-9FB8-1B47791C290B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체형 분류의 기본 기준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EBBED0-B5D6-42D6-AADB-BE0C9F794EAB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793E29-8AD5-4EF2-A8AA-65E413788C6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BMR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188DED-BE96-4D90-84CD-04066249C407}"/>
              </a:ext>
            </a:extLst>
          </p:cNvPr>
          <p:cNvSpPr>
            <a:spLocks noGrp="1"/>
          </p:cNvSpPr>
          <p:nvPr/>
        </p:nvSpPr>
        <p:spPr>
          <a:xfrm>
            <a:off x="2305050" y="36004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기초대사량 계산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A43A97-69D6-4CED-A20A-5B54D4DB8BD5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B99380-62A8-478F-AE26-9F762171777F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HRmax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D02159-99E3-40D2-A184-9035E048169F}"/>
              </a:ext>
            </a:extLst>
          </p:cNvPr>
          <p:cNvSpPr>
            <a:spLocks noGrp="1"/>
          </p:cNvSpPr>
          <p:nvPr/>
        </p:nvSpPr>
        <p:spPr>
          <a:xfrm>
            <a:off x="2305050" y="40005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심박 기반 활동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8A6F36-8E8E-428B-91A6-596672887866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356CEB-A78E-44C0-811E-BC662D473145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KDRIs / DRI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D10AC5-32A9-4126-BBB1-C1A058D8E0D3}"/>
              </a:ext>
            </a:extLst>
          </p:cNvPr>
          <p:cNvSpPr>
            <a:spLocks noGrp="1"/>
          </p:cNvSpPr>
          <p:nvPr/>
        </p:nvSpPr>
        <p:spPr>
          <a:xfrm>
            <a:off x="2305050" y="44005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영양 권장 기준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463943-1AF8-40C7-B928-4A7F41E9C344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DD94761-C646-4DB8-B317-39DA9A90D710}"/>
              </a:ext>
            </a:extLst>
          </p:cNvPr>
          <p:cNvSpPr>
            <a:spLocks noGrp="1"/>
          </p:cNvSpPr>
          <p:nvPr/>
        </p:nvSpPr>
        <p:spPr>
          <a:xfrm>
            <a:off x="857250" y="48006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7-step 예측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4C75BEF-A073-41D8-8BCE-0143CDEBD6D7}"/>
              </a:ext>
            </a:extLst>
          </p:cNvPr>
          <p:cNvSpPr>
            <a:spLocks noGrp="1"/>
          </p:cNvSpPr>
          <p:nvPr/>
        </p:nvSpPr>
        <p:spPr>
          <a:xfrm>
            <a:off x="2305050" y="48006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BMR, TDEE, 섭취 칼로리, 7,700 kcal/kg 참고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DDC649-1DC1-4DC6-AB50-210046C122DE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219700" cy="2857500"/>
          </a:xfrm>
          <a:prstGeom prst="rect">
            <a:avLst/>
          </a:prstGeom>
          <a:solidFill>
            <a:srgbClr val="FFF8E8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FE7168-ACBA-42AA-A5E4-3C923ADFF30C}"/>
              </a:ext>
            </a:extLst>
          </p:cNvPr>
          <p:cNvSpPr>
            <a:spLocks noGrp="1"/>
          </p:cNvSpPr>
          <p:nvPr/>
        </p:nvSpPr>
        <p:spPr>
          <a:xfrm>
            <a:off x="6591300" y="26670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운영 중 검증할 규칙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9C2D01-28FB-435E-8271-77B00831856C}"/>
              </a:ext>
            </a:extLst>
          </p:cNvPr>
          <p:cNvSpPr>
            <a:spLocks noGrp="1"/>
          </p:cNvSpPr>
          <p:nvPr/>
        </p:nvSpPr>
        <p:spPr>
          <a:xfrm>
            <a:off x="6591300" y="31051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AFC785-CAB8-43A2-BB81-C5DD8493702B}"/>
              </a:ext>
            </a:extLst>
          </p:cNvPr>
          <p:cNvSpPr>
            <a:spLocks noGrp="1"/>
          </p:cNvSpPr>
          <p:nvPr/>
        </p:nvSpPr>
        <p:spPr>
          <a:xfrm>
            <a:off x="6610350" y="32004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성별·나이·BMI 보정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70B3DD-0E22-44CC-A1D3-3A529582B87D}"/>
              </a:ext>
            </a:extLst>
          </p:cNvPr>
          <p:cNvSpPr>
            <a:spLocks noGrp="1"/>
          </p:cNvSpPr>
          <p:nvPr/>
        </p:nvSpPr>
        <p:spPr>
          <a:xfrm>
            <a:off x="8058150" y="32004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 특성별 활동 기준 조정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85BD192-EA9C-4FBE-A830-FD1EA9CF7AFA}"/>
              </a:ext>
            </a:extLst>
          </p:cNvPr>
          <p:cNvSpPr>
            <a:spLocks noGrp="1"/>
          </p:cNvSpPr>
          <p:nvPr/>
        </p:nvSpPr>
        <p:spPr>
          <a:xfrm>
            <a:off x="6591300" y="35052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4C8B80-2BF5-4C01-B896-B230F83D90C0}"/>
              </a:ext>
            </a:extLst>
          </p:cNvPr>
          <p:cNvSpPr>
            <a:spLocks noGrp="1"/>
          </p:cNvSpPr>
          <p:nvPr/>
        </p:nvSpPr>
        <p:spPr>
          <a:xfrm>
            <a:off x="6610350" y="36004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질환 가중치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F16DF69-B7EA-4741-AD89-C4C05B46DA81}"/>
              </a:ext>
            </a:extLst>
          </p:cNvPr>
          <p:cNvSpPr>
            <a:spLocks noGrp="1"/>
          </p:cNvSpPr>
          <p:nvPr/>
        </p:nvSpPr>
        <p:spPr>
          <a:xfrm>
            <a:off x="8058150" y="36004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만성질환 맥락 반영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239F8B-C6E2-4386-ABFC-92DB3E975E68}"/>
              </a:ext>
            </a:extLst>
          </p:cNvPr>
          <p:cNvSpPr>
            <a:spLocks noGrp="1"/>
          </p:cNvSpPr>
          <p:nvPr/>
        </p:nvSpPr>
        <p:spPr>
          <a:xfrm>
            <a:off x="6591300" y="39052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2D40C-EF9D-4A02-90F9-ABF4BCB5E0AE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부족/낮음/적정/과다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D1A1B77-286A-4E11-A898-9A7391D9AC07}"/>
              </a:ext>
            </a:extLst>
          </p:cNvPr>
          <p:cNvSpPr>
            <a:spLocks noGrp="1"/>
          </p:cNvSpPr>
          <p:nvPr/>
        </p:nvSpPr>
        <p:spPr>
          <a:xfrm>
            <a:off x="8058150" y="40005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권장량 대비 상태 표현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9A4031-110B-42A8-A04B-5F0BFAD69469}"/>
              </a:ext>
            </a:extLst>
          </p:cNvPr>
          <p:cNvSpPr>
            <a:spLocks noGrp="1"/>
          </p:cNvSpPr>
          <p:nvPr/>
        </p:nvSpPr>
        <p:spPr>
          <a:xfrm>
            <a:off x="6591300" y="43053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0AA0D03-8EF8-4E44-82FF-91D02B36C7BD}"/>
              </a:ext>
            </a:extLst>
          </p:cNvPr>
          <p:cNvSpPr>
            <a:spLocks noGrp="1"/>
          </p:cNvSpPr>
          <p:nvPr/>
        </p:nvSpPr>
        <p:spPr>
          <a:xfrm>
            <a:off x="6610350" y="44005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영양제 매칭 가중치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DCEECA1-971F-476D-B9F4-9A9CF0351744}"/>
              </a:ext>
            </a:extLst>
          </p:cNvPr>
          <p:cNvSpPr>
            <a:spLocks noGrp="1"/>
          </p:cNvSpPr>
          <p:nvPr/>
        </p:nvSpPr>
        <p:spPr>
          <a:xfrm>
            <a:off x="8058150" y="44005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성분명, 함량, 단위 매칭 기준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95AEDE4-8B12-4944-A7CE-06C02C60650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AD8C7B-E22E-41F1-A940-FB1745DC6979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986403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arker">
            <a:extLst>
              <a:ext uri="{FF2B5EF4-FFF2-40B4-BE49-F238E27FC236}">
                <a16:creationId xmlns:a16="http://schemas.microsoft.com/office/drawing/2014/main" id="{FA4519FE-068C-4762-8493-5A8AF952800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51155446-3094-4D9D-A89C-8AE70DF1EBE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알고리즘 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B58EDF-D2EB-4D6F-8B32-2D65C2F53C2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OCR/LLM 결과는 사용자 승인 전까지 preview 상태로 둔다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738AC7-2D1A-452F-BA95-587A57E9EB8D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AI는 최종 판단자가 아니라, 사용자가 확인할 수 있게 정리하는 보조자다.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13274F-5E19-4059-847C-14842517441A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619250" cy="12192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0E11D9-A6A3-4FBF-97CE-F1AC1FCE6C17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라벨 촬영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ACA509-C30E-4864-9B5D-4DF53ECC8819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390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영양제·검사표·처방전 등 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04697-6E51-47BF-874E-D31BF8A308FF}"/>
              </a:ext>
            </a:extLst>
          </p:cNvPr>
          <p:cNvSpPr>
            <a:spLocks noGrp="1"/>
          </p:cNvSpPr>
          <p:nvPr/>
        </p:nvSpPr>
        <p:spPr>
          <a:xfrm>
            <a:off x="2238375" y="3067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168ECE-F026-41B5-BA2F-17A3DB0416B2}"/>
              </a:ext>
            </a:extLst>
          </p:cNvPr>
          <p:cNvSpPr>
            <a:spLocks noGrp="1"/>
          </p:cNvSpPr>
          <p:nvPr/>
        </p:nvSpPr>
        <p:spPr>
          <a:xfrm>
            <a:off x="2457450" y="2571750"/>
            <a:ext cx="1619250" cy="12192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1CFAE2-32CB-4140-AEA5-2CC6D9D47870}"/>
              </a:ext>
            </a:extLst>
          </p:cNvPr>
          <p:cNvSpPr>
            <a:spLocks noGrp="1"/>
          </p:cNvSpPr>
          <p:nvPr/>
        </p:nvSpPr>
        <p:spPr>
          <a:xfrm>
            <a:off x="2571750" y="2781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OCR 추출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C6FCB7-9B73-44C9-B5E4-3CEDEA1EC01F}"/>
              </a:ext>
            </a:extLst>
          </p:cNvPr>
          <p:cNvSpPr>
            <a:spLocks noGrp="1"/>
          </p:cNvSpPr>
          <p:nvPr/>
        </p:nvSpPr>
        <p:spPr>
          <a:xfrm>
            <a:off x="2571750" y="3143250"/>
            <a:ext cx="1390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텍스트 후보 생성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6E9682-C2EA-40BA-8C77-D03CE6207777}"/>
              </a:ext>
            </a:extLst>
          </p:cNvPr>
          <p:cNvSpPr>
            <a:spLocks noGrp="1"/>
          </p:cNvSpPr>
          <p:nvPr/>
        </p:nvSpPr>
        <p:spPr>
          <a:xfrm>
            <a:off x="4086225" y="3067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F50F3C-DBF1-4A75-AD5B-3E15135ED5BE}"/>
              </a:ext>
            </a:extLst>
          </p:cNvPr>
          <p:cNvSpPr>
            <a:spLocks noGrp="1"/>
          </p:cNvSpPr>
          <p:nvPr/>
        </p:nvSpPr>
        <p:spPr>
          <a:xfrm>
            <a:off x="4305300" y="2571750"/>
            <a:ext cx="1619250" cy="12192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48283E-76A2-458B-9124-F9176E734E55}"/>
              </a:ext>
            </a:extLst>
          </p:cNvPr>
          <p:cNvSpPr>
            <a:spLocks noGrp="1"/>
          </p:cNvSpPr>
          <p:nvPr/>
        </p:nvSpPr>
        <p:spPr>
          <a:xfrm>
            <a:off x="4419600" y="2781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LLM 구조화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BCFB24-BF7B-41D5-AF59-28155E380E42}"/>
              </a:ext>
            </a:extLst>
          </p:cNvPr>
          <p:cNvSpPr>
            <a:spLocks noGrp="1"/>
          </p:cNvSpPr>
          <p:nvPr/>
        </p:nvSpPr>
        <p:spPr>
          <a:xfrm>
            <a:off x="4419600" y="3143250"/>
            <a:ext cx="1390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성분명·함량·단위 정리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206D86-54E2-4186-AC48-5CC77221F6B9}"/>
              </a:ext>
            </a:extLst>
          </p:cNvPr>
          <p:cNvSpPr>
            <a:spLocks noGrp="1"/>
          </p:cNvSpPr>
          <p:nvPr/>
        </p:nvSpPr>
        <p:spPr>
          <a:xfrm>
            <a:off x="5934075" y="3067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04A208-FEA5-4059-B8B5-3C4EFF412B83}"/>
              </a:ext>
            </a:extLst>
          </p:cNvPr>
          <p:cNvSpPr>
            <a:spLocks noGrp="1"/>
          </p:cNvSpPr>
          <p:nvPr/>
        </p:nvSpPr>
        <p:spPr>
          <a:xfrm>
            <a:off x="6153150" y="2571750"/>
            <a:ext cx="1619250" cy="12192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E16871-296E-4F7F-AF34-CE7D70D09008}"/>
              </a:ext>
            </a:extLst>
          </p:cNvPr>
          <p:cNvSpPr>
            <a:spLocks noGrp="1"/>
          </p:cNvSpPr>
          <p:nvPr/>
        </p:nvSpPr>
        <p:spPr>
          <a:xfrm>
            <a:off x="6267450" y="2781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Pydantic 검증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3D0FB3-6A5D-4590-8BC4-96846485D728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1390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필드와 타입 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006CBF-43A2-4818-B1B0-127C13DA13F9}"/>
              </a:ext>
            </a:extLst>
          </p:cNvPr>
          <p:cNvSpPr>
            <a:spLocks noGrp="1"/>
          </p:cNvSpPr>
          <p:nvPr/>
        </p:nvSpPr>
        <p:spPr>
          <a:xfrm>
            <a:off x="7781925" y="3067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9D242B-50FB-4E78-9AF6-B919F7A91611}"/>
              </a:ext>
            </a:extLst>
          </p:cNvPr>
          <p:cNvSpPr>
            <a:spLocks noGrp="1"/>
          </p:cNvSpPr>
          <p:nvPr/>
        </p:nvSpPr>
        <p:spPr>
          <a:xfrm>
            <a:off x="8001000" y="2571750"/>
            <a:ext cx="1619250" cy="12192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EB6918-B897-4252-BD6E-701FC9A18E94}"/>
              </a:ext>
            </a:extLst>
          </p:cNvPr>
          <p:cNvSpPr>
            <a:spLocks noGrp="1"/>
          </p:cNvSpPr>
          <p:nvPr/>
        </p:nvSpPr>
        <p:spPr>
          <a:xfrm>
            <a:off x="8115300" y="2781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Preview 표시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BFB4CA-C113-45EA-81D3-ED9B63B55C21}"/>
              </a:ext>
            </a:extLst>
          </p:cNvPr>
          <p:cNvSpPr>
            <a:spLocks noGrp="1"/>
          </p:cNvSpPr>
          <p:nvPr/>
        </p:nvSpPr>
        <p:spPr>
          <a:xfrm>
            <a:off x="8115300" y="3143250"/>
            <a:ext cx="1390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이대로 맞나요?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7111C09-9DD7-488D-8758-01B7B5ADA07E}"/>
              </a:ext>
            </a:extLst>
          </p:cNvPr>
          <p:cNvSpPr>
            <a:spLocks noGrp="1"/>
          </p:cNvSpPr>
          <p:nvPr/>
        </p:nvSpPr>
        <p:spPr>
          <a:xfrm>
            <a:off x="9629775" y="306705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B82928-85AE-4365-BC66-843477EE168C}"/>
              </a:ext>
            </a:extLst>
          </p:cNvPr>
          <p:cNvSpPr>
            <a:spLocks noGrp="1"/>
          </p:cNvSpPr>
          <p:nvPr/>
        </p:nvSpPr>
        <p:spPr>
          <a:xfrm>
            <a:off x="9848850" y="2571750"/>
            <a:ext cx="1619250" cy="12192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032077-A7D5-4655-9036-008ACC9FA6ED}"/>
              </a:ext>
            </a:extLst>
          </p:cNvPr>
          <p:cNvSpPr>
            <a:spLocks noGrp="1"/>
          </p:cNvSpPr>
          <p:nvPr/>
        </p:nvSpPr>
        <p:spPr>
          <a:xfrm>
            <a:off x="9963150" y="27813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 승인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66FFBC-D212-40AA-9776-26E0095EE27E}"/>
              </a:ext>
            </a:extLst>
          </p:cNvPr>
          <p:cNvSpPr>
            <a:spLocks noGrp="1"/>
          </p:cNvSpPr>
          <p:nvPr/>
        </p:nvSpPr>
        <p:spPr>
          <a:xfrm>
            <a:off x="9963150" y="3143250"/>
            <a:ext cx="1390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수정 후 저장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BB2FB4F-FCA7-4AA5-A55F-859E410AB64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33528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1A92288-FC94-454F-9476-63A5E765DDB1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승인 전 결과는 최종 기록이 아니다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039958-9532-42BF-906F-F0BA372FA081}"/>
              </a:ext>
            </a:extLst>
          </p:cNvPr>
          <p:cNvSpPr>
            <a:spLocks noGrp="1"/>
          </p:cNvSpPr>
          <p:nvPr/>
        </p:nvSpPr>
        <p:spPr>
          <a:xfrm>
            <a:off x="4267200" y="4495800"/>
            <a:ext cx="3352800" cy="666750"/>
          </a:xfrm>
          <a:prstGeom prst="rect">
            <a:avLst/>
          </a:prstGeom>
          <a:solidFill>
            <a:srgbClr val="FFF8E8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9D34937-EBFE-4AC0-BE7B-0E57A6DBF745}"/>
              </a:ext>
            </a:extLst>
          </p:cNvPr>
          <p:cNvSpPr>
            <a:spLocks noGrp="1"/>
          </p:cNvSpPr>
          <p:nvPr/>
        </p:nvSpPr>
        <p:spPr>
          <a:xfrm>
            <a:off x="4476750" y="47053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고치기는 같은 카드 안에서 처리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741C5B-FCB4-4AE3-AE88-C8697B7CE4F7}"/>
              </a:ext>
            </a:extLst>
          </p:cNvPr>
          <p:cNvSpPr>
            <a:spLocks noGrp="1"/>
          </p:cNvSpPr>
          <p:nvPr/>
        </p:nvSpPr>
        <p:spPr>
          <a:xfrm>
            <a:off x="7924800" y="4495800"/>
            <a:ext cx="33528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887316E-8637-4F8B-A1AF-36BB571D93FD}"/>
              </a:ext>
            </a:extLst>
          </p:cNvPr>
          <p:cNvSpPr>
            <a:spLocks noGrp="1"/>
          </p:cNvSpPr>
          <p:nvPr/>
        </p:nvSpPr>
        <p:spPr>
          <a:xfrm>
            <a:off x="8134350" y="470535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처방·복용량 변경 직접 안내는 차단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341A84-D397-4DCB-B174-99253A9CB91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ACE4284-3816-419B-9491-98D5B4FC24A9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167481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-marker">
            <a:extLst>
              <a:ext uri="{FF2B5EF4-FFF2-40B4-BE49-F238E27FC236}">
                <a16:creationId xmlns:a16="http://schemas.microsoft.com/office/drawing/2014/main" id="{66894633-6076-4628-BDB7-552D55E5C2D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06DFDEFF-DD07-4710-9910-C7F44DD7211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알고리즘 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899275-67A7-450B-AEAC-E1D6A38C6FF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안전 문구와 snapshot이 설명 가능성을 만든다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67CCF7-3D72-4634-A5AF-F6C7767F1F52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사용자에게는 참고 정보로 말하고, 시스템에는 나중에 재현할 수 있는 증거를 남긴다.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10F3ED-DD1E-433D-96B3-6A62AC084005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3390900" cy="272415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4F84D5-C4C0-466A-94FD-E4DBDF728573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 문구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9B7F14-3958-4F50-A8A4-970DFD229A36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2857500" cy="188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진단 · 치료 · 처방처럼 들리는 표현 금지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참고 정보, 주의 가능성, 전문가 상담 권장 형태 유지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권장량보다 낮을 수 있어요 같은 일상어 사용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E6AFE3-EBF5-4D7F-B7E2-6E3FB05F47A1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76200" cy="2724150"/>
          </a:xfrm>
          <a:prstGeom prst="rect">
            <a:avLst/>
          </a:prstGeom>
          <a:solidFill>
            <a:srgbClr val="3F6D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39CC2C-CDC9-4C03-A7A6-D200B0B2C473}"/>
              </a:ext>
            </a:extLst>
          </p:cNvPr>
          <p:cNvSpPr>
            <a:spLocks noGrp="1"/>
          </p:cNvSpPr>
          <p:nvPr/>
        </p:nvSpPr>
        <p:spPr>
          <a:xfrm>
            <a:off x="4400550" y="2552700"/>
            <a:ext cx="3390900" cy="2724150"/>
          </a:xfrm>
          <a:prstGeom prst="rect">
            <a:avLst/>
          </a:prstGeom>
          <a:solidFill>
            <a:srgbClr val="FFF8E8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2DAFA0-0A24-4E99-B7E5-31E70623569F}"/>
              </a:ext>
            </a:extLst>
          </p:cNvPr>
          <p:cNvSpPr>
            <a:spLocks noGrp="1"/>
          </p:cNvSpPr>
          <p:nvPr/>
        </p:nvSpPr>
        <p:spPr>
          <a:xfrm>
            <a:off x="4629150" y="27622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저장 증거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390A7-2BAD-45B8-993A-ADC3B56158DC}"/>
              </a:ext>
            </a:extLst>
          </p:cNvPr>
          <p:cNvSpPr>
            <a:spLocks noGrp="1"/>
          </p:cNvSpPr>
          <p:nvPr/>
        </p:nvSpPr>
        <p:spPr>
          <a:xfrm>
            <a:off x="4667250" y="3200400"/>
            <a:ext cx="2857500" cy="188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입력값 snapshot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결과값 snapshot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알고리즘 버전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KDRIs 출처 버전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preview 승인 상태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FDE50E-2B13-4F6E-A2D6-A91081D1B2C9}"/>
              </a:ext>
            </a:extLst>
          </p:cNvPr>
          <p:cNvSpPr>
            <a:spLocks noGrp="1"/>
          </p:cNvSpPr>
          <p:nvPr/>
        </p:nvSpPr>
        <p:spPr>
          <a:xfrm>
            <a:off x="4400550" y="2552700"/>
            <a:ext cx="76200" cy="2724150"/>
          </a:xfrm>
          <a:prstGeom prst="rect">
            <a:avLst/>
          </a:prstGeom>
          <a:solidFill>
            <a:srgbClr val="C987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67E762-327F-432F-8B67-D12EB2C1091D}"/>
              </a:ext>
            </a:extLst>
          </p:cNvPr>
          <p:cNvSpPr>
            <a:spLocks noGrp="1"/>
          </p:cNvSpPr>
          <p:nvPr/>
        </p:nvSpPr>
        <p:spPr>
          <a:xfrm>
            <a:off x="8191500" y="2552700"/>
            <a:ext cx="3390900" cy="2724150"/>
          </a:xfrm>
          <a:prstGeom prst="rect">
            <a:avLst/>
          </a:prstGeom>
          <a:solidFill>
            <a:srgbClr val="ECFAF4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9DEFF2-9E84-42C3-B529-793BF03B5AC5}"/>
              </a:ext>
            </a:extLst>
          </p:cNvPr>
          <p:cNvSpPr>
            <a:spLocks noGrp="1"/>
          </p:cNvSpPr>
          <p:nvPr/>
        </p:nvSpPr>
        <p:spPr>
          <a:xfrm>
            <a:off x="8420100" y="27622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88DCAD-42E0-4170-B812-BDF7F5E0A19C}"/>
              </a:ext>
            </a:extLst>
          </p:cNvPr>
          <p:cNvSpPr>
            <a:spLocks noGrp="1"/>
          </p:cNvSpPr>
          <p:nvPr/>
        </p:nvSpPr>
        <p:spPr>
          <a:xfrm>
            <a:off x="8458200" y="3200400"/>
            <a:ext cx="2857500" cy="188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같은 입력에 같은 결과가 나왔는지 확인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계산식 변경 시 영향 범위 추적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AI 결과와 사용자 승인 기록 분리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5889FA-215B-481D-B975-1C16A0BC5D1E}"/>
              </a:ext>
            </a:extLst>
          </p:cNvPr>
          <p:cNvSpPr>
            <a:spLocks noGrp="1"/>
          </p:cNvSpPr>
          <p:nvPr/>
        </p:nvSpPr>
        <p:spPr>
          <a:xfrm>
            <a:off x="8191500" y="2552700"/>
            <a:ext cx="76200" cy="2724150"/>
          </a:xfrm>
          <a:prstGeom prst="rect">
            <a:avLst/>
          </a:prstGeom>
          <a:solidFill>
            <a:srgbClr val="1FA77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642786-CD7B-483F-BE6C-56867AE1E63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5F9D61-7EAA-4E53-9194-5CB66859DF00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76907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TextBox 3"/>
          <p:cNvSpPr/>
          <p:nvPr/>
        </p:nvSpPr>
        <p:spPr>
          <a:xfrm>
            <a:off x="857250" y="666750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알고리즘 04</a:t>
            </a:r>
          </a:p>
        </p:txBody>
      </p:sp>
      <p:sp>
        <p:nvSpPr>
          <p:cNvPr id="4" name="TextBox 4"/>
          <p:cNvSpPr/>
          <p:nvPr/>
        </p:nvSpPr>
        <p:spPr>
          <a:xfrm>
            <a:off x="857250" y="1104900"/>
            <a:ext cx="9906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30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알고리즘 기능은 계산값, 운영 규칙, 승인 상태를 분리한다</a:t>
            </a:r>
          </a:p>
        </p:txBody>
      </p:sp>
      <p:sp>
        <p:nvSpPr>
          <p:cNvPr id="5" name="TextBox 5"/>
          <p:cNvSpPr/>
          <p:nvPr/>
        </p:nvSpPr>
        <p:spPr>
          <a:xfrm>
            <a:off x="857250" y="194310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425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공식 근거가 있는 계산은 고정하고, 프로젝트에서 조정할 값은 버전과 snapshot으로 추적한다.</a:t>
            </a:r>
          </a:p>
        </p:txBody>
      </p:sp>
      <p:sp>
        <p:nvSpPr>
          <p:cNvPr id="6" name="TextBox 6"/>
          <p:cNvSpPr/>
          <p:nvPr/>
        </p:nvSpPr>
        <p:spPr>
          <a:xfrm>
            <a:off x="857250" y="2714625"/>
            <a:ext cx="5095875" cy="1362075"/>
          </a:xfrm>
          <a:prstGeom prst="rect">
            <a:avLst/>
          </a:prstGeom>
          <a:solidFill>
            <a:srgbClr val="F7FA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7" name="TextBox 7"/>
          <p:cNvSpPr/>
          <p:nvPr/>
        </p:nvSpPr>
        <p:spPr>
          <a:xfrm>
            <a:off x="1047750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8"/>
          <p:cNvSpPr/>
          <p:nvPr/>
        </p:nvSpPr>
        <p:spPr>
          <a:xfrm>
            <a:off x="1638300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기본 계산</a:t>
            </a:r>
          </a:p>
        </p:txBody>
      </p:sp>
      <p:sp>
        <p:nvSpPr>
          <p:cNvPr id="9" name="TextBox 9"/>
          <p:cNvSpPr/>
          <p:nvPr/>
        </p:nvSpPr>
        <p:spPr>
          <a:xfrm>
            <a:off x="1085850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BMI, BMR, TDEE, HRmax 같은 기준 계산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입력 단위와 공식 출처 버전을 함께 관리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계산식 변경 시 영향 범위 추적</a:t>
            </a:r>
          </a:p>
        </p:txBody>
      </p:sp>
      <p:sp>
        <p:nvSpPr>
          <p:cNvPr id="10" name="TextBox 10"/>
          <p:cNvSpPr/>
          <p:nvPr/>
        </p:nvSpPr>
        <p:spPr>
          <a:xfrm>
            <a:off x="6238875" y="2714625"/>
            <a:ext cx="5095875" cy="1362075"/>
          </a:xfrm>
          <a:prstGeom prst="rect">
            <a:avLst/>
          </a:prstGeom>
          <a:solidFill>
            <a:srgbClr val="FFF7E8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1" name="TextBox 11"/>
          <p:cNvSpPr/>
          <p:nvPr/>
        </p:nvSpPr>
        <p:spPr>
          <a:xfrm>
            <a:off x="6429375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2"/>
          <p:cNvSpPr/>
          <p:nvPr/>
        </p:nvSpPr>
        <p:spPr>
          <a:xfrm>
            <a:off x="7019925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영양 상태 판정</a:t>
            </a:r>
          </a:p>
        </p:txBody>
      </p:sp>
      <p:sp>
        <p:nvSpPr>
          <p:cNvPr id="13" name="TextBox 13"/>
          <p:cNvSpPr/>
          <p:nvPr/>
        </p:nvSpPr>
        <p:spPr>
          <a:xfrm>
            <a:off x="6467475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KDRIs/DRI 기준과 섭취량을 비교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부족, 낮음, 적정, 과다 단계로 설명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질환 가중치는 운영 규칙으로 별도 관리</a:t>
            </a:r>
          </a:p>
        </p:txBody>
      </p:sp>
      <p:sp>
        <p:nvSpPr>
          <p:cNvPr id="14" name="TextBox 14"/>
          <p:cNvSpPr/>
          <p:nvPr/>
        </p:nvSpPr>
        <p:spPr>
          <a:xfrm>
            <a:off x="857250" y="4400550"/>
            <a:ext cx="5095875" cy="1362075"/>
          </a:xfrm>
          <a:prstGeom prst="rect">
            <a:avLst/>
          </a:prstGeom>
          <a:solidFill>
            <a:srgbClr val="EEF8F2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5" name="TextBox 15"/>
          <p:cNvSpPr/>
          <p:nvPr/>
        </p:nvSpPr>
        <p:spPr>
          <a:xfrm>
            <a:off x="1047750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6"/>
          <p:cNvSpPr/>
          <p:nvPr/>
        </p:nvSpPr>
        <p:spPr>
          <a:xfrm>
            <a:off x="1638300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Preview 승인</a:t>
            </a:r>
          </a:p>
        </p:txBody>
      </p:sp>
      <p:sp>
        <p:nvSpPr>
          <p:cNvPr id="17" name="TextBox 17"/>
          <p:cNvSpPr/>
          <p:nvPr/>
        </p:nvSpPr>
        <p:spPr>
          <a:xfrm>
            <a:off x="1085850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OCR/LLM 구조화 결과는 곧바로 확정하지 않음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Pydantic 검증 후 사용자가 수정·승인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처방·복용량 변경 직접 안내는 차단</a:t>
            </a:r>
          </a:p>
        </p:txBody>
      </p:sp>
      <p:sp>
        <p:nvSpPr>
          <p:cNvPr id="18" name="TextBox 18"/>
          <p:cNvSpPr/>
          <p:nvPr/>
        </p:nvSpPr>
        <p:spPr>
          <a:xfrm>
            <a:off x="6238875" y="4400550"/>
            <a:ext cx="5095875" cy="1362075"/>
          </a:xfrm>
          <a:prstGeom prst="rect">
            <a:avLst/>
          </a:prstGeom>
          <a:solidFill>
            <a:srgbClr val="F7F3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9" name="TextBox 19"/>
          <p:cNvSpPr/>
          <p:nvPr/>
        </p:nvSpPr>
        <p:spPr>
          <a:xfrm>
            <a:off x="6429375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20"/>
          <p:cNvSpPr/>
          <p:nvPr/>
        </p:nvSpPr>
        <p:spPr>
          <a:xfrm>
            <a:off x="7019925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Snapshot 저장</a:t>
            </a:r>
          </a:p>
        </p:txBody>
      </p:sp>
      <p:sp>
        <p:nvSpPr>
          <p:cNvPr id="21" name="TextBox 21"/>
          <p:cNvSpPr/>
          <p:nvPr/>
        </p:nvSpPr>
        <p:spPr>
          <a:xfrm>
            <a:off x="6467475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입력값, 결과값, 알고리즘 버전을 함께 저장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같은 입력에 같은 결과가 나왔는지 확인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사용자에게는 참고 정보 표현만 사용</a:t>
            </a:r>
          </a:p>
        </p:txBody>
      </p:sp>
      <p:sp>
        <p:nvSpPr>
          <p:cNvPr id="22" name="TextBox 22"/>
          <p:cNvSpPr/>
          <p:nvPr/>
        </p:nvSpPr>
        <p:spPr>
          <a:xfrm>
            <a:off x="857250" y="5824145"/>
            <a:ext cx="10477500" cy="361950"/>
          </a:xfrm>
          <a:prstGeom prst="rect">
            <a:avLst/>
          </a:prstGeom>
          <a:solidFill>
            <a:srgbClr val="FFF5D8"/>
          </a:solidFill>
          <a:ln w="9525">
            <a:solidFill>
              <a:srgbClr val="F0D7A4"/>
            </a:solidFill>
          </a:ln>
        </p:spPr>
        <p:txBody>
          <a:bodyPr wrap="square" lIns="133350" tIns="133350" rIns="133350" bIns="133350"/>
          <a:lstStyle/>
          <a:p>
            <a:pPr algn="l"/>
            <a:r>
              <a:rPr lang="ko-KR" sz="12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알고리즘 상세 기능의 기준: 더 복잡한 계산보다 설명 가능성과 재현 가능성을 우선한다.</a:t>
            </a:r>
          </a:p>
        </p:txBody>
      </p:sp>
      <p:sp>
        <p:nvSpPr>
          <p:cNvPr id="23" name="TextBox 23"/>
          <p:cNvSpPr/>
          <p:nvPr/>
        </p:nvSpPr>
        <p:spPr>
          <a:xfrm>
            <a:off x="619125" y="63722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24" name="TextBox 24"/>
          <p:cNvSpPr/>
          <p:nvPr/>
        </p:nvSpPr>
        <p:spPr>
          <a:xfrm>
            <a:off x="11049000" y="6372225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marker">
            <a:extLst>
              <a:ext uri="{FF2B5EF4-FFF2-40B4-BE49-F238E27FC236}">
                <a16:creationId xmlns:a16="http://schemas.microsoft.com/office/drawing/2014/main" id="{B80BBC92-2E32-4039-9E5B-DC4E8635165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4B0E7DC0-8787-46DB-82F8-EB13B8492C8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DB/백엔드 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042F40-D556-45AE-99DD-9368BAD6BC89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DB/백엔드는 user_id 기준으로 서비스의 기억을 연결한다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18BBEF-D4F5-48B2-8AFB-A54301CDC15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앱은 DB에 직접 접근하지 않고, FastAPI가 인증·검증·저장 정책을 일관되게 적용한다.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BD11E3-ED04-4BD0-B122-FF2C357D9776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286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E570FA-75C4-41C6-AA18-79098655A7BC}"/>
              </a:ext>
            </a:extLst>
          </p:cNvPr>
          <p:cNvSpPr>
            <a:spLocks noGrp="1"/>
          </p:cNvSpPr>
          <p:nvPr/>
        </p:nvSpPr>
        <p:spPr>
          <a:xfrm>
            <a:off x="1123950" y="25908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Flutter App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4047C6-54BE-4614-9F05-1F47C865DB5D}"/>
              </a:ext>
            </a:extLst>
          </p:cNvPr>
          <p:cNvSpPr>
            <a:spLocks noGrp="1"/>
          </p:cNvSpPr>
          <p:nvPr/>
        </p:nvSpPr>
        <p:spPr>
          <a:xfrm>
            <a:off x="4095750" y="2476500"/>
            <a:ext cx="657225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025E6E-79F7-4B27-8515-D2F1FA3443EB}"/>
              </a:ext>
            </a:extLst>
          </p:cNvPr>
          <p:cNvSpPr>
            <a:spLocks noGrp="1"/>
          </p:cNvSpPr>
          <p:nvPr/>
        </p:nvSpPr>
        <p:spPr>
          <a:xfrm>
            <a:off x="4305300" y="2590800"/>
            <a:ext cx="615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로그인 · 사진 촬영 · 프로필 입력 · 챗봇 요청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FC2B23-42F7-4D0D-9375-7E150A646706}"/>
              </a:ext>
            </a:extLst>
          </p:cNvPr>
          <p:cNvSpPr>
            <a:spLocks noGrp="1"/>
          </p:cNvSpPr>
          <p:nvPr/>
        </p:nvSpPr>
        <p:spPr>
          <a:xfrm>
            <a:off x="1943100" y="2933700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1D7C6B-E7B1-4C04-8224-A2806ECD9C1C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2286000" cy="4191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C5994A-42DF-42CF-9434-665EB21429AB}"/>
              </a:ext>
            </a:extLst>
          </p:cNvPr>
          <p:cNvSpPr>
            <a:spLocks noGrp="1"/>
          </p:cNvSpPr>
          <p:nvPr/>
        </p:nvSpPr>
        <p:spPr>
          <a:xfrm>
            <a:off x="1123950" y="318135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FastAPI Backend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F16ECF-52F5-470D-922C-38010FD59648}"/>
              </a:ext>
            </a:extLst>
          </p:cNvPr>
          <p:cNvSpPr>
            <a:spLocks noGrp="1"/>
          </p:cNvSpPr>
          <p:nvPr/>
        </p:nvSpPr>
        <p:spPr>
          <a:xfrm>
            <a:off x="4095750" y="3067050"/>
            <a:ext cx="657225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F2B4FB-3277-4C08-A037-C56AF11AF757}"/>
              </a:ext>
            </a:extLst>
          </p:cNvPr>
          <p:cNvSpPr>
            <a:spLocks noGrp="1"/>
          </p:cNvSpPr>
          <p:nvPr/>
        </p:nvSpPr>
        <p:spPr>
          <a:xfrm>
            <a:off x="4305300" y="3181350"/>
            <a:ext cx="615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JWT 인증 · 요청 검증 · DB 저장 · Agent 호출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F78EA4-D2CE-4B19-BAF4-F73625D055ED}"/>
              </a:ext>
            </a:extLst>
          </p:cNvPr>
          <p:cNvSpPr>
            <a:spLocks noGrp="1"/>
          </p:cNvSpPr>
          <p:nvPr/>
        </p:nvSpPr>
        <p:spPr>
          <a:xfrm>
            <a:off x="1943100" y="3524250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8B8461-2583-42D4-B175-524D38B3D2EA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2286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507E96-7711-461F-ACD7-EF1F14A3D751}"/>
              </a:ext>
            </a:extLst>
          </p:cNvPr>
          <p:cNvSpPr>
            <a:spLocks noGrp="1"/>
          </p:cNvSpPr>
          <p:nvPr/>
        </p:nvSpPr>
        <p:spPr>
          <a:xfrm>
            <a:off x="1123950" y="37719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249D22-6982-4D65-986A-3AAD1594E43C}"/>
              </a:ext>
            </a:extLst>
          </p:cNvPr>
          <p:cNvSpPr>
            <a:spLocks noGrp="1"/>
          </p:cNvSpPr>
          <p:nvPr/>
        </p:nvSpPr>
        <p:spPr>
          <a:xfrm>
            <a:off x="4095750" y="3657600"/>
            <a:ext cx="657225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E89429-381E-49ED-BC3B-E830E2587556}"/>
              </a:ext>
            </a:extLst>
          </p:cNvPr>
          <p:cNvSpPr>
            <a:spLocks noGrp="1"/>
          </p:cNvSpPr>
          <p:nvPr/>
        </p:nvSpPr>
        <p:spPr>
          <a:xfrm>
            <a:off x="4305300" y="3771900"/>
            <a:ext cx="615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사용자·프로필·식단·영양제·분석 결과 장기 저장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794C7D-6853-4B7B-A71D-A8ED74A47B73}"/>
              </a:ext>
            </a:extLst>
          </p:cNvPr>
          <p:cNvSpPr>
            <a:spLocks noGrp="1"/>
          </p:cNvSpPr>
          <p:nvPr/>
        </p:nvSpPr>
        <p:spPr>
          <a:xfrm>
            <a:off x="1943100" y="4114800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0C5D25-ED81-43FC-A6D1-D870E39D9FAD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2286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1DD365-83A2-4FFD-8EAA-B830A9B90AEA}"/>
              </a:ext>
            </a:extLst>
          </p:cNvPr>
          <p:cNvSpPr>
            <a:spLocks noGrp="1"/>
          </p:cNvSpPr>
          <p:nvPr/>
        </p:nvSpPr>
        <p:spPr>
          <a:xfrm>
            <a:off x="1123950" y="436245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A05E39-56B4-40A1-886C-41822762CF96}"/>
              </a:ext>
            </a:extLst>
          </p:cNvPr>
          <p:cNvSpPr>
            <a:spLocks noGrp="1"/>
          </p:cNvSpPr>
          <p:nvPr/>
        </p:nvSpPr>
        <p:spPr>
          <a:xfrm>
            <a:off x="4095750" y="4248150"/>
            <a:ext cx="657225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9D98FD-4BB8-4F11-B49F-30A5DCDC3981}"/>
              </a:ext>
            </a:extLst>
          </p:cNvPr>
          <p:cNvSpPr>
            <a:spLocks noGrp="1"/>
          </p:cNvSpPr>
          <p:nvPr/>
        </p:nvSpPr>
        <p:spPr>
          <a:xfrm>
            <a:off x="4305300" y="4362450"/>
            <a:ext cx="615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OCR 결과 · KDRIs 기준값 · rate limit 캐시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3CB793A-ACEC-4525-A024-7263FE419AC4}"/>
              </a:ext>
            </a:extLst>
          </p:cNvPr>
          <p:cNvSpPr>
            <a:spLocks noGrp="1"/>
          </p:cNvSpPr>
          <p:nvPr/>
        </p:nvSpPr>
        <p:spPr>
          <a:xfrm>
            <a:off x="1943100" y="4705350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93D999-176E-4B82-B79E-B19705CD8F51}"/>
              </a:ext>
            </a:extLst>
          </p:cNvPr>
          <p:cNvSpPr>
            <a:spLocks noGrp="1"/>
          </p:cNvSpPr>
          <p:nvPr/>
        </p:nvSpPr>
        <p:spPr>
          <a:xfrm>
            <a:off x="914400" y="4838700"/>
            <a:ext cx="2286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5757B1-18B3-4E05-AF60-28231DE496B3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LLM Agent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FD3684-1F13-4155-8988-F35C70793742}"/>
              </a:ext>
            </a:extLst>
          </p:cNvPr>
          <p:cNvSpPr>
            <a:spLocks noGrp="1"/>
          </p:cNvSpPr>
          <p:nvPr/>
        </p:nvSpPr>
        <p:spPr>
          <a:xfrm>
            <a:off x="4095750" y="4838700"/>
            <a:ext cx="6572250" cy="41910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37C6C6-F7E3-472A-8324-FC4B80251DE9}"/>
              </a:ext>
            </a:extLst>
          </p:cNvPr>
          <p:cNvSpPr>
            <a:spLocks noGrp="1"/>
          </p:cNvSpPr>
          <p:nvPr/>
        </p:nvSpPr>
        <p:spPr>
          <a:xfrm>
            <a:off x="4305300" y="4953000"/>
            <a:ext cx="615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백엔드가 정리한 최소 데이터만 받아 분석 보조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AA8E22-1856-46CF-A02A-A3E8AC590472}"/>
              </a:ext>
            </a:extLst>
          </p:cNvPr>
          <p:cNvSpPr>
            <a:spLocks noGrp="1"/>
          </p:cNvSpPr>
          <p:nvPr/>
        </p:nvSpPr>
        <p:spPr>
          <a:xfrm>
            <a:off x="1943100" y="5295900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3E4675-65AA-49C6-AE96-F88BDF3F95E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FFEEFF6-0636-488B-8227-E2F2CC8E6EFC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524441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icker-marker">
            <a:extLst>
              <a:ext uri="{FF2B5EF4-FFF2-40B4-BE49-F238E27FC236}">
                <a16:creationId xmlns:a16="http://schemas.microsoft.com/office/drawing/2014/main" id="{163A0154-9A46-4258-A65F-74CDA51E820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E9AA445-4038-4E04-97B9-7E14FF2E587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DB/백엔드 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4C55A0-0B04-4787-BBE2-0A3A7D88FB1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PostgreSQL은 장기 기록, Redis는 반복 비용 절감에 맞다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A38129-8CE1-42D6-ACDB-740735DB5BEC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저장소의 역할을 나누면 민감한 건강 데이터와 임시 계산 결과를 같은 방식으로 다루지 않게 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63D864-EE8D-41F8-8A45-F6A0C5924910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5219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4DE0CC-E0F0-4840-A6D4-0ED0BB8AA273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3EEA6B-9222-4DCE-B070-2D4B76FE5B09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B0EBE1-8B20-44AC-A741-09EF41163615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관계형 연결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395FE8-5E87-4751-B82E-CE49D7ADA158}"/>
              </a:ext>
            </a:extLst>
          </p:cNvPr>
          <p:cNvSpPr>
            <a:spLocks noGrp="1"/>
          </p:cNvSpPr>
          <p:nvPr/>
        </p:nvSpPr>
        <p:spPr>
          <a:xfrm>
            <a:off x="2305050" y="32004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2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  <a:r>
              <a:rPr lang="en-US" altLang="ko-KR" sz="12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  <a:r>
              <a:rPr lang="ko-KR" altLang="en-US" sz="12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프로필</a:t>
            </a:r>
            <a:r>
              <a:rPr lang="en-US" altLang="ko-KR" sz="12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  <a:r>
              <a:rPr lang="ko-KR" altLang="en-US" sz="12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기록</a:t>
            </a:r>
            <a:r>
              <a:rPr lang="en-US" altLang="ko-KR" sz="12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  <a:r>
              <a:rPr lang="ko-KR" altLang="en-US" sz="120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분석결과</a:t>
            </a:r>
            <a:r>
              <a:rPr sz="12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sz="12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user_id로</a:t>
            </a:r>
            <a:r>
              <a:rPr sz="12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  <a:endParaRPr sz="120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8EC601-F7D0-45C0-9065-196BC3EF5AD2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810C11-3460-4B2E-8B5E-EF2C588E0988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JSONB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7690FE-2D1B-4E93-83CA-602554E9BB88}"/>
              </a:ext>
            </a:extLst>
          </p:cNvPr>
          <p:cNvSpPr>
            <a:spLocks noGrp="1"/>
          </p:cNvSpPr>
          <p:nvPr/>
        </p:nvSpPr>
        <p:spPr>
          <a:xfrm>
            <a:off x="2305050" y="36004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영양제 성분표, 음식 분석 결과처럼 구조가 유동적인 데이터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56D820-EB51-484B-9F27-A92A1A44FB2D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786AB1-FD73-43B6-AE15-1CE85F4BDEC3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TimescaleDB 검토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546EBB-0143-4265-96A6-11876D5FAF38}"/>
              </a:ext>
            </a:extLst>
          </p:cNvPr>
          <p:cNvSpPr>
            <a:spLocks noGrp="1"/>
          </p:cNvSpPr>
          <p:nvPr/>
        </p:nvSpPr>
        <p:spPr>
          <a:xfrm>
            <a:off x="2305050" y="40005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걸음수, 체중, 심박수 같은 시간순 건강 데이터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694CB6-DF4B-4F90-A82D-95AD7FF9E092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4A145D-9209-44A0-B0D7-2EA6A2B750BB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RLS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91B81E-6570-43BD-A685-4811E2EAAD84}"/>
              </a:ext>
            </a:extLst>
          </p:cNvPr>
          <p:cNvSpPr>
            <a:spLocks noGrp="1"/>
          </p:cNvSpPr>
          <p:nvPr/>
        </p:nvSpPr>
        <p:spPr>
          <a:xfrm>
            <a:off x="2305050" y="44005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사용자별 데이터 접근 제한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4CE4E3-2787-4107-9E0F-081AEEA04DF3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219700" cy="2857500"/>
          </a:xfrm>
          <a:prstGeom prst="rect">
            <a:avLst/>
          </a:prstGeom>
          <a:solidFill>
            <a:srgbClr val="FFF8E8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65F89E-0922-45BE-9FB2-E2DEC7D05016}"/>
              </a:ext>
            </a:extLst>
          </p:cNvPr>
          <p:cNvSpPr>
            <a:spLocks noGrp="1"/>
          </p:cNvSpPr>
          <p:nvPr/>
        </p:nvSpPr>
        <p:spPr>
          <a:xfrm>
            <a:off x="6591300" y="266700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BCC51D3-ACFD-49FA-95E5-2376B617DA39}"/>
              </a:ext>
            </a:extLst>
          </p:cNvPr>
          <p:cNvSpPr>
            <a:spLocks noGrp="1"/>
          </p:cNvSpPr>
          <p:nvPr/>
        </p:nvSpPr>
        <p:spPr>
          <a:xfrm>
            <a:off x="6591300" y="31051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435DF5-2E05-466A-9D64-AD16AAA6B210}"/>
              </a:ext>
            </a:extLst>
          </p:cNvPr>
          <p:cNvSpPr>
            <a:spLocks noGrp="1"/>
          </p:cNvSpPr>
          <p:nvPr/>
        </p:nvSpPr>
        <p:spPr>
          <a:xfrm>
            <a:off x="6610350" y="32004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OCR 결과 캐시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63C895-F3B9-48BB-B8FF-39976CA405AE}"/>
              </a:ext>
            </a:extLst>
          </p:cNvPr>
          <p:cNvSpPr>
            <a:spLocks noGrp="1"/>
          </p:cNvSpPr>
          <p:nvPr/>
        </p:nvSpPr>
        <p:spPr>
          <a:xfrm>
            <a:off x="8058150" y="32004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같은 사진 반복 분석 비용 절감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D067CB4-BF55-4B85-91EC-9D915EF1F1AD}"/>
              </a:ext>
            </a:extLst>
          </p:cNvPr>
          <p:cNvSpPr>
            <a:spLocks noGrp="1"/>
          </p:cNvSpPr>
          <p:nvPr/>
        </p:nvSpPr>
        <p:spPr>
          <a:xfrm>
            <a:off x="6591300" y="35052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CC9267-CD73-4662-BFB3-79082B8EF2CA}"/>
              </a:ext>
            </a:extLst>
          </p:cNvPr>
          <p:cNvSpPr>
            <a:spLocks noGrp="1"/>
          </p:cNvSpPr>
          <p:nvPr/>
        </p:nvSpPr>
        <p:spPr>
          <a:xfrm>
            <a:off x="6610350" y="36004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KDRIs 기준값 캐시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BC23B8-B6D7-4065-BAFD-E35C31D1FFFE}"/>
              </a:ext>
            </a:extLst>
          </p:cNvPr>
          <p:cNvSpPr>
            <a:spLocks noGrp="1"/>
          </p:cNvSpPr>
          <p:nvPr/>
        </p:nvSpPr>
        <p:spPr>
          <a:xfrm>
            <a:off x="8058150" y="36004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자주 조회되는 기준 빠른 반환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BC4F3F-9000-4A4C-9E27-4CA1D2C3E549}"/>
              </a:ext>
            </a:extLst>
          </p:cNvPr>
          <p:cNvSpPr>
            <a:spLocks noGrp="1"/>
          </p:cNvSpPr>
          <p:nvPr/>
        </p:nvSpPr>
        <p:spPr>
          <a:xfrm>
            <a:off x="6591300" y="390525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39A477-182A-4CD7-9FD3-D9D76DF5D499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Rate limit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B72DEA-7C39-4739-8771-32E274654359}"/>
              </a:ext>
            </a:extLst>
          </p:cNvPr>
          <p:cNvSpPr>
            <a:spLocks noGrp="1"/>
          </p:cNvSpPr>
          <p:nvPr/>
        </p:nvSpPr>
        <p:spPr>
          <a:xfrm>
            <a:off x="8058150" y="40005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사용자별 호출 제한 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4AE6E11-2EA4-41CB-A362-5BF127F92BE0}"/>
              </a:ext>
            </a:extLst>
          </p:cNvPr>
          <p:cNvSpPr>
            <a:spLocks noGrp="1"/>
          </p:cNvSpPr>
          <p:nvPr/>
        </p:nvSpPr>
        <p:spPr>
          <a:xfrm>
            <a:off x="6591300" y="4305300"/>
            <a:ext cx="4762500" cy="9525"/>
          </a:xfrm>
          <a:prstGeom prst="rect">
            <a:avLst/>
          </a:prstGeom>
          <a:solidFill>
            <a:srgbClr val="DDE5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20CB5BB-8B3A-48B1-86F9-CBC4B11B49DD}"/>
              </a:ext>
            </a:extLst>
          </p:cNvPr>
          <p:cNvSpPr>
            <a:spLocks noGrp="1"/>
          </p:cNvSpPr>
          <p:nvPr/>
        </p:nvSpPr>
        <p:spPr>
          <a:xfrm>
            <a:off x="6610350" y="44005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8700"/>
                </a:solidFill>
                <a:latin typeface="Apple SD Gothic Neo"/>
                <a:ea typeface="Apple SD Gothic Neo"/>
                <a:cs typeface="Apple SD Gothic Neo"/>
              </a:rPr>
              <a:t>임시 저장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F7635B5-CB42-475C-93E5-0BDD4D4BCF04}"/>
              </a:ext>
            </a:extLst>
          </p:cNvPr>
          <p:cNvSpPr>
            <a:spLocks noGrp="1"/>
          </p:cNvSpPr>
          <p:nvPr/>
        </p:nvSpPr>
        <p:spPr>
          <a:xfrm>
            <a:off x="8058150" y="44005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영속 저장소가 아니라 반복 비용을 줄이는 계층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89F475C-9BB5-4D2F-8EA2-5449A285433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783091A-C149-4752-9DF6-223FF008CCA2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1806145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marker">
            <a:extLst>
              <a:ext uri="{FF2B5EF4-FFF2-40B4-BE49-F238E27FC236}">
                <a16:creationId xmlns:a16="http://schemas.microsoft.com/office/drawing/2014/main" id="{4B57B7E5-7DC3-4FE2-8B8A-D9965FF81C4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C4FD3729-8EBF-48C2-BE71-ADE1C538AEA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DB/백엔드 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D74672-94C3-41AD-A57B-39AB23BFF3D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Agent Memory는 원본 전체가 아니라 필요한 요약만 본다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0F92C5-FE25-4EE5-A0C9-B96D668503D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민감한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건강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데이터를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다루기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때문에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범위와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LLM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범위를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분리해야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한다</a:t>
            </a:r>
            <a:r>
              <a:rPr sz="150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40C507-C22D-4B3F-95D6-E851EF68620F}"/>
              </a:ext>
            </a:extLst>
          </p:cNvPr>
          <p:cNvSpPr>
            <a:spLocks noGrp="1"/>
          </p:cNvSpPr>
          <p:nvPr/>
        </p:nvSpPr>
        <p:spPr>
          <a:xfrm>
            <a:off x="657225" y="2378299"/>
            <a:ext cx="3390900" cy="2381250"/>
          </a:xfrm>
          <a:prstGeom prst="rect">
            <a:avLst/>
          </a:prstGeom>
          <a:solidFill>
            <a:srgbClr val="ECFAF4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565078-2B0D-4258-9EFE-207982B33A98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Agent에게 전달 가능한 요약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82C7FA-E653-4B23-A25F-E4487901CABD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8575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최근 검사값 요약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만성질환 태그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복약 정보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최근 주의사항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식단관리 점수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850A9B-512F-42EC-A262-E3F9F7BEAE7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76200" cy="2381250"/>
          </a:xfrm>
          <a:prstGeom prst="rect">
            <a:avLst/>
          </a:prstGeom>
          <a:solidFill>
            <a:srgbClr val="1FA77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0112F5-84F4-4056-8953-33FDBB1DAA74}"/>
              </a:ext>
            </a:extLst>
          </p:cNvPr>
          <p:cNvSpPr>
            <a:spLocks noGrp="1"/>
          </p:cNvSpPr>
          <p:nvPr/>
        </p:nvSpPr>
        <p:spPr>
          <a:xfrm>
            <a:off x="4381500" y="33718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최소 전달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A136C0-A53B-4312-9DDC-166E717B2D26}"/>
              </a:ext>
            </a:extLst>
          </p:cNvPr>
          <p:cNvSpPr>
            <a:spLocks noGrp="1"/>
          </p:cNvSpPr>
          <p:nvPr/>
        </p:nvSpPr>
        <p:spPr>
          <a:xfrm>
            <a:off x="4762500" y="37147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AB0A75-506E-4008-BB72-C9D65A2CEC4F}"/>
              </a:ext>
            </a:extLst>
          </p:cNvPr>
          <p:cNvSpPr>
            <a:spLocks noGrp="1"/>
          </p:cNvSpPr>
          <p:nvPr/>
        </p:nvSpPr>
        <p:spPr>
          <a:xfrm>
            <a:off x="5829300" y="2476500"/>
            <a:ext cx="3390900" cy="2381250"/>
          </a:xfrm>
          <a:prstGeom prst="rect">
            <a:avLst/>
          </a:prstGeom>
          <a:solidFill>
            <a:srgbClr val="FFF8E8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F36216-7C48-47E3-A07D-91E76699C067}"/>
              </a:ext>
            </a:extLst>
          </p:cNvPr>
          <p:cNvSpPr>
            <a:spLocks noGrp="1"/>
          </p:cNvSpPr>
          <p:nvPr/>
        </p:nvSpPr>
        <p:spPr>
          <a:xfrm>
            <a:off x="6057900" y="26860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전달하지 않을 원본/민감정보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857C9D-F9BA-47ED-9396-6C2C90F4FB99}"/>
              </a:ext>
            </a:extLst>
          </p:cNvPr>
          <p:cNvSpPr>
            <a:spLocks noGrp="1"/>
          </p:cNvSpPr>
          <p:nvPr/>
        </p:nvSpPr>
        <p:spPr>
          <a:xfrm>
            <a:off x="6096000" y="3124200"/>
            <a:ext cx="28575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DB 전체 원본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비밀번호 원문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전체 검사표 이미지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불필요한 가족/병원 정보</a:t>
            </a: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사용 목적 밖 민감정보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3C0AFA-165B-4C71-87C6-622C062D74BA}"/>
              </a:ext>
            </a:extLst>
          </p:cNvPr>
          <p:cNvSpPr>
            <a:spLocks noGrp="1"/>
          </p:cNvSpPr>
          <p:nvPr/>
        </p:nvSpPr>
        <p:spPr>
          <a:xfrm>
            <a:off x="5829300" y="2476500"/>
            <a:ext cx="76200" cy="2381250"/>
          </a:xfrm>
          <a:prstGeom prst="rect">
            <a:avLst/>
          </a:prstGeom>
          <a:solidFill>
            <a:srgbClr val="C987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105011-F412-40C3-83E3-D108B52A1212}"/>
              </a:ext>
            </a:extLst>
          </p:cNvPr>
          <p:cNvSpPr>
            <a:spLocks noGrp="1"/>
          </p:cNvSpPr>
          <p:nvPr/>
        </p:nvSpPr>
        <p:spPr>
          <a:xfrm>
            <a:off x="9525000" y="2476500"/>
            <a:ext cx="20574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9A3161-5EF7-408C-871B-CA06E1B9BE65}"/>
              </a:ext>
            </a:extLst>
          </p:cNvPr>
          <p:cNvSpPr>
            <a:spLocks noGrp="1"/>
          </p:cNvSpPr>
          <p:nvPr/>
        </p:nvSpPr>
        <p:spPr>
          <a:xfrm>
            <a:off x="9734550" y="2724150"/>
            <a:ext cx="1638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보안 방향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8ED4F4-073C-4E72-8E5D-8BD3F1A22277}"/>
              </a:ext>
            </a:extLst>
          </p:cNvPr>
          <p:cNvSpPr>
            <a:spLocks noGrp="1"/>
          </p:cNvSpPr>
          <p:nvPr/>
        </p:nvSpPr>
        <p:spPr>
          <a:xfrm>
            <a:off x="9753600" y="3124200"/>
            <a:ext cx="16002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비밀번호 원문 저장 금지</a:t>
            </a:r>
          </a:p>
          <a:p>
            <a:pPr algn="l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JWT 인증</a:t>
            </a:r>
          </a:p>
          <a:p>
            <a:pPr algn="l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user_id 기준 접근 제한</a:t>
            </a:r>
          </a:p>
          <a:p>
            <a:pPr algn="l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민감정보 암호화 검토</a:t>
            </a:r>
          </a:p>
          <a:p>
            <a:pPr algn="l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감사 로그</a:t>
            </a:r>
          </a:p>
          <a:p>
            <a:pPr algn="l">
              <a:def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LLM 전달 데이터 최소화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6DED82-C75C-44F2-98C6-AD571C0CDA5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F38B05-842C-4F1F-A951-611BE268CAB9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726555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0" y="199757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TextBox 3"/>
          <p:cNvSpPr/>
          <p:nvPr/>
        </p:nvSpPr>
        <p:spPr>
          <a:xfrm>
            <a:off x="857250" y="666750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DB/백엔드 04</a:t>
            </a:r>
          </a:p>
        </p:txBody>
      </p:sp>
      <p:sp>
        <p:nvSpPr>
          <p:cNvPr id="4" name="TextBox 4"/>
          <p:cNvSpPr/>
          <p:nvPr/>
        </p:nvSpPr>
        <p:spPr>
          <a:xfrm>
            <a:off x="857250" y="1104900"/>
            <a:ext cx="9906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30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백엔드 기능은 모든 기록을 user_id 기준 계약으로 묶는다</a:t>
            </a:r>
          </a:p>
        </p:txBody>
      </p:sp>
      <p:sp>
        <p:nvSpPr>
          <p:cNvPr id="5" name="TextBox 5"/>
          <p:cNvSpPr/>
          <p:nvPr/>
        </p:nvSpPr>
        <p:spPr>
          <a:xfrm>
            <a:off x="857250" y="194310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425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앱, DB, 캐시, Agent가 같은 사용자 기준으로 동작하게 만들고 민감정보 전달 범위를 최소화한다.</a:t>
            </a:r>
          </a:p>
        </p:txBody>
      </p:sp>
      <p:sp>
        <p:nvSpPr>
          <p:cNvPr id="6" name="TextBox 6"/>
          <p:cNvSpPr/>
          <p:nvPr/>
        </p:nvSpPr>
        <p:spPr>
          <a:xfrm>
            <a:off x="857250" y="2714625"/>
            <a:ext cx="5095875" cy="1362075"/>
          </a:xfrm>
          <a:prstGeom prst="rect">
            <a:avLst/>
          </a:prstGeom>
          <a:solidFill>
            <a:srgbClr val="F7FA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7" name="TextBox 7"/>
          <p:cNvSpPr/>
          <p:nvPr/>
        </p:nvSpPr>
        <p:spPr>
          <a:xfrm>
            <a:off x="1047750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8"/>
          <p:cNvSpPr/>
          <p:nvPr/>
        </p:nvSpPr>
        <p:spPr>
          <a:xfrm>
            <a:off x="1638300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인증 · 권한</a:t>
            </a:r>
          </a:p>
        </p:txBody>
      </p:sp>
      <p:sp>
        <p:nvSpPr>
          <p:cNvPr id="9" name="TextBox 9"/>
          <p:cNvSpPr/>
          <p:nvPr/>
        </p:nvSpPr>
        <p:spPr>
          <a:xfrm>
            <a:off x="1085850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로그인 후 JWT로 요청 사용자 확인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Flutter 앱은 DB에 직접 접근하지 않음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user_id 기준 접근 제한을 기본 계약으로 둠</a:t>
            </a:r>
          </a:p>
        </p:txBody>
      </p:sp>
      <p:sp>
        <p:nvSpPr>
          <p:cNvPr id="10" name="TextBox 10"/>
          <p:cNvSpPr/>
          <p:nvPr/>
        </p:nvSpPr>
        <p:spPr>
          <a:xfrm>
            <a:off x="6238875" y="2714625"/>
            <a:ext cx="5095875" cy="1362075"/>
          </a:xfrm>
          <a:prstGeom prst="rect">
            <a:avLst/>
          </a:prstGeom>
          <a:solidFill>
            <a:srgbClr val="FFF7E8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1" name="TextBox 11"/>
          <p:cNvSpPr/>
          <p:nvPr/>
        </p:nvSpPr>
        <p:spPr>
          <a:xfrm>
            <a:off x="6429375" y="287655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2"/>
          <p:cNvSpPr/>
          <p:nvPr/>
        </p:nvSpPr>
        <p:spPr>
          <a:xfrm>
            <a:off x="7019925" y="28479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요청 검증</a:t>
            </a:r>
          </a:p>
        </p:txBody>
      </p:sp>
      <p:sp>
        <p:nvSpPr>
          <p:cNvPr id="13" name="TextBox 13"/>
          <p:cNvSpPr/>
          <p:nvPr/>
        </p:nvSpPr>
        <p:spPr>
          <a:xfrm>
            <a:off x="6467475" y="3228975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FastAPI가 입력 스키마와 타입을 검증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음식, 영양제, 프로필 요청을 같은 정책으로 처리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실패 사유는 UX가 표시할 수 있게 분리</a:t>
            </a:r>
          </a:p>
        </p:txBody>
      </p:sp>
      <p:sp>
        <p:nvSpPr>
          <p:cNvPr id="14" name="TextBox 14"/>
          <p:cNvSpPr/>
          <p:nvPr/>
        </p:nvSpPr>
        <p:spPr>
          <a:xfrm>
            <a:off x="857250" y="4400550"/>
            <a:ext cx="5095875" cy="1362075"/>
          </a:xfrm>
          <a:prstGeom prst="rect">
            <a:avLst/>
          </a:prstGeom>
          <a:solidFill>
            <a:srgbClr val="EEF8F2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5" name="TextBox 15"/>
          <p:cNvSpPr/>
          <p:nvPr/>
        </p:nvSpPr>
        <p:spPr>
          <a:xfrm>
            <a:off x="1047750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6"/>
          <p:cNvSpPr/>
          <p:nvPr/>
        </p:nvSpPr>
        <p:spPr>
          <a:xfrm>
            <a:off x="1638300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저장 · 캐시</a:t>
            </a:r>
          </a:p>
        </p:txBody>
      </p:sp>
      <p:sp>
        <p:nvSpPr>
          <p:cNvPr id="17" name="TextBox 17"/>
          <p:cNvSpPr/>
          <p:nvPr/>
        </p:nvSpPr>
        <p:spPr>
          <a:xfrm>
            <a:off x="1085850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PostgreSQL은 장기 기록과 분석 결과 저장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Redis는 OCR, 기준값, rate limit 같은 임시 데이터 담당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원본과 요약 데이터의 수명을 분리</a:t>
            </a:r>
          </a:p>
        </p:txBody>
      </p:sp>
      <p:sp>
        <p:nvSpPr>
          <p:cNvPr id="18" name="TextBox 18"/>
          <p:cNvSpPr/>
          <p:nvPr/>
        </p:nvSpPr>
        <p:spPr>
          <a:xfrm>
            <a:off x="6238875" y="4400550"/>
            <a:ext cx="5095875" cy="1362075"/>
          </a:xfrm>
          <a:prstGeom prst="rect">
            <a:avLst/>
          </a:prstGeom>
          <a:solidFill>
            <a:srgbClr val="F7F3FF"/>
          </a:solidFill>
          <a:ln w="9525">
            <a:solidFill>
              <a:srgbClr val="DDE5F2"/>
            </a:solidFill>
          </a:ln>
        </p:spPr>
        <p:txBody>
          <a:bodyPr wrap="square" lIns="171450" tIns="171450" rIns="171450" bIns="171450"/>
          <a:lstStyle/>
          <a:p>
            <a:endParaRPr/>
          </a:p>
        </p:txBody>
      </p:sp>
      <p:sp>
        <p:nvSpPr>
          <p:cNvPr id="19" name="TextBox 19"/>
          <p:cNvSpPr/>
          <p:nvPr/>
        </p:nvSpPr>
        <p:spPr>
          <a:xfrm>
            <a:off x="6429375" y="4562475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20"/>
          <p:cNvSpPr/>
          <p:nvPr/>
        </p:nvSpPr>
        <p:spPr>
          <a:xfrm>
            <a:off x="7019925" y="453390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Agent 전달</a:t>
            </a:r>
          </a:p>
        </p:txBody>
      </p:sp>
      <p:sp>
        <p:nvSpPr>
          <p:cNvPr id="21" name="TextBox 21"/>
          <p:cNvSpPr/>
          <p:nvPr/>
        </p:nvSpPr>
        <p:spPr>
          <a:xfrm>
            <a:off x="6467475" y="4914900"/>
            <a:ext cx="46196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Agent에는 DB 전체가 아니라 필요한 요약만 전달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최근 검사값, 질환 태그, 복약 정보, 점수 중심</a:t>
            </a:r>
          </a:p>
          <a:p>
            <a:pPr algn="l"/>
            <a:r>
              <a:rPr lang="ko-KR" sz="108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agent_runs로 호출 기록과 결과를 추적</a:t>
            </a:r>
          </a:p>
        </p:txBody>
      </p:sp>
      <p:sp>
        <p:nvSpPr>
          <p:cNvPr id="22" name="TextBox 22"/>
          <p:cNvSpPr/>
          <p:nvPr/>
        </p:nvSpPr>
        <p:spPr>
          <a:xfrm>
            <a:off x="857250" y="5829300"/>
            <a:ext cx="10477500" cy="361950"/>
          </a:xfrm>
          <a:prstGeom prst="rect">
            <a:avLst/>
          </a:prstGeom>
          <a:solidFill>
            <a:srgbClr val="FFF5D8"/>
          </a:solidFill>
          <a:ln w="9525">
            <a:solidFill>
              <a:srgbClr val="F0D7A4"/>
            </a:solidFill>
          </a:ln>
        </p:spPr>
        <p:txBody>
          <a:bodyPr wrap="square" lIns="133350" tIns="133350" rIns="133350" bIns="133350"/>
          <a:lstStyle/>
          <a:p>
            <a:pPr algn="l"/>
            <a:r>
              <a:rPr lang="ko-KR" sz="12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DB/백엔드 상세 기능의 기준: 오래 보관할 데이터와 잠깐 쓸 데이터, Agent에게 보낼 데이터를 분리한다.</a:t>
            </a:r>
          </a:p>
        </p:txBody>
      </p:sp>
      <p:sp>
        <p:nvSpPr>
          <p:cNvPr id="23" name="TextBox 23"/>
          <p:cNvSpPr/>
          <p:nvPr/>
        </p:nvSpPr>
        <p:spPr>
          <a:xfrm>
            <a:off x="619125" y="63722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24" name="TextBox 24"/>
          <p:cNvSpPr/>
          <p:nvPr/>
        </p:nvSpPr>
        <p:spPr>
          <a:xfrm>
            <a:off x="11049000" y="6372225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ko-KR" sz="105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marker">
            <a:extLst>
              <a:ext uri="{FF2B5EF4-FFF2-40B4-BE49-F238E27FC236}">
                <a16:creationId xmlns:a16="http://schemas.microsoft.com/office/drawing/2014/main" id="{58F7C269-8430-4D5E-9337-B44118E0FA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9E7CAE86-6B38-4156-91D4-FA6F24E8101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통합 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0BE0A1-DB96-4F0B-A98D-C42755D2655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28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사용자의</a:t>
            </a:r>
            <a:r>
              <a:rPr sz="28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식사</a:t>
            </a:r>
            <a:r>
              <a:rPr sz="28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기록이</a:t>
            </a:r>
            <a:r>
              <a:rPr sz="28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피드백으로</a:t>
            </a:r>
            <a:r>
              <a:rPr sz="28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바뀌는</a:t>
            </a:r>
            <a:r>
              <a:rPr sz="28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경로에서</a:t>
            </a:r>
            <a:r>
              <a:rPr sz="28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만난다</a:t>
            </a:r>
            <a:endParaRPr sz="2850" b="1" dirty="0">
              <a:solidFill>
                <a:srgbClr val="5080F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3912F1-4C2E-4904-92DA-4A87025B9246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팀별 산출물은 따로 있어도 사용자는 하나의 카드와 한 줄 행동으로 경험한다.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983FF-4D00-4CB4-89E8-F6141F6483BE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943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061C43-F5E4-4C00-995E-B1E0E5060F5D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UX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247DDD-43A3-4795-896D-32471E66CAE7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사용자가 어디서 멈추는지 정하고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카드·빈 화면·안내 문구를 통일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E45C35-B2C8-4C46-B759-64B179D6FBDE}"/>
              </a:ext>
            </a:extLst>
          </p:cNvPr>
          <p:cNvSpPr>
            <a:spLocks noGrp="1"/>
          </p:cNvSpPr>
          <p:nvPr/>
        </p:nvSpPr>
        <p:spPr>
          <a:xfrm>
            <a:off x="264795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079493-6870-464B-87D1-D377903F19E7}"/>
              </a:ext>
            </a:extLst>
          </p:cNvPr>
          <p:cNvSpPr>
            <a:spLocks noGrp="1"/>
          </p:cNvSpPr>
          <p:nvPr/>
        </p:nvSpPr>
        <p:spPr>
          <a:xfrm>
            <a:off x="2800350" y="2571750"/>
            <a:ext cx="1943100" cy="15240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F0E3DF-D1E7-4688-94F5-6998CCEA8E85}"/>
              </a:ext>
            </a:extLst>
          </p:cNvPr>
          <p:cNvSpPr>
            <a:spLocks noGrp="1"/>
          </p:cNvSpPr>
          <p:nvPr/>
        </p:nvSpPr>
        <p:spPr>
          <a:xfrm>
            <a:off x="297180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음식 비전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9328BC-240F-4DF8-9C49-204B3DE23372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입력을 후보와 100g 프로필로 바꾸고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애매하면 review flag 전달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8C55BD-A285-4A63-A32E-28A3560524FF}"/>
              </a:ext>
            </a:extLst>
          </p:cNvPr>
          <p:cNvSpPr>
            <a:spLocks noGrp="1"/>
          </p:cNvSpPr>
          <p:nvPr/>
        </p:nvSpPr>
        <p:spPr>
          <a:xfrm>
            <a:off x="483870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0E9F57-9F12-4362-AB98-EDA42A5D2E86}"/>
              </a:ext>
            </a:extLst>
          </p:cNvPr>
          <p:cNvSpPr>
            <a:spLocks noGrp="1"/>
          </p:cNvSpPr>
          <p:nvPr/>
        </p:nvSpPr>
        <p:spPr>
          <a:xfrm>
            <a:off x="4991100" y="2571750"/>
            <a:ext cx="1943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17DDA7-27DE-43CA-B57C-A10CEB390B2D}"/>
              </a:ext>
            </a:extLst>
          </p:cNvPr>
          <p:cNvSpPr>
            <a:spLocks noGrp="1"/>
          </p:cNvSpPr>
          <p:nvPr/>
        </p:nvSpPr>
        <p:spPr>
          <a:xfrm>
            <a:off x="516255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알고리즘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B27248-E9FC-4EE4-943E-C7674298A18B}"/>
              </a:ext>
            </a:extLst>
          </p:cNvPr>
          <p:cNvSpPr>
            <a:spLocks noGrp="1"/>
          </p:cNvSpPr>
          <p:nvPr/>
        </p:nvSpPr>
        <p:spPr>
          <a:xfrm>
            <a:off x="516255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공식 계산과 운영 규칙을 나누고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preview 승인 전 확정하지 않음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7A7BC5-7C94-4213-9B6B-0E96A33D1594}"/>
              </a:ext>
            </a:extLst>
          </p:cNvPr>
          <p:cNvSpPr>
            <a:spLocks noGrp="1"/>
          </p:cNvSpPr>
          <p:nvPr/>
        </p:nvSpPr>
        <p:spPr>
          <a:xfrm>
            <a:off x="702945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D549E-9CE5-4021-9A1D-71288E83BF94}"/>
              </a:ext>
            </a:extLst>
          </p:cNvPr>
          <p:cNvSpPr>
            <a:spLocks noGrp="1"/>
          </p:cNvSpPr>
          <p:nvPr/>
        </p:nvSpPr>
        <p:spPr>
          <a:xfrm>
            <a:off x="7181850" y="2571750"/>
            <a:ext cx="1943100" cy="152400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AE4E83-9D48-438E-92F3-2D2682FF8187}"/>
              </a:ext>
            </a:extLst>
          </p:cNvPr>
          <p:cNvSpPr>
            <a:spLocks noGrp="1"/>
          </p:cNvSpPr>
          <p:nvPr/>
        </p:nvSpPr>
        <p:spPr>
          <a:xfrm>
            <a:off x="735330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DB/백엔드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A4475E-8030-4F75-B377-459F6BE35928}"/>
              </a:ext>
            </a:extLst>
          </p:cNvPr>
          <p:cNvSpPr>
            <a:spLocks noGrp="1"/>
          </p:cNvSpPr>
          <p:nvPr/>
        </p:nvSpPr>
        <p:spPr>
          <a:xfrm>
            <a:off x="735330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user_id 기준으로 저장하고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Agent에는 최소 요약만 전달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6395BB-CA62-4D40-8BA9-70D0CB7F1154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-&gt;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B2D22E-4F5C-427A-BF7A-9D817F0F60E1}"/>
              </a:ext>
            </a:extLst>
          </p:cNvPr>
          <p:cNvSpPr>
            <a:spLocks noGrp="1"/>
          </p:cNvSpPr>
          <p:nvPr/>
        </p:nvSpPr>
        <p:spPr>
          <a:xfrm>
            <a:off x="9372600" y="2571750"/>
            <a:ext cx="1943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D8C57-EF4C-4520-8716-BE374FAC4E6F}"/>
              </a:ext>
            </a:extLst>
          </p:cNvPr>
          <p:cNvSpPr>
            <a:spLocks noGrp="1"/>
          </p:cNvSpPr>
          <p:nvPr/>
        </p:nvSpPr>
        <p:spPr>
          <a:xfrm>
            <a:off x="9544050" y="276225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FBCC6B-EE8C-4640-B241-E14C39A5CE37}"/>
              </a:ext>
            </a:extLst>
          </p:cNvPr>
          <p:cNvSpPr>
            <a:spLocks noGrp="1"/>
          </p:cNvSpPr>
          <p:nvPr/>
        </p:nvSpPr>
        <p:spPr>
          <a:xfrm>
            <a:off x="9544050" y="3162300"/>
            <a:ext cx="16002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결과를 보고, 고치고, 저장하고</a:t>
            </a:r>
          </a:p>
          <a:p>
            <a:pPr algn="l">
              <a:def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다음 행동을 이해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A0FD95-FF1D-4341-83B2-DCBF514CADB4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972800" cy="552450"/>
          </a:xfrm>
          <a:prstGeom prst="rect">
            <a:avLst/>
          </a:prstGeom>
          <a:solidFill>
            <a:srgbClr val="FFF8E8"/>
          </a:solidFill>
          <a:ln w="9525">
            <a:solidFill>
              <a:srgbClr val="F3D8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04128C-9C4C-477F-8334-E29098A1DBEB}"/>
              </a:ext>
            </a:extLst>
          </p:cNvPr>
          <p:cNvSpPr>
            <a:spLocks noGrp="1"/>
          </p:cNvSpPr>
          <p:nvPr/>
        </p:nvSpPr>
        <p:spPr>
          <a:xfrm>
            <a:off x="838200" y="4876800"/>
            <a:ext cx="1051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1주차 산출물의 공통 결론: 확정하기 전에 보여주고, 고칠 수 있게 하고, 근거와 버전을 남긴다.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38F409-EECB-40E3-814C-2733B1199097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BA2C64-B9F9-44CA-9186-6BB99C087A6E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325577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-marker">
            <a:extLst>
              <a:ext uri="{FF2B5EF4-FFF2-40B4-BE49-F238E27FC236}">
                <a16:creationId xmlns:a16="http://schemas.microsoft.com/office/drawing/2014/main" id="{67B040B4-596A-44DF-B142-656E8F8A767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476F7FCB-BCF2-470E-80AD-697C307CFD7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통합 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744381-7D64-4E56-BAD6-D4FF902393F1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lang="ko-KR" altLang="en-US"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주차에는 카드 계약과 출처 버전을 고정해야 한다</a:t>
            </a:r>
            <a:endParaRPr sz="3150" b="1" dirty="0">
              <a:solidFill>
                <a:srgbClr val="5080F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ADABF8-AAC4-431D-B052-BE7A505BF844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UX 혼자 끝낼 수 없는 항목을 미리 분리해 다음 구현의 병목을 줄인다.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7E67D0-3CCE-4629-8A7E-02E1CD459BA9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5219700" cy="2800350"/>
          </a:xfrm>
          <a:prstGeom prst="rect">
            <a:avLst/>
          </a:prstGeom>
          <a:solidFill>
            <a:srgbClr val="EEF4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79BC36-0DA6-43E0-8E69-2320CDC53BB0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UX가 진행할 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2EC390-5845-4040-8B7C-106F3FCB839A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46863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홈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점수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다음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할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일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카드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카메라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결과를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카드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안에서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바로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고치기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AI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카드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음식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카드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디자인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토큰화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빈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3종: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신규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동기화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실패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없음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이번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대화에서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참고한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정보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시안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D3989B-BD60-4AB1-9AF4-E8EF81CCB249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76200" cy="2800350"/>
          </a:xfrm>
          <a:prstGeom prst="rect">
            <a:avLst/>
          </a:prstGeom>
          <a:solidFill>
            <a:srgbClr val="3F6D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E25CC1-CCCC-4A1D-81D7-BC7D6A071BB7}"/>
              </a:ext>
            </a:extLst>
          </p:cNvPr>
          <p:cNvSpPr>
            <a:spLocks noGrp="1"/>
          </p:cNvSpPr>
          <p:nvPr/>
        </p:nvSpPr>
        <p:spPr>
          <a:xfrm>
            <a:off x="6362700" y="2514600"/>
            <a:ext cx="5219700" cy="2800350"/>
          </a:xfrm>
          <a:prstGeom prst="rect">
            <a:avLst/>
          </a:prstGeom>
          <a:solidFill>
            <a:srgbClr val="FFF8E8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F78D9F-01CC-44BD-AE50-A9E739E86E2F}"/>
              </a:ext>
            </a:extLst>
          </p:cNvPr>
          <p:cNvSpPr>
            <a:spLocks noGrp="1"/>
          </p:cNvSpPr>
          <p:nvPr/>
        </p:nvSpPr>
        <p:spPr>
          <a:xfrm>
            <a:off x="6591300" y="27241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받아야 할 것 / 정해 주실 것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BDDE5B-8A12-4F6A-85CC-8AA9F5A42245}"/>
              </a:ext>
            </a:extLst>
          </p:cNvPr>
          <p:cNvSpPr>
            <a:spLocks noGrp="1"/>
          </p:cNvSpPr>
          <p:nvPr/>
        </p:nvSpPr>
        <p:spPr>
          <a:xfrm>
            <a:off x="6629400" y="3162300"/>
            <a:ext cx="46863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AI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35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모델 선정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낮을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때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문구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합의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DB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데이터</a:t>
            </a:r>
            <a:r>
              <a:rPr lang="ko-KR" altLang="en-US" sz="135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테이블</a:t>
            </a:r>
            <a:r>
              <a:rPr lang="en-US" altLang="ko-KR" sz="135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명세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비전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팀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: top-N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후보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확신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발주처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질환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범위</a:t>
            </a:r>
            <a:r>
              <a:rPr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  <a:r>
              <a:rPr lang="en-US" altLang="ko-KR"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  <a:r>
              <a:rPr lang="ko-KR" altLang="en-US"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주 타겟층 확정</a:t>
            </a:r>
            <a:r>
              <a:rPr lang="en-US" altLang="ko-KR"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  <a:r>
              <a:rPr lang="ko-KR" altLang="en-US" sz="1350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의료법 관련 한계점</a:t>
            </a:r>
            <a:endParaRPr sz="1350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1CC90F-0EB2-4A6A-8CEA-962C96B48183}"/>
              </a:ext>
            </a:extLst>
          </p:cNvPr>
          <p:cNvSpPr>
            <a:spLocks noGrp="1"/>
          </p:cNvSpPr>
          <p:nvPr/>
        </p:nvSpPr>
        <p:spPr>
          <a:xfrm>
            <a:off x="6362700" y="2514600"/>
            <a:ext cx="76200" cy="2800350"/>
          </a:xfrm>
          <a:prstGeom prst="rect">
            <a:avLst/>
          </a:prstGeom>
          <a:solidFill>
            <a:srgbClr val="C987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271606-81E5-4FF6-98CA-C631D86346C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E0603D-1185-492F-B2F1-E76C98204F3D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139559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arker">
            <a:extLst>
              <a:ext uri="{FF2B5EF4-FFF2-40B4-BE49-F238E27FC236}">
                <a16:creationId xmlns:a16="http://schemas.microsoft.com/office/drawing/2014/main" id="{D4214367-68C1-4678-B1E4-6913F525AD98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123950" cy="304800"/>
          </a:xfrm>
          <a:prstGeom prst="rect">
            <a:avLst/>
          </a:prstGeom>
          <a:solidFill>
            <a:srgbClr val="EEF4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7B356AC-12BC-4DB2-8F4F-541F7FE00F6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검증 메모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5E79B8-BDAD-4C54-A6F2-49F8C1ACFBC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47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원고</a:t>
            </a:r>
            <a:r>
              <a:rPr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1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출처와</a:t>
            </a:r>
            <a:r>
              <a:rPr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1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공식</a:t>
            </a:r>
            <a:r>
              <a:rPr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1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3150" b="1" dirty="0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150" b="1" dirty="0" err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  <a:endParaRPr sz="3150" b="1" dirty="0">
              <a:solidFill>
                <a:srgbClr val="5080F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50645E-74E4-4A26-8BF9-C4557C4500E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19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계산식·영양 기준·백엔드 기술 선택은 구현 전에 버전과 출처를 다시 고정해야 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F4F98F-99F0-435C-B07D-50519256AB55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495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321950-FF64-44AD-8BE7-F3661BDEB16B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입력 원고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70F646-3C37-4B49-8680-AE766F6BCB9B}"/>
              </a:ext>
            </a:extLst>
          </p:cNvPr>
          <p:cNvSpPr>
            <a:spLocks noGrp="1"/>
          </p:cNvSpPr>
          <p:nvPr/>
        </p:nvSpPr>
        <p:spPr>
          <a:xfrm>
            <a:off x="1981200" y="255270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plan.md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A94679-EAAB-4AFA-890E-98129B86D574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4953000" cy="4000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F28763-44D2-4F05-B655-81FA6968E2CB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참고 양식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7BCA98-704A-4630-BF09-4676DFF0F117}"/>
              </a:ext>
            </a:extLst>
          </p:cNvPr>
          <p:cNvSpPr>
            <a:spLocks noGrp="1"/>
          </p:cNvSpPr>
          <p:nvPr/>
        </p:nvSpPr>
        <p:spPr>
          <a:xfrm>
            <a:off x="1981200" y="310515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Lemon_Aid_UX_1주차_브리핑.pdf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92F9FA-9744-41E4-83C1-9690115BDA5D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495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AE123B-52BA-40C8-9EA5-7CD380313668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KDRIs 2025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0C1863-14C0-466F-A721-B9A505566337}"/>
              </a:ext>
            </a:extLst>
          </p:cNvPr>
          <p:cNvSpPr>
            <a:spLocks noGrp="1"/>
          </p:cNvSpPr>
          <p:nvPr/>
        </p:nvSpPr>
        <p:spPr>
          <a:xfrm>
            <a:off x="1981200" y="365760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m.korea.kr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/briefing/</a:t>
            </a: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pressReleaseView.do?newsId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=156737581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8E90A7-0096-4904-B248-3AB1780E72D6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953000" cy="4000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45E76F-2BDB-4CDB-B308-03D7EF8F9E08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식품성분표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30ED48-B9DE-4609-B0EC-596DA1734CD7}"/>
              </a:ext>
            </a:extLst>
          </p:cNvPr>
          <p:cNvSpPr>
            <a:spLocks noGrp="1"/>
          </p:cNvSpPr>
          <p:nvPr/>
        </p:nvSpPr>
        <p:spPr>
          <a:xfrm>
            <a:off x="1981200" y="421005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koreanfood.rda.go.kr/kfi/fct/fctFoodSrch/list?menuId=PS03563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767CDC-4AD4-43C8-B5E8-1810028C842E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495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7E44DD-4611-47AD-8763-C866998C7BA1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BMI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0947C2E-1E3F-4054-B265-21C424E0A7FA}"/>
              </a:ext>
            </a:extLst>
          </p:cNvPr>
          <p:cNvSpPr>
            <a:spLocks noGrp="1"/>
          </p:cNvSpPr>
          <p:nvPr/>
        </p:nvSpPr>
        <p:spPr>
          <a:xfrm>
            <a:off x="1981200" y="476250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cdc.gov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/growth-chart-training/hcp/using-</a:t>
            </a: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bmi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/calculating-</a:t>
            </a: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bmi.html</a:t>
            </a:r>
            <a:endParaRPr sz="975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43363B-2B67-4A39-A064-8C23FC1D60E7}"/>
              </a:ext>
            </a:extLst>
          </p:cNvPr>
          <p:cNvSpPr>
            <a:spLocks noGrp="1"/>
          </p:cNvSpPr>
          <p:nvPr/>
        </p:nvSpPr>
        <p:spPr>
          <a:xfrm>
            <a:off x="6191250" y="2438400"/>
            <a:ext cx="4953000" cy="4000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F18C45-23B0-4358-81F4-CD206945CFD1}"/>
              </a:ext>
            </a:extLst>
          </p:cNvPr>
          <p:cNvSpPr>
            <a:spLocks noGrp="1"/>
          </p:cNvSpPr>
          <p:nvPr/>
        </p:nvSpPr>
        <p:spPr>
          <a:xfrm>
            <a:off x="6362700" y="2552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HRmax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0CD8596-43D9-4505-9647-AF02E15F7DD0}"/>
              </a:ext>
            </a:extLst>
          </p:cNvPr>
          <p:cNvSpPr>
            <a:spLocks noGrp="1"/>
          </p:cNvSpPr>
          <p:nvPr/>
        </p:nvSpPr>
        <p:spPr>
          <a:xfrm>
            <a:off x="7562850" y="255270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pubmed.ncbi.nlm.nih.gov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/11153730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361859-41FE-4579-98B6-9483B615A8B1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495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95F9655-6C1B-42D4-BF25-8AE1E3E9E1EB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FastAPI/JWT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FD27CF-E947-4591-9978-34AB9C9A20A5}"/>
              </a:ext>
            </a:extLst>
          </p:cNvPr>
          <p:cNvSpPr>
            <a:spLocks noGrp="1"/>
          </p:cNvSpPr>
          <p:nvPr/>
        </p:nvSpPr>
        <p:spPr>
          <a:xfrm>
            <a:off x="7562850" y="310515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fastapi.tiangolo.com/tutorial/security/oauth2-jwt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66FB8D-4739-4BAB-A33D-F087EF06C320}"/>
              </a:ext>
            </a:extLst>
          </p:cNvPr>
          <p:cNvSpPr>
            <a:spLocks noGrp="1"/>
          </p:cNvSpPr>
          <p:nvPr/>
        </p:nvSpPr>
        <p:spPr>
          <a:xfrm>
            <a:off x="6191250" y="3543300"/>
            <a:ext cx="4953000" cy="400050"/>
          </a:xfrm>
          <a:prstGeom prst="rect">
            <a:avLst/>
          </a:prstGeom>
          <a:solidFill>
            <a:srgbClr val="F7F8FB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7E57902-10EE-4DBD-BADC-91AEEDF52761}"/>
              </a:ext>
            </a:extLst>
          </p:cNvPr>
          <p:cNvSpPr>
            <a:spLocks noGrp="1"/>
          </p:cNvSpPr>
          <p:nvPr/>
        </p:nvSpPr>
        <p:spPr>
          <a:xfrm>
            <a:off x="6362700" y="3657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A4AED66-F257-4A23-9F11-8F42D257C977}"/>
              </a:ext>
            </a:extLst>
          </p:cNvPr>
          <p:cNvSpPr>
            <a:spLocks noGrp="1"/>
          </p:cNvSpPr>
          <p:nvPr/>
        </p:nvSpPr>
        <p:spPr>
          <a:xfrm>
            <a:off x="7562850" y="365760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postgresql.org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/docs/17/datatype-</a:t>
            </a: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json.html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ddl-rowsecurity.html</a:t>
            </a:r>
            <a:endParaRPr sz="975" b="0" dirty="0">
              <a:solidFill>
                <a:srgbClr val="53617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575D5E7-0808-4B9E-BC6B-1E3433E6CC34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495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3714F6C-2735-4F0D-9053-FFDF9EE10516}"/>
              </a:ext>
            </a:extLst>
          </p:cNvPr>
          <p:cNvSpPr>
            <a:spLocks noGrp="1"/>
          </p:cNvSpPr>
          <p:nvPr/>
        </p:nvSpPr>
        <p:spPr>
          <a:xfrm>
            <a:off x="6362700" y="42100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219099C-2D20-4F6F-97F9-19BEA3DBC2BD}"/>
              </a:ext>
            </a:extLst>
          </p:cNvPr>
          <p:cNvSpPr>
            <a:spLocks noGrp="1"/>
          </p:cNvSpPr>
          <p:nvPr/>
        </p:nvSpPr>
        <p:spPr>
          <a:xfrm>
            <a:off x="7562850" y="4210050"/>
            <a:ext cx="3352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redis.io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/solutions/use-cases/caching · </a:t>
            </a:r>
            <a:r>
              <a:rPr sz="975" b="0" dirty="0" err="1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  <a:r>
              <a:rPr sz="975" b="0" dirty="0">
                <a:solidFill>
                  <a:srgbClr val="536174"/>
                </a:solidFill>
                <a:latin typeface="Apple SD Gothic Neo"/>
                <a:ea typeface="Apple SD Gothic Neo"/>
                <a:cs typeface="Apple SD Gothic Neo"/>
              </a:rPr>
              <a:t>-best-practices/basic-rate-limiting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314C4A0-ED9D-4444-9885-979C53B9F3AF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38150"/>
          </a:xfrm>
          <a:prstGeom prst="rect">
            <a:avLst/>
          </a:prstGeom>
          <a:solidFill>
            <a:srgbClr val="FFF8E8"/>
          </a:solidFill>
          <a:ln w="9525">
            <a:solidFill>
              <a:srgbClr val="F3D8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652C152-BD54-4680-A67F-9067F51A1742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1051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슬라이드의 기술 수치와 기준값은 dummy metric이 아니라 원고 기반 요약이며, 실제 제품 계산식에는 별도 기준 버전 고정이 필요하다.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8B6F17D-9064-4476-8C5B-B13A4A8F987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080F8"/>
                </a:solidFill>
                <a:latin typeface="Apple SD Gothic Neo"/>
                <a:ea typeface="Apple SD Gothic Neo"/>
                <a:cs typeface="Apple SD Gothic Neo"/>
              </a:rPr>
              <a:t>LEMON AID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1E1DF95-D3BB-45D8-A1FE-299AC440828D}"/>
              </a:ext>
            </a:extLst>
          </p:cNvPr>
          <p:cNvSpPr>
            <a:spLocks noGrp="1"/>
          </p:cNvSpPr>
          <p:nvPr/>
        </p:nvSpPr>
        <p:spPr>
          <a:xfrm>
            <a:off x="10782300" y="62865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491A5"/>
                </a:solidFill>
                <a:latin typeface="Apple SD Gothic Neo"/>
                <a:ea typeface="Apple SD Gothic Neo"/>
                <a:cs typeface="Apple SD Gothic Neo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7387487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2593</Words>
  <Application>Microsoft Macintosh PowerPoint</Application>
  <DocSecurity>0</DocSecurity>
  <PresentationFormat>와이드스크린</PresentationFormat>
  <Paragraphs>490</Paragraphs>
  <Slides>22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Apple SD Gothic Neo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박준영</cp:lastModifiedBy>
  <cp:revision>19</cp:revision>
  <dcterms:created xsi:type="dcterms:W3CDTF">2026-05-12T23:40:42Z</dcterms:created>
  <dcterms:modified xsi:type="dcterms:W3CDTF">2026-05-13T00:49:35Z</dcterms:modified>
</cp:coreProperties>
</file>